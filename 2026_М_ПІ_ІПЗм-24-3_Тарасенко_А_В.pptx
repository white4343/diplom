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88" r:id="rId3"/>
    <p:sldId id="274" r:id="rId4"/>
    <p:sldId id="287" r:id="rId5"/>
    <p:sldId id="259" r:id="rId6"/>
    <p:sldId id="290" r:id="rId7"/>
    <p:sldId id="278" r:id="rId8"/>
    <p:sldId id="279" r:id="rId9"/>
    <p:sldId id="283" r:id="rId10"/>
    <p:sldId id="289" r:id="rId11"/>
    <p:sldId id="281" r:id="rId12"/>
    <p:sldId id="280" r:id="rId13"/>
    <p:sldId id="282" r:id="rId14"/>
    <p:sldId id="285" r:id="rId15"/>
    <p:sldId id="286" r:id="rId16"/>
    <p:sldId id="267" r:id="rId17"/>
  </p:sldIdLst>
  <p:sldSz cx="9144000" cy="5143500" type="screen16x9"/>
  <p:notesSz cx="6858000" cy="9144000"/>
  <p:embeddedFontLst>
    <p:embeddedFont>
      <p:font typeface="Cambria Math" panose="02040503050406030204" pitchFamily="18" charset="0"/>
      <p:regular r:id="rId19"/>
    </p:embeddedFont>
    <p:embeddedFont>
      <p:font typeface="Economica" panose="020B0604020202020204" charset="0"/>
      <p:regular r:id="rId20"/>
      <p:bold r:id="rId21"/>
      <p:italic r:id="rId22"/>
      <p:boldItalic r:id="rId23"/>
    </p:embeddedFont>
    <p:embeddedFont>
      <p:font typeface="Open Sans" panose="020B0606030504020204"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783568AE-C7A5-173F-6644-F9F0432EB7B8}"/>
            </a:ext>
          </a:extLst>
        </p:cNvPr>
        <p:cNvGrpSpPr/>
        <p:nvPr/>
      </p:nvGrpSpPr>
      <p:grpSpPr>
        <a:xfrm>
          <a:off x="0" y="0"/>
          <a:ext cx="0" cy="0"/>
          <a:chOff x="0" y="0"/>
          <a:chExt cx="0" cy="0"/>
        </a:xfrm>
      </p:grpSpPr>
      <p:sp>
        <p:nvSpPr>
          <p:cNvPr id="89" name="Google Shape;89;g2e16b2adad1_0_12:notes">
            <a:extLst>
              <a:ext uri="{FF2B5EF4-FFF2-40B4-BE49-F238E27FC236}">
                <a16:creationId xmlns:a16="http://schemas.microsoft.com/office/drawing/2014/main" id="{5BE57A1A-A904-2E44-EDC8-1391D0B135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e16b2adad1_0_12:notes">
            <a:extLst>
              <a:ext uri="{FF2B5EF4-FFF2-40B4-BE49-F238E27FC236}">
                <a16:creationId xmlns:a16="http://schemas.microsoft.com/office/drawing/2014/main" id="{411B3295-F6FA-8E9C-B743-2227281675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82470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D9B79FE6-4406-B7D1-E9B0-F88526BA5B2D}"/>
            </a:ext>
          </a:extLst>
        </p:cNvPr>
        <p:cNvGrpSpPr/>
        <p:nvPr/>
      </p:nvGrpSpPr>
      <p:grpSpPr>
        <a:xfrm>
          <a:off x="0" y="0"/>
          <a:ext cx="0" cy="0"/>
          <a:chOff x="0" y="0"/>
          <a:chExt cx="0" cy="0"/>
        </a:xfrm>
      </p:grpSpPr>
      <p:sp>
        <p:nvSpPr>
          <p:cNvPr id="89" name="Google Shape;89;g2e16b2adad1_0_12:notes">
            <a:extLst>
              <a:ext uri="{FF2B5EF4-FFF2-40B4-BE49-F238E27FC236}">
                <a16:creationId xmlns:a16="http://schemas.microsoft.com/office/drawing/2014/main" id="{19EB4F14-3F31-6D35-432A-5971EA2418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e16b2adad1_0_12:notes">
            <a:extLst>
              <a:ext uri="{FF2B5EF4-FFF2-40B4-BE49-F238E27FC236}">
                <a16:creationId xmlns:a16="http://schemas.microsoft.com/office/drawing/2014/main" id="{D1B1A5A5-0E7A-C0A4-0D31-52C5844E36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9909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9154A4F4-597C-B1CB-1AC7-C08B50260DAA}"/>
            </a:ext>
          </a:extLst>
        </p:cNvPr>
        <p:cNvGrpSpPr/>
        <p:nvPr/>
      </p:nvGrpSpPr>
      <p:grpSpPr>
        <a:xfrm>
          <a:off x="0" y="0"/>
          <a:ext cx="0" cy="0"/>
          <a:chOff x="0" y="0"/>
          <a:chExt cx="0" cy="0"/>
        </a:xfrm>
      </p:grpSpPr>
      <p:sp>
        <p:nvSpPr>
          <p:cNvPr id="89" name="Google Shape;89;g2e16b2adad1_0_12:notes">
            <a:extLst>
              <a:ext uri="{FF2B5EF4-FFF2-40B4-BE49-F238E27FC236}">
                <a16:creationId xmlns:a16="http://schemas.microsoft.com/office/drawing/2014/main" id="{3D04EA28-D61E-8AEC-EEE5-914D184D68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e16b2adad1_0_12:notes">
            <a:extLst>
              <a:ext uri="{FF2B5EF4-FFF2-40B4-BE49-F238E27FC236}">
                <a16:creationId xmlns:a16="http://schemas.microsoft.com/office/drawing/2014/main" id="{6D697F56-9C23-5085-ADB5-71FDEE9B67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7315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e16b2adad1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e16b2adad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A3F4D4B5-4FE2-3EA6-BCAE-40351667F78F}"/>
            </a:ext>
          </a:extLst>
        </p:cNvPr>
        <p:cNvGrpSpPr/>
        <p:nvPr/>
      </p:nvGrpSpPr>
      <p:grpSpPr>
        <a:xfrm>
          <a:off x="0" y="0"/>
          <a:ext cx="0" cy="0"/>
          <a:chOff x="0" y="0"/>
          <a:chExt cx="0" cy="0"/>
        </a:xfrm>
      </p:grpSpPr>
      <p:sp>
        <p:nvSpPr>
          <p:cNvPr id="82" name="Google Shape;82;g2e16b2adad1_0_6:notes">
            <a:extLst>
              <a:ext uri="{FF2B5EF4-FFF2-40B4-BE49-F238E27FC236}">
                <a16:creationId xmlns:a16="http://schemas.microsoft.com/office/drawing/2014/main" id="{0D46D7D6-5915-4825-0148-9A8C85D578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e16b2adad1_0_6:notes">
            <a:extLst>
              <a:ext uri="{FF2B5EF4-FFF2-40B4-BE49-F238E27FC236}">
                <a16:creationId xmlns:a16="http://schemas.microsoft.com/office/drawing/2014/main" id="{F4E148DB-06E3-97C2-1FEB-0AF20752FE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69947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82A613AA-3A13-AFFC-94D3-942C965FC237}"/>
            </a:ext>
          </a:extLst>
        </p:cNvPr>
        <p:cNvGrpSpPr/>
        <p:nvPr/>
      </p:nvGrpSpPr>
      <p:grpSpPr>
        <a:xfrm>
          <a:off x="0" y="0"/>
          <a:ext cx="0" cy="0"/>
          <a:chOff x="0" y="0"/>
          <a:chExt cx="0" cy="0"/>
        </a:xfrm>
      </p:grpSpPr>
      <p:sp>
        <p:nvSpPr>
          <p:cNvPr id="89" name="Google Shape;89;g2e16b2adad1_0_12:notes">
            <a:extLst>
              <a:ext uri="{FF2B5EF4-FFF2-40B4-BE49-F238E27FC236}">
                <a16:creationId xmlns:a16="http://schemas.microsoft.com/office/drawing/2014/main" id="{1E96DFCC-2B6A-9A96-CECB-53FDDCF7FE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e16b2adad1_0_12:notes">
            <a:extLst>
              <a:ext uri="{FF2B5EF4-FFF2-40B4-BE49-F238E27FC236}">
                <a16:creationId xmlns:a16="http://schemas.microsoft.com/office/drawing/2014/main" id="{52BE1442-535A-ACE2-BDAE-0850311F03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7169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D15579EE-5262-0A9A-6F68-3F1843EEC43A}"/>
            </a:ext>
          </a:extLst>
        </p:cNvPr>
        <p:cNvGrpSpPr/>
        <p:nvPr/>
      </p:nvGrpSpPr>
      <p:grpSpPr>
        <a:xfrm>
          <a:off x="0" y="0"/>
          <a:ext cx="0" cy="0"/>
          <a:chOff x="0" y="0"/>
          <a:chExt cx="0" cy="0"/>
        </a:xfrm>
      </p:grpSpPr>
      <p:sp>
        <p:nvSpPr>
          <p:cNvPr id="89" name="Google Shape;89;g2e16b2adad1_0_12:notes">
            <a:extLst>
              <a:ext uri="{FF2B5EF4-FFF2-40B4-BE49-F238E27FC236}">
                <a16:creationId xmlns:a16="http://schemas.microsoft.com/office/drawing/2014/main" id="{4ADC5098-082B-B020-FB35-73DFADA4E3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e16b2adad1_0_12:notes">
            <a:extLst>
              <a:ext uri="{FF2B5EF4-FFF2-40B4-BE49-F238E27FC236}">
                <a16:creationId xmlns:a16="http://schemas.microsoft.com/office/drawing/2014/main" id="{F43B2059-2E14-0A9F-D3E8-56F4D28E60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7720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B74D5671-B0B8-E52B-CB6F-51E62F16258A}"/>
            </a:ext>
          </a:extLst>
        </p:cNvPr>
        <p:cNvGrpSpPr/>
        <p:nvPr/>
      </p:nvGrpSpPr>
      <p:grpSpPr>
        <a:xfrm>
          <a:off x="0" y="0"/>
          <a:ext cx="0" cy="0"/>
          <a:chOff x="0" y="0"/>
          <a:chExt cx="0" cy="0"/>
        </a:xfrm>
      </p:grpSpPr>
      <p:sp>
        <p:nvSpPr>
          <p:cNvPr id="89" name="Google Shape;89;g2e16b2adad1_0_12:notes">
            <a:extLst>
              <a:ext uri="{FF2B5EF4-FFF2-40B4-BE49-F238E27FC236}">
                <a16:creationId xmlns:a16="http://schemas.microsoft.com/office/drawing/2014/main" id="{16F9E738-AFC1-D24E-C3D0-85D55442CA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e16b2adad1_0_12:notes">
            <a:extLst>
              <a:ext uri="{FF2B5EF4-FFF2-40B4-BE49-F238E27FC236}">
                <a16:creationId xmlns:a16="http://schemas.microsoft.com/office/drawing/2014/main" id="{844C3CEE-46BA-EB38-CBF1-6E69EBD5F1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9900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DD0F1390-A0EA-895B-9877-0D04B807D367}"/>
            </a:ext>
          </a:extLst>
        </p:cNvPr>
        <p:cNvGrpSpPr/>
        <p:nvPr/>
      </p:nvGrpSpPr>
      <p:grpSpPr>
        <a:xfrm>
          <a:off x="0" y="0"/>
          <a:ext cx="0" cy="0"/>
          <a:chOff x="0" y="0"/>
          <a:chExt cx="0" cy="0"/>
        </a:xfrm>
      </p:grpSpPr>
      <p:sp>
        <p:nvSpPr>
          <p:cNvPr id="89" name="Google Shape;89;g2e16b2adad1_0_12:notes">
            <a:extLst>
              <a:ext uri="{FF2B5EF4-FFF2-40B4-BE49-F238E27FC236}">
                <a16:creationId xmlns:a16="http://schemas.microsoft.com/office/drawing/2014/main" id="{DAFA72D4-E3D4-B4F8-A532-53C0201E2F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e16b2adad1_0_12:notes">
            <a:extLst>
              <a:ext uri="{FF2B5EF4-FFF2-40B4-BE49-F238E27FC236}">
                <a16:creationId xmlns:a16="http://schemas.microsoft.com/office/drawing/2014/main" id="{E76C1667-540A-AC17-6B92-E1945809DF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28019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B51C5356-726E-64DC-B4CF-37AD03100F83}"/>
            </a:ext>
          </a:extLst>
        </p:cNvPr>
        <p:cNvGrpSpPr/>
        <p:nvPr/>
      </p:nvGrpSpPr>
      <p:grpSpPr>
        <a:xfrm>
          <a:off x="0" y="0"/>
          <a:ext cx="0" cy="0"/>
          <a:chOff x="0" y="0"/>
          <a:chExt cx="0" cy="0"/>
        </a:xfrm>
      </p:grpSpPr>
      <p:sp>
        <p:nvSpPr>
          <p:cNvPr id="89" name="Google Shape;89;g2e16b2adad1_0_12:notes">
            <a:extLst>
              <a:ext uri="{FF2B5EF4-FFF2-40B4-BE49-F238E27FC236}">
                <a16:creationId xmlns:a16="http://schemas.microsoft.com/office/drawing/2014/main" id="{9202A5F3-6923-5CF7-D699-E5FDD8FD06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e16b2adad1_0_12:notes">
            <a:extLst>
              <a:ext uri="{FF2B5EF4-FFF2-40B4-BE49-F238E27FC236}">
                <a16:creationId xmlns:a16="http://schemas.microsoft.com/office/drawing/2014/main" id="{844A827D-508D-57AB-527C-7DED75F258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38911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DE3A2843-1315-444C-71E9-688469863C42}"/>
            </a:ext>
          </a:extLst>
        </p:cNvPr>
        <p:cNvGrpSpPr/>
        <p:nvPr/>
      </p:nvGrpSpPr>
      <p:grpSpPr>
        <a:xfrm>
          <a:off x="0" y="0"/>
          <a:ext cx="0" cy="0"/>
          <a:chOff x="0" y="0"/>
          <a:chExt cx="0" cy="0"/>
        </a:xfrm>
      </p:grpSpPr>
      <p:sp>
        <p:nvSpPr>
          <p:cNvPr id="89" name="Google Shape;89;g2e16b2adad1_0_12:notes">
            <a:extLst>
              <a:ext uri="{FF2B5EF4-FFF2-40B4-BE49-F238E27FC236}">
                <a16:creationId xmlns:a16="http://schemas.microsoft.com/office/drawing/2014/main" id="{E2E7B194-B55D-E056-AFF2-12F526DDAD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e16b2adad1_0_12:notes">
            <a:extLst>
              <a:ext uri="{FF2B5EF4-FFF2-40B4-BE49-F238E27FC236}">
                <a16:creationId xmlns:a16="http://schemas.microsoft.com/office/drawing/2014/main" id="{677A9262-9BBF-4F16-5456-FF383E43C5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2537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CC3CE6CB-B59A-EB2F-B56B-F451A202DCAC}"/>
            </a:ext>
          </a:extLst>
        </p:cNvPr>
        <p:cNvGrpSpPr/>
        <p:nvPr/>
      </p:nvGrpSpPr>
      <p:grpSpPr>
        <a:xfrm>
          <a:off x="0" y="0"/>
          <a:ext cx="0" cy="0"/>
          <a:chOff x="0" y="0"/>
          <a:chExt cx="0" cy="0"/>
        </a:xfrm>
      </p:grpSpPr>
      <p:sp>
        <p:nvSpPr>
          <p:cNvPr id="89" name="Google Shape;89;g2e16b2adad1_0_12:notes">
            <a:extLst>
              <a:ext uri="{FF2B5EF4-FFF2-40B4-BE49-F238E27FC236}">
                <a16:creationId xmlns:a16="http://schemas.microsoft.com/office/drawing/2014/main" id="{9426F1DD-CD43-A813-5D75-44E32359BD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e16b2adad1_0_12:notes">
            <a:extLst>
              <a:ext uri="{FF2B5EF4-FFF2-40B4-BE49-F238E27FC236}">
                <a16:creationId xmlns:a16="http://schemas.microsoft.com/office/drawing/2014/main" id="{55D43AEB-0F51-D6DB-35C1-9553C3F548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59537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19637A15-86E5-B35E-A9F2-C3351B06F6A7}"/>
            </a:ext>
          </a:extLst>
        </p:cNvPr>
        <p:cNvGrpSpPr/>
        <p:nvPr/>
      </p:nvGrpSpPr>
      <p:grpSpPr>
        <a:xfrm>
          <a:off x="0" y="0"/>
          <a:ext cx="0" cy="0"/>
          <a:chOff x="0" y="0"/>
          <a:chExt cx="0" cy="0"/>
        </a:xfrm>
      </p:grpSpPr>
      <p:sp>
        <p:nvSpPr>
          <p:cNvPr id="89" name="Google Shape;89;g2e16b2adad1_0_12:notes">
            <a:extLst>
              <a:ext uri="{FF2B5EF4-FFF2-40B4-BE49-F238E27FC236}">
                <a16:creationId xmlns:a16="http://schemas.microsoft.com/office/drawing/2014/main" id="{B29D12D3-1804-A864-BE6D-F8F3064DDD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e16b2adad1_0_12:notes">
            <a:extLst>
              <a:ext uri="{FF2B5EF4-FFF2-40B4-BE49-F238E27FC236}">
                <a16:creationId xmlns:a16="http://schemas.microsoft.com/office/drawing/2014/main" id="{A5715E83-8320-91AB-6411-5F3F2C4D58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14316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83F4548D-14F7-8B59-6289-3DD729622204}"/>
            </a:ext>
          </a:extLst>
        </p:cNvPr>
        <p:cNvGrpSpPr/>
        <p:nvPr/>
      </p:nvGrpSpPr>
      <p:grpSpPr>
        <a:xfrm>
          <a:off x="0" y="0"/>
          <a:ext cx="0" cy="0"/>
          <a:chOff x="0" y="0"/>
          <a:chExt cx="0" cy="0"/>
        </a:xfrm>
      </p:grpSpPr>
      <p:sp>
        <p:nvSpPr>
          <p:cNvPr id="89" name="Google Shape;89;g2e16b2adad1_0_12:notes">
            <a:extLst>
              <a:ext uri="{FF2B5EF4-FFF2-40B4-BE49-F238E27FC236}">
                <a16:creationId xmlns:a16="http://schemas.microsoft.com/office/drawing/2014/main" id="{86F40941-0F9D-E626-1EBE-FC0F8F8405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e16b2adad1_0_12:notes">
            <a:extLst>
              <a:ext uri="{FF2B5EF4-FFF2-40B4-BE49-F238E27FC236}">
                <a16:creationId xmlns:a16="http://schemas.microsoft.com/office/drawing/2014/main" id="{2D032028-3B6F-3D59-C527-D151271227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13213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e16b2adad1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e16b2adad1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uk-UA"/>
          </a:p>
        </p:txBody>
      </p:sp>
      <p:sp>
        <p:nvSpPr>
          <p:cNvPr id="11" name="Google Shape;11;p2"/>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uk-UA"/>
          </a:p>
        </p:txBody>
      </p:sp>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7" name="Google Shape;17;p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399400"/>
            <a:ext cx="2808000" cy="27849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929275"/>
            <a:ext cx="4045200" cy="1786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endParaRPr/>
          </a:p>
        </p:txBody>
      </p:sp>
      <p:sp>
        <p:nvSpPr>
          <p:cNvPr id="45" name="Google Shape;45;p9"/>
          <p:cNvSpPr txBox="1">
            <a:spLocks noGrp="1"/>
          </p:cNvSpPr>
          <p:nvPr>
            <p:ph type="subTitle" idx="1"/>
          </p:nvPr>
        </p:nvSpPr>
        <p:spPr>
          <a:xfrm>
            <a:off x="265500" y="2769001"/>
            <a:ext cx="4045200" cy="1574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uk"/>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2761489" y="768931"/>
            <a:ext cx="4094523" cy="231692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uk-UA" sz="2400" noProof="0" dirty="0">
                <a:latin typeface="Open Sans" panose="020B0606030504020204" pitchFamily="34" charset="0"/>
                <a:ea typeface="Open Sans" panose="020B0606030504020204" pitchFamily="34" charset="0"/>
                <a:cs typeface="Open Sans" panose="020B0606030504020204" pitchFamily="34" charset="0"/>
              </a:rPr>
              <a:t>Дослідження ШІ-моделей для збору і аналізу неструктурованої інформації з вебсайтів у системах електронної комерції</a:t>
            </a:r>
          </a:p>
        </p:txBody>
      </p:sp>
      <p:sp>
        <p:nvSpPr>
          <p:cNvPr id="63" name="Google Shape;63;p13"/>
          <p:cNvSpPr txBox="1">
            <a:spLocks noGrp="1"/>
          </p:cNvSpPr>
          <p:nvPr>
            <p:ph type="subTitle" idx="1"/>
          </p:nvPr>
        </p:nvSpPr>
        <p:spPr>
          <a:xfrm>
            <a:off x="2129764" y="3593150"/>
            <a:ext cx="5087400" cy="1532700"/>
          </a:xfrm>
          <a:prstGeom prst="rect">
            <a:avLst/>
          </a:prstGeom>
        </p:spPr>
        <p:txBody>
          <a:bodyPr spcFirstLastPara="1" wrap="square" lIns="91425" tIns="91425" rIns="91425" bIns="91425" anchor="t" anchorCtr="0">
            <a:normAutofit fontScale="77500" lnSpcReduction="20000"/>
          </a:bodyPr>
          <a:lstStyle/>
          <a:p>
            <a:pPr marL="0" lvl="0" indent="0" algn="ctr" rtl="0">
              <a:spcBef>
                <a:spcPts val="0"/>
              </a:spcBef>
              <a:spcAft>
                <a:spcPts val="0"/>
              </a:spcAft>
              <a:buNone/>
            </a:pPr>
            <a:endParaRPr lang="uk-UA" noProof="0" dirty="0">
              <a:latin typeface="Open Sans" panose="020B0606030504020204" pitchFamily="34" charset="0"/>
              <a:ea typeface="Open Sans" panose="020B0606030504020204" pitchFamily="34" charset="0"/>
              <a:cs typeface="Open Sans" panose="020B0606030504020204" pitchFamily="34" charset="0"/>
            </a:endParaRPr>
          </a:p>
          <a:p>
            <a:pPr marL="0" lvl="0" indent="0" algn="l" rtl="0">
              <a:spcBef>
                <a:spcPts val="0"/>
              </a:spcBef>
              <a:spcAft>
                <a:spcPts val="0"/>
              </a:spcAft>
              <a:buNone/>
            </a:pPr>
            <a:r>
              <a:rPr lang="uk-UA" noProof="0" dirty="0">
                <a:latin typeface="Open Sans" panose="020B0606030504020204" pitchFamily="34" charset="0"/>
                <a:ea typeface="Open Sans" panose="020B0606030504020204" pitchFamily="34" charset="0"/>
                <a:cs typeface="Open Sans" panose="020B0606030504020204" pitchFamily="34" charset="0"/>
              </a:rPr>
              <a:t>Тарасенко Андрій Володимирович, ІПЗм-24-3 </a:t>
            </a:r>
          </a:p>
          <a:p>
            <a:pPr marL="0" lvl="0" indent="0" algn="l" rtl="0">
              <a:spcBef>
                <a:spcPts val="0"/>
              </a:spcBef>
              <a:spcAft>
                <a:spcPts val="0"/>
              </a:spcAft>
              <a:buNone/>
            </a:pPr>
            <a:r>
              <a:rPr lang="uk-UA" noProof="0" dirty="0">
                <a:latin typeface="Open Sans" panose="020B0606030504020204" pitchFamily="34" charset="0"/>
                <a:ea typeface="Open Sans" panose="020B0606030504020204" pitchFamily="34" charset="0"/>
                <a:cs typeface="Open Sans" panose="020B0606030504020204" pitchFamily="34" charset="0"/>
              </a:rPr>
              <a:t>Науковий керівник: проф. каф. ПІ </a:t>
            </a:r>
            <a:r>
              <a:rPr lang="uk-UA" noProof="0" dirty="0" err="1">
                <a:latin typeface="Open Sans" panose="020B0606030504020204" pitchFamily="34" charset="0"/>
                <a:ea typeface="Open Sans" panose="020B0606030504020204" pitchFamily="34" charset="0"/>
                <a:cs typeface="Open Sans" panose="020B0606030504020204" pitchFamily="34" charset="0"/>
              </a:rPr>
              <a:t>Кобзєв</a:t>
            </a:r>
            <a:r>
              <a:rPr lang="uk-UA" noProof="0" dirty="0">
                <a:latin typeface="Open Sans" panose="020B0606030504020204" pitchFamily="34" charset="0"/>
                <a:ea typeface="Open Sans" panose="020B0606030504020204" pitchFamily="34" charset="0"/>
                <a:cs typeface="Open Sans" panose="020B0606030504020204" pitchFamily="34" charset="0"/>
              </a:rPr>
              <a:t> В.Г.</a:t>
            </a:r>
          </a:p>
          <a:p>
            <a:pPr marL="0" lvl="0" indent="0" algn="ctr" rtl="0">
              <a:spcBef>
                <a:spcPts val="0"/>
              </a:spcBef>
              <a:spcAft>
                <a:spcPts val="0"/>
              </a:spcAft>
              <a:buNone/>
            </a:pPr>
            <a:endParaRPr lang="uk-UA" noProof="0" dirty="0">
              <a:latin typeface="Open Sans" panose="020B0606030504020204" pitchFamily="34" charset="0"/>
              <a:ea typeface="Open Sans" panose="020B0606030504020204" pitchFamily="34" charset="0"/>
              <a:cs typeface="Open Sans" panose="020B0606030504020204" pitchFamily="34" charset="0"/>
            </a:endParaRPr>
          </a:p>
          <a:p>
            <a:pPr marL="0" lvl="0" indent="0" algn="ctr" rtl="0">
              <a:spcBef>
                <a:spcPts val="0"/>
              </a:spcBef>
              <a:spcAft>
                <a:spcPts val="0"/>
              </a:spcAft>
              <a:buNone/>
            </a:pPr>
            <a:endParaRPr lang="uk-UA" noProof="0" dirty="0">
              <a:latin typeface="Open Sans" panose="020B0606030504020204" pitchFamily="34" charset="0"/>
              <a:ea typeface="Open Sans" panose="020B0606030504020204" pitchFamily="34" charset="0"/>
              <a:cs typeface="Open Sans" panose="020B0606030504020204" pitchFamily="34" charset="0"/>
            </a:endParaRPr>
          </a:p>
          <a:p>
            <a:pPr marL="0" lvl="0" indent="0" algn="ctr" rtl="0">
              <a:spcBef>
                <a:spcPts val="0"/>
              </a:spcBef>
              <a:spcAft>
                <a:spcPts val="0"/>
              </a:spcAft>
              <a:buNone/>
            </a:pPr>
            <a:r>
              <a:rPr lang="uk-UA" noProof="0" dirty="0">
                <a:latin typeface="Open Sans" panose="020B0606030504020204" pitchFamily="34" charset="0"/>
                <a:ea typeface="Open Sans" panose="020B0606030504020204" pitchFamily="34" charset="0"/>
                <a:cs typeface="Open Sans" panose="020B0606030504020204" pitchFamily="34" charset="0"/>
              </a:rPr>
              <a:t>2026</a:t>
            </a:r>
          </a:p>
        </p:txBody>
      </p:sp>
      <p:pic>
        <p:nvPicPr>
          <p:cNvPr id="64" name="Google Shape;64;p13"/>
          <p:cNvPicPr preferRelativeResize="0"/>
          <p:nvPr/>
        </p:nvPicPr>
        <p:blipFill>
          <a:blip r:embed="rId3">
            <a:alphaModFix/>
          </a:blip>
          <a:stretch>
            <a:fillRect/>
          </a:stretch>
        </p:blipFill>
        <p:spPr>
          <a:xfrm>
            <a:off x="268925" y="4359500"/>
            <a:ext cx="862250" cy="581750"/>
          </a:xfrm>
          <a:prstGeom prst="rect">
            <a:avLst/>
          </a:prstGeom>
          <a:noFill/>
          <a:ln>
            <a:noFill/>
          </a:ln>
        </p:spPr>
      </p:pic>
      <p:pic>
        <p:nvPicPr>
          <p:cNvPr id="65" name="Google Shape;65;p13"/>
          <p:cNvPicPr preferRelativeResize="0"/>
          <p:nvPr/>
        </p:nvPicPr>
        <p:blipFill>
          <a:blip r:embed="rId4">
            <a:alphaModFix/>
          </a:blip>
          <a:stretch>
            <a:fillRect/>
          </a:stretch>
        </p:blipFill>
        <p:spPr>
          <a:xfrm>
            <a:off x="204725" y="170825"/>
            <a:ext cx="2133975" cy="389775"/>
          </a:xfrm>
          <a:prstGeom prst="rect">
            <a:avLst/>
          </a:prstGeom>
          <a:noFill/>
          <a:ln>
            <a:noFill/>
          </a:ln>
        </p:spPr>
      </p:pic>
      <p:pic>
        <p:nvPicPr>
          <p:cNvPr id="66" name="Google Shape;66;p13"/>
          <p:cNvPicPr preferRelativeResize="0"/>
          <p:nvPr/>
        </p:nvPicPr>
        <p:blipFill>
          <a:blip r:embed="rId5">
            <a:alphaModFix/>
          </a:blip>
          <a:stretch>
            <a:fillRect/>
          </a:stretch>
        </p:blipFill>
        <p:spPr>
          <a:xfrm>
            <a:off x="7068504" y="170825"/>
            <a:ext cx="1924921" cy="43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C502A4C3-A6C5-C2E8-DCFA-EEF56B6D8759}"/>
            </a:ext>
          </a:extLst>
        </p:cNvPr>
        <p:cNvGrpSpPr/>
        <p:nvPr/>
      </p:nvGrpSpPr>
      <p:grpSpPr>
        <a:xfrm>
          <a:off x="0" y="0"/>
          <a:ext cx="0" cy="0"/>
          <a:chOff x="0" y="0"/>
          <a:chExt cx="0" cy="0"/>
        </a:xfrm>
      </p:grpSpPr>
      <p:sp>
        <p:nvSpPr>
          <p:cNvPr id="92" name="Google Shape;92;p17">
            <a:extLst>
              <a:ext uri="{FF2B5EF4-FFF2-40B4-BE49-F238E27FC236}">
                <a16:creationId xmlns:a16="http://schemas.microsoft.com/office/drawing/2014/main" id="{46476818-8660-B84E-BAED-E44AA4A47A3B}"/>
              </a:ext>
            </a:extLst>
          </p:cNvPr>
          <p:cNvSpPr txBox="1">
            <a:spLocks noGrp="1"/>
          </p:cNvSpPr>
          <p:nvPr>
            <p:ph type="title"/>
          </p:nvPr>
        </p:nvSpPr>
        <p:spPr>
          <a:xfrm>
            <a:off x="311700" y="263769"/>
            <a:ext cx="8520600" cy="527539"/>
          </a:xfrm>
          <a:prstGeom prst="rect">
            <a:avLst/>
          </a:prstGeom>
          <a:noFill/>
          <a:ln>
            <a:noFill/>
          </a:ln>
        </p:spPr>
        <p:txBody>
          <a:bodyPr spcFirstLastPara="1" wrap="square" lIns="91425" tIns="91425" rIns="91425" bIns="91425" anchor="b" anchorCtr="0">
            <a:normAutofit fontScale="90000"/>
          </a:bodyPr>
          <a:lstStyle/>
          <a:p>
            <a:r>
              <a:rPr lang="uk-UA" sz="3200" noProof="0" dirty="0">
                <a:latin typeface="Open Sans" panose="020B0606030504020204" pitchFamily="34" charset="0"/>
                <a:ea typeface="Open Sans" panose="020B0606030504020204" pitchFamily="34" charset="0"/>
                <a:cs typeface="Open Sans" panose="020B0606030504020204" pitchFamily="34" charset="0"/>
              </a:rPr>
              <a:t>Вступ</a:t>
            </a:r>
          </a:p>
        </p:txBody>
      </p:sp>
      <p:sp>
        <p:nvSpPr>
          <p:cNvPr id="93" name="Google Shape;93;p17">
            <a:extLst>
              <a:ext uri="{FF2B5EF4-FFF2-40B4-BE49-F238E27FC236}">
                <a16:creationId xmlns:a16="http://schemas.microsoft.com/office/drawing/2014/main" id="{1932DFB6-57DC-1DDF-A20D-5C08F0E10AE3}"/>
              </a:ext>
            </a:extLst>
          </p:cNvPr>
          <p:cNvSpPr txBox="1">
            <a:spLocks noGrp="1"/>
          </p:cNvSpPr>
          <p:nvPr>
            <p:ph type="body" idx="1"/>
          </p:nvPr>
        </p:nvSpPr>
        <p:spPr>
          <a:xfrm>
            <a:off x="311700" y="791308"/>
            <a:ext cx="8520600" cy="4088423"/>
          </a:xfrm>
          <a:prstGeom prst="rect">
            <a:avLst/>
          </a:prstGeom>
        </p:spPr>
        <p:txBody>
          <a:bodyPr spcFirstLastPara="1" wrap="square" lIns="91425" tIns="91425" rIns="91425" bIns="91425" anchor="t" anchorCtr="0">
            <a:normAutofit fontScale="55000" lnSpcReduction="20000"/>
          </a:bodyPr>
          <a:lstStyle/>
          <a:p>
            <a:pPr marL="285750" indent="-285750">
              <a:spcBef>
                <a:spcPts val="1500"/>
              </a:spcBef>
              <a:spcAft>
                <a:spcPts val="1200"/>
              </a:spcAft>
              <a:buFontTx/>
              <a:buChar char="-"/>
            </a:pPr>
            <a:r>
              <a:rPr lang="uk-UA" b="1" noProof="0" dirty="0"/>
              <a:t>Мета дослідження:</a:t>
            </a:r>
            <a:br>
              <a:rPr lang="uk-UA" noProof="0" dirty="0"/>
            </a:br>
            <a:r>
              <a:rPr lang="uk-UA" dirty="0"/>
              <a:t>Метою роботи є проведення порівняльного аналізу корисності застосування різних моделей штучного інтелекту для збору і аналізу неструктурованої інформації з вебсайтів у системах електронної комерції.</a:t>
            </a:r>
            <a:endParaRPr lang="uk-UA" noProof="0" dirty="0"/>
          </a:p>
          <a:p>
            <a:pPr marL="285750" indent="-285750">
              <a:spcBef>
                <a:spcPts val="1500"/>
              </a:spcBef>
              <a:spcAft>
                <a:spcPts val="1200"/>
              </a:spcAft>
              <a:buFontTx/>
              <a:buChar char="-"/>
            </a:pPr>
            <a:r>
              <a:rPr lang="uk-UA" b="1" noProof="0" dirty="0"/>
              <a:t>Об’єкт дослідження:</a:t>
            </a:r>
            <a:br>
              <a:rPr lang="uk-UA" noProof="0" dirty="0"/>
            </a:br>
            <a:r>
              <a:rPr lang="uk-UA" dirty="0"/>
              <a:t>Об'єктом дослідження є моделі штучного інтелекту для збору і аналізу неструктурованої інформації з вебсайтів у системах електронної комерції.</a:t>
            </a:r>
            <a:endParaRPr lang="uk-UA" noProof="0" dirty="0"/>
          </a:p>
          <a:p>
            <a:pPr marL="285750" lvl="0" indent="-285750">
              <a:spcBef>
                <a:spcPts val="1500"/>
              </a:spcBef>
              <a:spcAft>
                <a:spcPts val="1200"/>
              </a:spcAft>
              <a:buFontTx/>
              <a:buChar char="-"/>
            </a:pPr>
            <a:r>
              <a:rPr lang="uk-UA" b="1" noProof="0" dirty="0"/>
              <a:t>Предмет дослідження:</a:t>
            </a:r>
            <a:br>
              <a:rPr lang="uk-UA" noProof="0" dirty="0"/>
            </a:br>
            <a:r>
              <a:rPr lang="uk-UA" noProof="0" dirty="0"/>
              <a:t>М</a:t>
            </a:r>
            <a:r>
              <a:rPr lang="uk-UA" dirty="0" err="1"/>
              <a:t>етоди</a:t>
            </a:r>
            <a:r>
              <a:rPr lang="uk-UA" dirty="0"/>
              <a:t> та критерії порівняльного оцінювання корисності моделей штучного інтелекту при вирішенні задач збору, аналітичної обробки та структуризації неструктурованої інформації з вебсайтів у системах електронної комерції.</a:t>
            </a:r>
            <a:endParaRPr lang="uk-UA" noProof="0" dirty="0"/>
          </a:p>
          <a:p>
            <a:pPr marL="285750" indent="-285750">
              <a:spcBef>
                <a:spcPts val="1500"/>
              </a:spcBef>
              <a:spcAft>
                <a:spcPts val="1200"/>
              </a:spcAft>
              <a:buFontTx/>
              <a:buChar char="-"/>
            </a:pPr>
            <a:r>
              <a:rPr lang="uk-UA" b="1" noProof="0" dirty="0"/>
              <a:t>Актуальність дослідження:</a:t>
            </a:r>
            <a:br>
              <a:rPr lang="uk-UA" dirty="0"/>
            </a:br>
            <a:r>
              <a:rPr lang="uk-UA" dirty="0"/>
              <a:t>Актуальність дослідження обумовлена стрімким зростанням обсягів неструктурованої інформації на вебсайтах електронної комерції та загостренням конкуренції на цифрових ринках, що вимагає від учасників оперативного моніторингу цін та характеристик товарів конкурентів. Традиційні інструменти веб-</a:t>
            </a:r>
            <a:r>
              <a:rPr lang="uk-UA" dirty="0" err="1"/>
              <a:t>скрейпінгу</a:t>
            </a:r>
            <a:r>
              <a:rPr lang="uk-UA" dirty="0"/>
              <a:t> на основі </a:t>
            </a:r>
            <a:r>
              <a:rPr lang="en-US" dirty="0"/>
              <a:t>CSS-</a:t>
            </a:r>
            <a:r>
              <a:rPr lang="uk-UA" dirty="0"/>
              <a:t>селекторів та регулярних виразів є крихкими у підтримці — будь-яка зміна структури сайту конкурента вимагає ручного оновлення, що робить застосування ШІ-моделей перспективною альтернативою для автоматизації цього процесу.</a:t>
            </a:r>
            <a:endParaRPr lang="uk-UA" noProof="0" dirty="0"/>
          </a:p>
        </p:txBody>
      </p:sp>
      <p:pic>
        <p:nvPicPr>
          <p:cNvPr id="94" name="Google Shape;94;p17">
            <a:extLst>
              <a:ext uri="{FF2B5EF4-FFF2-40B4-BE49-F238E27FC236}">
                <a16:creationId xmlns:a16="http://schemas.microsoft.com/office/drawing/2014/main" id="{5250F598-4599-9617-D939-9B0B818AE610}"/>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Номер слайда 1">
            <a:extLst>
              <a:ext uri="{FF2B5EF4-FFF2-40B4-BE49-F238E27FC236}">
                <a16:creationId xmlns:a16="http://schemas.microsoft.com/office/drawing/2014/main" id="{5FA19E61-8A07-71E4-74F9-DC552BBFF02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uk-UA" noProof="0" smtClean="0"/>
              <a:t>2</a:t>
            </a:fld>
            <a:endParaRPr lang="uk-UA" noProof="0" dirty="0"/>
          </a:p>
        </p:txBody>
      </p:sp>
    </p:spTree>
    <p:extLst>
      <p:ext uri="{BB962C8B-B14F-4D97-AF65-F5344CB8AC3E}">
        <p14:creationId xmlns:p14="http://schemas.microsoft.com/office/powerpoint/2010/main" val="2546211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27CCF042-AD43-471E-738F-AF1791E03782}"/>
            </a:ext>
          </a:extLst>
        </p:cNvPr>
        <p:cNvGrpSpPr/>
        <p:nvPr/>
      </p:nvGrpSpPr>
      <p:grpSpPr>
        <a:xfrm>
          <a:off x="0" y="0"/>
          <a:ext cx="0" cy="0"/>
          <a:chOff x="0" y="0"/>
          <a:chExt cx="0" cy="0"/>
        </a:xfrm>
      </p:grpSpPr>
      <p:sp>
        <p:nvSpPr>
          <p:cNvPr id="92" name="Google Shape;92;p17">
            <a:extLst>
              <a:ext uri="{FF2B5EF4-FFF2-40B4-BE49-F238E27FC236}">
                <a16:creationId xmlns:a16="http://schemas.microsoft.com/office/drawing/2014/main" id="{2A39A29D-9BE4-9956-4ECE-712914B67B0E}"/>
              </a:ext>
            </a:extLst>
          </p:cNvPr>
          <p:cNvSpPr txBox="1">
            <a:spLocks noGrp="1"/>
          </p:cNvSpPr>
          <p:nvPr>
            <p:ph type="title"/>
          </p:nvPr>
        </p:nvSpPr>
        <p:spPr>
          <a:xfrm>
            <a:off x="311700" y="263769"/>
            <a:ext cx="8520600" cy="527539"/>
          </a:xfrm>
          <a:prstGeom prst="rect">
            <a:avLst/>
          </a:prstGeom>
          <a:noFill/>
          <a:ln>
            <a:noFill/>
          </a:ln>
        </p:spPr>
        <p:txBody>
          <a:bodyPr spcFirstLastPara="1" wrap="square" lIns="91425" tIns="91425" rIns="91425" bIns="91425" anchor="b" anchorCtr="0">
            <a:normAutofit fontScale="90000"/>
          </a:bodyPr>
          <a:lstStyle/>
          <a:p>
            <a:r>
              <a:rPr lang="uk-UA" sz="3200" noProof="0" dirty="0">
                <a:latin typeface="Open Sans" panose="020B0606030504020204" pitchFamily="34" charset="0"/>
                <a:ea typeface="Open Sans" panose="020B0606030504020204" pitchFamily="34" charset="0"/>
                <a:cs typeface="Open Sans" panose="020B0606030504020204" pitchFamily="34" charset="0"/>
              </a:rPr>
              <a:t>Огляд існуючих засобів ШІ</a:t>
            </a:r>
          </a:p>
        </p:txBody>
      </p:sp>
      <p:pic>
        <p:nvPicPr>
          <p:cNvPr id="94" name="Google Shape;94;p17">
            <a:extLst>
              <a:ext uri="{FF2B5EF4-FFF2-40B4-BE49-F238E27FC236}">
                <a16:creationId xmlns:a16="http://schemas.microsoft.com/office/drawing/2014/main" id="{D7B06523-E287-418A-3F5C-C0AF877B8B0B}"/>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Номер слайда 1">
            <a:extLst>
              <a:ext uri="{FF2B5EF4-FFF2-40B4-BE49-F238E27FC236}">
                <a16:creationId xmlns:a16="http://schemas.microsoft.com/office/drawing/2014/main" id="{97E799BD-F1E0-3C8D-2589-32CD7562BA4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uk-UA" noProof="0" smtClean="0"/>
              <a:t>3</a:t>
            </a:fld>
            <a:endParaRPr lang="uk-UA" noProof="0" dirty="0"/>
          </a:p>
        </p:txBody>
      </p:sp>
      <p:graphicFrame>
        <p:nvGraphicFramePr>
          <p:cNvPr id="4" name="Table 3">
            <a:extLst>
              <a:ext uri="{FF2B5EF4-FFF2-40B4-BE49-F238E27FC236}">
                <a16:creationId xmlns:a16="http://schemas.microsoft.com/office/drawing/2014/main" id="{B4E1CF60-E07D-DF55-6255-F6306F0BD4CA}"/>
              </a:ext>
            </a:extLst>
          </p:cNvPr>
          <p:cNvGraphicFramePr>
            <a:graphicFrameLocks noGrp="1"/>
          </p:cNvGraphicFramePr>
          <p:nvPr>
            <p:extLst>
              <p:ext uri="{D42A27DB-BD31-4B8C-83A1-F6EECF244321}">
                <p14:modId xmlns:p14="http://schemas.microsoft.com/office/powerpoint/2010/main" val="1955929637"/>
              </p:ext>
            </p:extLst>
          </p:nvPr>
        </p:nvGraphicFramePr>
        <p:xfrm>
          <a:off x="103910" y="1131479"/>
          <a:ext cx="5084779" cy="3518855"/>
        </p:xfrm>
        <a:graphic>
          <a:graphicData uri="http://schemas.openxmlformats.org/drawingml/2006/table">
            <a:tbl>
              <a:tblPr firstRow="1" firstCol="1" bandRow="1">
                <a:tableStyleId>{5C22544A-7EE6-4342-B048-85BDC9FD1C3A}</a:tableStyleId>
              </a:tblPr>
              <a:tblGrid>
                <a:gridCol w="1270810">
                  <a:extLst>
                    <a:ext uri="{9D8B030D-6E8A-4147-A177-3AD203B41FA5}">
                      <a16:colId xmlns:a16="http://schemas.microsoft.com/office/drawing/2014/main" val="716934271"/>
                    </a:ext>
                  </a:extLst>
                </a:gridCol>
                <a:gridCol w="1271323">
                  <a:extLst>
                    <a:ext uri="{9D8B030D-6E8A-4147-A177-3AD203B41FA5}">
                      <a16:colId xmlns:a16="http://schemas.microsoft.com/office/drawing/2014/main" val="4266221780"/>
                    </a:ext>
                  </a:extLst>
                </a:gridCol>
                <a:gridCol w="1271323">
                  <a:extLst>
                    <a:ext uri="{9D8B030D-6E8A-4147-A177-3AD203B41FA5}">
                      <a16:colId xmlns:a16="http://schemas.microsoft.com/office/drawing/2014/main" val="667399313"/>
                    </a:ext>
                  </a:extLst>
                </a:gridCol>
                <a:gridCol w="1271323">
                  <a:extLst>
                    <a:ext uri="{9D8B030D-6E8A-4147-A177-3AD203B41FA5}">
                      <a16:colId xmlns:a16="http://schemas.microsoft.com/office/drawing/2014/main" val="4094637149"/>
                    </a:ext>
                  </a:extLst>
                </a:gridCol>
              </a:tblGrid>
              <a:tr h="297873">
                <a:tc>
                  <a:txBody>
                    <a:bodyPr/>
                    <a:lstStyle/>
                    <a:p>
                      <a:pPr algn="ctr">
                        <a:lnSpc>
                          <a:spcPct val="150000"/>
                        </a:lnSpc>
                        <a:spcAft>
                          <a:spcPts val="1000"/>
                        </a:spcAft>
                        <a:buNone/>
                      </a:pP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50000"/>
                        </a:lnSpc>
                        <a:spcAft>
                          <a:spcPts val="1000"/>
                        </a:spcAft>
                        <a:buNone/>
                      </a:pPr>
                      <a:r>
                        <a:rPr lang="uk-UA" sz="1200" noProof="0" dirty="0" err="1">
                          <a:effectLst/>
                          <a:latin typeface="Open Sans" panose="020B0606030504020204" pitchFamily="34" charset="0"/>
                          <a:ea typeface="Open Sans" panose="020B0606030504020204" pitchFamily="34" charset="0"/>
                          <a:cs typeface="Open Sans" panose="020B0606030504020204" pitchFamily="34" charset="0"/>
                        </a:rPr>
                        <a:t>Parsera</a:t>
                      </a:r>
                      <a:endParaRPr lang="uk-UA" sz="105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50000"/>
                        </a:lnSpc>
                        <a:spcAft>
                          <a:spcPts val="1000"/>
                        </a:spcAft>
                        <a:buNone/>
                      </a:pPr>
                      <a:r>
                        <a:rPr lang="uk-UA" sz="1200" noProof="0" dirty="0" err="1">
                          <a:effectLst/>
                          <a:latin typeface="Open Sans" panose="020B0606030504020204" pitchFamily="34" charset="0"/>
                          <a:ea typeface="Open Sans" panose="020B0606030504020204" pitchFamily="34" charset="0"/>
                          <a:cs typeface="Open Sans" panose="020B0606030504020204" pitchFamily="34" charset="0"/>
                        </a:rPr>
                        <a:t>BrowseAI</a:t>
                      </a:r>
                      <a:endParaRPr lang="uk-UA" sz="105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50000"/>
                        </a:lnSpc>
                        <a:spcAft>
                          <a:spcPts val="1000"/>
                        </a:spcAft>
                        <a:buNone/>
                      </a:pPr>
                      <a:r>
                        <a:rPr lang="uk-UA" sz="1200" noProof="0" dirty="0" err="1">
                          <a:effectLst/>
                          <a:latin typeface="Open Sans" panose="020B0606030504020204" pitchFamily="34" charset="0"/>
                          <a:ea typeface="Open Sans" panose="020B0606030504020204" pitchFamily="34" charset="0"/>
                          <a:cs typeface="Open Sans" panose="020B0606030504020204" pitchFamily="34" charset="0"/>
                        </a:rPr>
                        <a:t>Kadoa</a:t>
                      </a:r>
                      <a:endParaRPr lang="uk-UA" sz="105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3399183791"/>
                  </a:ext>
                </a:extLst>
              </a:tr>
              <a:tr h="527929">
                <a:tc>
                  <a:txBody>
                    <a:bodyPr/>
                    <a:lstStyle/>
                    <a:p>
                      <a:pPr algn="l">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 </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tc>
                  <a:txBody>
                    <a:bodyPr/>
                    <a:lstStyle/>
                    <a:p>
                      <a:pPr algn="ctr">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AI-агент для </a:t>
                      </a:r>
                      <a:r>
                        <a:rPr lang="uk-UA" sz="900" noProof="0" dirty="0" err="1">
                          <a:effectLst/>
                          <a:latin typeface="Open Sans" panose="020B0606030504020204" pitchFamily="34" charset="0"/>
                          <a:ea typeface="Open Sans" panose="020B0606030504020204" pitchFamily="34" charset="0"/>
                          <a:cs typeface="Open Sans" panose="020B0606030504020204" pitchFamily="34" charset="0"/>
                        </a:rPr>
                        <a:t>парсингу</a:t>
                      </a:r>
                      <a:r>
                        <a:rPr lang="uk-UA" sz="900" noProof="0" dirty="0">
                          <a:effectLst/>
                          <a:latin typeface="Open Sans" panose="020B0606030504020204" pitchFamily="34" charset="0"/>
                          <a:ea typeface="Open Sans" panose="020B0606030504020204" pitchFamily="34" charset="0"/>
                          <a:cs typeface="Open Sans" panose="020B0606030504020204" pitchFamily="34" charset="0"/>
                        </a:rPr>
                        <a:t> + хмарна платформа</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tc>
                  <a:txBody>
                    <a:bodyPr/>
                    <a:lstStyle/>
                    <a:p>
                      <a:pPr algn="ctr">
                        <a:lnSpc>
                          <a:spcPct val="150000"/>
                        </a:lnSpc>
                        <a:spcAft>
                          <a:spcPts val="1000"/>
                        </a:spcAft>
                        <a:buNone/>
                      </a:pPr>
                      <a:r>
                        <a:rPr lang="uk-UA" sz="900" noProof="0" dirty="0" err="1">
                          <a:effectLst/>
                          <a:latin typeface="Open Sans" panose="020B0606030504020204" pitchFamily="34" charset="0"/>
                          <a:ea typeface="Open Sans" panose="020B0606030504020204" pitchFamily="34" charset="0"/>
                          <a:cs typeface="Open Sans" panose="020B0606030504020204" pitchFamily="34" charset="0"/>
                        </a:rPr>
                        <a:t>SaaS</a:t>
                      </a:r>
                      <a:r>
                        <a:rPr lang="uk-UA" sz="900" noProof="0" dirty="0">
                          <a:effectLst/>
                          <a:latin typeface="Open Sans" panose="020B0606030504020204" pitchFamily="34" charset="0"/>
                          <a:ea typeface="Open Sans" panose="020B0606030504020204" pitchFamily="34" charset="0"/>
                          <a:cs typeface="Open Sans" panose="020B0606030504020204" pitchFamily="34" charset="0"/>
                        </a:rPr>
                        <a:t>-платформа з рекордером</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tc>
                  <a:txBody>
                    <a:bodyPr/>
                    <a:lstStyle/>
                    <a:p>
                      <a:pPr algn="ctr">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Генеративний AI для аналізу сторінок</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extLst>
                  <a:ext uri="{0D108BD9-81ED-4DB2-BD59-A6C34878D82A}">
                    <a16:rowId xmlns:a16="http://schemas.microsoft.com/office/drawing/2014/main" val="868551051"/>
                  </a:ext>
                </a:extLst>
              </a:tr>
              <a:tr h="345448">
                <a:tc>
                  <a:txBody>
                    <a:bodyPr/>
                    <a:lstStyle/>
                    <a:p>
                      <a:pPr algn="l">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Підтримка пагінації</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tc>
                  <a:txBody>
                    <a:bodyPr/>
                    <a:lstStyle/>
                    <a:p>
                      <a:pPr algn="ctr">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В розробці</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tc>
                  <a:txBody>
                    <a:bodyPr/>
                    <a:lstStyle/>
                    <a:p>
                      <a:pPr algn="ctr">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Так</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tc>
                  <a:txBody>
                    <a:bodyPr/>
                    <a:lstStyle/>
                    <a:p>
                      <a:pPr algn="ctr">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Так</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extLst>
                  <a:ext uri="{0D108BD9-81ED-4DB2-BD59-A6C34878D82A}">
                    <a16:rowId xmlns:a16="http://schemas.microsoft.com/office/drawing/2014/main" val="3201770092"/>
                  </a:ext>
                </a:extLst>
              </a:tr>
              <a:tr h="345448">
                <a:tc>
                  <a:txBody>
                    <a:bodyPr/>
                    <a:lstStyle/>
                    <a:p>
                      <a:pPr algn="l">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Анти-блокування</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tc>
                  <a:txBody>
                    <a:bodyPr/>
                    <a:lstStyle/>
                    <a:p>
                      <a:pPr algn="ctr">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128 проксі + </a:t>
                      </a:r>
                      <a:r>
                        <a:rPr lang="uk-UA" sz="900" noProof="0" dirty="0" err="1">
                          <a:effectLst/>
                          <a:latin typeface="Open Sans" panose="020B0606030504020204" pitchFamily="34" charset="0"/>
                          <a:ea typeface="Open Sans" panose="020B0606030504020204" pitchFamily="34" charset="0"/>
                          <a:cs typeface="Open Sans" panose="020B0606030504020204" pitchFamily="34" charset="0"/>
                        </a:rPr>
                        <a:t>stealth</a:t>
                      </a:r>
                      <a:r>
                        <a:rPr lang="uk-UA" sz="900" noProof="0" dirty="0">
                          <a:effectLst/>
                          <a:latin typeface="Open Sans" panose="020B0606030504020204" pitchFamily="34" charset="0"/>
                          <a:ea typeface="Open Sans" panose="020B0606030504020204" pitchFamily="34" charset="0"/>
                          <a:cs typeface="Open Sans" panose="020B0606030504020204" pitchFamily="34" charset="0"/>
                        </a:rPr>
                        <a:t> </a:t>
                      </a:r>
                      <a:r>
                        <a:rPr lang="uk-UA" sz="900" noProof="0" dirty="0" err="1">
                          <a:effectLst/>
                          <a:latin typeface="Open Sans" panose="020B0606030504020204" pitchFamily="34" charset="0"/>
                          <a:ea typeface="Open Sans" panose="020B0606030504020204" pitchFamily="34" charset="0"/>
                          <a:cs typeface="Open Sans" panose="020B0606030504020204" pitchFamily="34" charset="0"/>
                        </a:rPr>
                        <a:t>mode</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tc>
                  <a:txBody>
                    <a:bodyPr/>
                    <a:lstStyle/>
                    <a:p>
                      <a:pPr algn="ctr">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Базове</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tc>
                  <a:txBody>
                    <a:bodyPr/>
                    <a:lstStyle/>
                    <a:p>
                      <a:pPr algn="ctr">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Обмежене</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extLst>
                  <a:ext uri="{0D108BD9-81ED-4DB2-BD59-A6C34878D82A}">
                    <a16:rowId xmlns:a16="http://schemas.microsoft.com/office/drawing/2014/main" val="1684818424"/>
                  </a:ext>
                </a:extLst>
              </a:tr>
              <a:tr h="345448">
                <a:tc>
                  <a:txBody>
                    <a:bodyPr/>
                    <a:lstStyle/>
                    <a:p>
                      <a:pPr algn="l">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Формати виводу</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tc>
                  <a:txBody>
                    <a:bodyPr/>
                    <a:lstStyle/>
                    <a:p>
                      <a:pPr algn="ctr">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JSON</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tc>
                  <a:txBody>
                    <a:bodyPr/>
                    <a:lstStyle/>
                    <a:p>
                      <a:pPr algn="ctr">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CSV, JSON, Таблиці</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tc>
                  <a:txBody>
                    <a:bodyPr/>
                    <a:lstStyle/>
                    <a:p>
                      <a:pPr algn="ctr">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CSV, JSON, API</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extLst>
                  <a:ext uri="{0D108BD9-81ED-4DB2-BD59-A6C34878D82A}">
                    <a16:rowId xmlns:a16="http://schemas.microsoft.com/office/drawing/2014/main" val="4163159210"/>
                  </a:ext>
                </a:extLst>
              </a:tr>
              <a:tr h="162967">
                <a:tc>
                  <a:txBody>
                    <a:bodyPr/>
                    <a:lstStyle/>
                    <a:p>
                      <a:pPr algn="l">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Вартість, USD/міс</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tc>
                  <a:txBody>
                    <a:bodyPr/>
                    <a:lstStyle/>
                    <a:p>
                      <a:pPr algn="ctr">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25</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tc>
                  <a:txBody>
                    <a:bodyPr/>
                    <a:lstStyle/>
                    <a:p>
                      <a:pPr algn="ctr">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19</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tc>
                  <a:txBody>
                    <a:bodyPr/>
                    <a:lstStyle/>
                    <a:p>
                      <a:pPr algn="ctr">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39</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extLst>
                  <a:ext uri="{0D108BD9-81ED-4DB2-BD59-A6C34878D82A}">
                    <a16:rowId xmlns:a16="http://schemas.microsoft.com/office/drawing/2014/main" val="3246144973"/>
                  </a:ext>
                </a:extLst>
              </a:tr>
              <a:tr h="600342">
                <a:tc>
                  <a:txBody>
                    <a:bodyPr/>
                    <a:lstStyle/>
                    <a:p>
                      <a:pPr algn="l">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Основні переваги</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tc>
                  <a:txBody>
                    <a:bodyPr/>
                    <a:lstStyle/>
                    <a:p>
                      <a:pPr algn="ctr">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Самовідновлення, широка мережа проксі</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tc>
                  <a:txBody>
                    <a:bodyPr/>
                    <a:lstStyle/>
                    <a:p>
                      <a:pPr algn="ctr">
                        <a:lnSpc>
                          <a:spcPct val="150000"/>
                        </a:lnSpc>
                        <a:spcAft>
                          <a:spcPts val="1000"/>
                        </a:spcAft>
                        <a:buNone/>
                      </a:pPr>
                      <a:r>
                        <a:rPr lang="uk-UA" sz="900" noProof="0" dirty="0" err="1">
                          <a:effectLst/>
                          <a:latin typeface="Open Sans" panose="020B0606030504020204" pitchFamily="34" charset="0"/>
                          <a:ea typeface="Open Sans" panose="020B0606030504020204" pitchFamily="34" charset="0"/>
                          <a:cs typeface="Open Sans" panose="020B0606030504020204" pitchFamily="34" charset="0"/>
                        </a:rPr>
                        <a:t>No-code</a:t>
                      </a:r>
                      <a:r>
                        <a:rPr lang="uk-UA" sz="900" noProof="0" dirty="0">
                          <a:effectLst/>
                          <a:latin typeface="Open Sans" panose="020B0606030504020204" pitchFamily="34" charset="0"/>
                          <a:ea typeface="Open Sans" panose="020B0606030504020204" pitchFamily="34" charset="0"/>
                          <a:cs typeface="Open Sans" panose="020B0606030504020204" pitchFamily="34" charset="0"/>
                        </a:rPr>
                        <a:t>, швидке прототипування</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tc>
                  <a:txBody>
                    <a:bodyPr/>
                    <a:lstStyle/>
                    <a:p>
                      <a:pPr algn="ctr">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Адаптація до змін,</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p>
                      <a:pPr algn="ctr">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простота використання</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extLst>
                  <a:ext uri="{0D108BD9-81ED-4DB2-BD59-A6C34878D82A}">
                    <a16:rowId xmlns:a16="http://schemas.microsoft.com/office/drawing/2014/main" val="2393908578"/>
                  </a:ext>
                </a:extLst>
              </a:tr>
              <a:tr h="527929">
                <a:tc>
                  <a:txBody>
                    <a:bodyPr/>
                    <a:lstStyle/>
                    <a:p>
                      <a:pPr algn="l">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Основні недоліки</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tc>
                  <a:txBody>
                    <a:bodyPr/>
                    <a:lstStyle/>
                    <a:p>
                      <a:pPr algn="ctr">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Немає пагінації (тимчасово)</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tc>
                  <a:txBody>
                    <a:bodyPr/>
                    <a:lstStyle/>
                    <a:p>
                      <a:pPr algn="ctr">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Падіння продуктивності при записі</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tc>
                  <a:txBody>
                    <a:bodyPr/>
                    <a:lstStyle/>
                    <a:p>
                      <a:pPr algn="ctr">
                        <a:lnSpc>
                          <a:spcPct val="150000"/>
                        </a:lnSpc>
                        <a:spcAft>
                          <a:spcPts val="1000"/>
                        </a:spcAft>
                        <a:buNone/>
                      </a:pPr>
                      <a:r>
                        <a:rPr lang="uk-UA" sz="900" noProof="0" dirty="0">
                          <a:effectLst/>
                          <a:latin typeface="Open Sans" panose="020B0606030504020204" pitchFamily="34" charset="0"/>
                          <a:ea typeface="Open Sans" panose="020B0606030504020204" pitchFamily="34" charset="0"/>
                          <a:cs typeface="Open Sans" panose="020B0606030504020204" pitchFamily="34" charset="0"/>
                        </a:rPr>
                        <a:t>Проблеми зі складними сайтами</a:t>
                      </a:r>
                      <a:endParaRPr lang="uk-UA" sz="7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nchor="ctr"/>
                </a:tc>
                <a:extLst>
                  <a:ext uri="{0D108BD9-81ED-4DB2-BD59-A6C34878D82A}">
                    <a16:rowId xmlns:a16="http://schemas.microsoft.com/office/drawing/2014/main" val="1989657700"/>
                  </a:ext>
                </a:extLst>
              </a:tr>
            </a:tbl>
          </a:graphicData>
        </a:graphic>
      </p:graphicFrame>
      <p:sp>
        <p:nvSpPr>
          <p:cNvPr id="3" name="TextBox 2">
            <a:extLst>
              <a:ext uri="{FF2B5EF4-FFF2-40B4-BE49-F238E27FC236}">
                <a16:creationId xmlns:a16="http://schemas.microsoft.com/office/drawing/2014/main" id="{9DFFB1AC-58E0-ABBF-38D3-83BE634DD9BC}"/>
              </a:ext>
            </a:extLst>
          </p:cNvPr>
          <p:cNvSpPr txBox="1"/>
          <p:nvPr/>
        </p:nvSpPr>
        <p:spPr>
          <a:xfrm>
            <a:off x="0" y="838025"/>
            <a:ext cx="6386685" cy="276999"/>
          </a:xfrm>
          <a:prstGeom prst="rect">
            <a:avLst/>
          </a:prstGeom>
          <a:noFill/>
        </p:spPr>
        <p:txBody>
          <a:bodyPr wrap="none" rtlCol="0">
            <a:spAutoFit/>
          </a:bodyPr>
          <a:lstStyle/>
          <a:p>
            <a:r>
              <a:rPr lang="uk-UA" sz="1200" noProof="0" dirty="0">
                <a:latin typeface="Open Sans" panose="020B0606030504020204" pitchFamily="34" charset="0"/>
                <a:ea typeface="Open Sans" panose="020B0606030504020204" pitchFamily="34" charset="0"/>
                <a:cs typeface="Open Sans" panose="020B0606030504020204" pitchFamily="34" charset="0"/>
              </a:rPr>
              <a:t>Порівняльна характеристика спеціалізованих ШІ-інструментів для веб-</a:t>
            </a:r>
            <a:r>
              <a:rPr lang="uk-UA" sz="1200" noProof="0" dirty="0" err="1">
                <a:latin typeface="Open Sans" panose="020B0606030504020204" pitchFamily="34" charset="0"/>
                <a:ea typeface="Open Sans" panose="020B0606030504020204" pitchFamily="34" charset="0"/>
                <a:cs typeface="Open Sans" panose="020B0606030504020204" pitchFamily="34" charset="0"/>
              </a:rPr>
              <a:t>скрейпінгу</a:t>
            </a:r>
            <a:r>
              <a:rPr lang="uk-UA" sz="1200" noProof="0" dirty="0">
                <a:latin typeface="Open Sans" panose="020B0606030504020204" pitchFamily="34" charset="0"/>
                <a:ea typeface="Open Sans" panose="020B0606030504020204" pitchFamily="34" charset="0"/>
                <a:cs typeface="Open Sans" panose="020B0606030504020204" pitchFamily="34" charset="0"/>
              </a:rPr>
              <a:t> </a:t>
            </a:r>
          </a:p>
        </p:txBody>
      </p:sp>
      <p:sp>
        <p:nvSpPr>
          <p:cNvPr id="6" name="TextBox 5">
            <a:extLst>
              <a:ext uri="{FF2B5EF4-FFF2-40B4-BE49-F238E27FC236}">
                <a16:creationId xmlns:a16="http://schemas.microsoft.com/office/drawing/2014/main" id="{A74D9640-F609-796B-2E0C-34B6DF657706}"/>
              </a:ext>
            </a:extLst>
          </p:cNvPr>
          <p:cNvSpPr txBox="1"/>
          <p:nvPr/>
        </p:nvSpPr>
        <p:spPr>
          <a:xfrm>
            <a:off x="5188689" y="1065121"/>
            <a:ext cx="3955311" cy="3754874"/>
          </a:xfrm>
          <a:prstGeom prst="rect">
            <a:avLst/>
          </a:prstGeom>
          <a:noFill/>
        </p:spPr>
        <p:txBody>
          <a:bodyPr wrap="square">
            <a:spAutoFit/>
          </a:bodyPr>
          <a:lstStyle/>
          <a:p>
            <a:pPr>
              <a:buNone/>
            </a:pPr>
            <a:r>
              <a:rPr lang="uk-UA" b="1" noProof="0" dirty="0">
                <a:latin typeface="Open Sans" panose="020B0606030504020204" pitchFamily="34" charset="0"/>
                <a:ea typeface="Open Sans" panose="020B0606030504020204" pitchFamily="34" charset="0"/>
                <a:cs typeface="Open Sans" panose="020B0606030504020204" pitchFamily="34" charset="0"/>
              </a:rPr>
              <a:t>Висновки з огляду:</a:t>
            </a:r>
            <a:endParaRPr lang="uk-UA" noProof="0" dirty="0">
              <a:latin typeface="Open Sans" panose="020B0606030504020204" pitchFamily="34" charset="0"/>
              <a:ea typeface="Open Sans" panose="020B0606030504020204" pitchFamily="34" charset="0"/>
              <a:cs typeface="Open Sans" panose="020B0606030504020204" pitchFamily="34" charset="0"/>
            </a:endParaRPr>
          </a:p>
          <a:p>
            <a:r>
              <a:rPr lang="uk-UA" noProof="0" dirty="0">
                <a:latin typeface="Open Sans" panose="020B0606030504020204" pitchFamily="34" charset="0"/>
                <a:ea typeface="Open Sans" panose="020B0606030504020204" pitchFamily="34" charset="0"/>
                <a:cs typeface="Open Sans" panose="020B0606030504020204" pitchFamily="34" charset="0"/>
              </a:rPr>
              <a:t>- спеціалізовані AI-інструменти як альтернатива ручному </a:t>
            </a:r>
            <a:r>
              <a:rPr lang="uk-UA" noProof="0" dirty="0" err="1">
                <a:latin typeface="Open Sans" panose="020B0606030504020204" pitchFamily="34" charset="0"/>
                <a:ea typeface="Open Sans" panose="020B0606030504020204" pitchFamily="34" charset="0"/>
                <a:cs typeface="Open Sans" panose="020B0606030504020204" pitchFamily="34" charset="0"/>
              </a:rPr>
              <a:t>скрейпінгу</a:t>
            </a:r>
            <a:r>
              <a:rPr lang="uk-UA" noProof="0" dirty="0">
                <a:latin typeface="Open Sans" panose="020B0606030504020204" pitchFamily="34" charset="0"/>
                <a:ea typeface="Open Sans" panose="020B0606030504020204" pitchFamily="34" charset="0"/>
                <a:cs typeface="Open Sans" panose="020B0606030504020204" pitchFamily="34" charset="0"/>
              </a:rPr>
              <a:t>;</a:t>
            </a:r>
          </a:p>
          <a:p>
            <a:r>
              <a:rPr lang="uk-UA" noProof="0" dirty="0">
                <a:latin typeface="Open Sans" panose="020B0606030504020204" pitchFamily="34" charset="0"/>
                <a:ea typeface="Open Sans" panose="020B0606030504020204" pitchFamily="34" charset="0"/>
                <a:cs typeface="Open Sans" panose="020B0606030504020204" pitchFamily="34" charset="0"/>
              </a:rPr>
              <a:t>- роль генеративного AI та </a:t>
            </a:r>
            <a:r>
              <a:rPr lang="uk-UA" noProof="0" dirty="0" err="1">
                <a:latin typeface="Open Sans" panose="020B0606030504020204" pitchFamily="34" charset="0"/>
                <a:ea typeface="Open Sans" panose="020B0606030504020204" pitchFamily="34" charset="0"/>
                <a:cs typeface="Open Sans" panose="020B0606030504020204" pitchFamily="34" charset="0"/>
              </a:rPr>
              <a:t>агентних</a:t>
            </a:r>
            <a:r>
              <a:rPr lang="uk-UA" noProof="0" dirty="0">
                <a:latin typeface="Open Sans" panose="020B0606030504020204" pitchFamily="34" charset="0"/>
                <a:ea typeface="Open Sans" panose="020B0606030504020204" pitchFamily="34" charset="0"/>
                <a:cs typeface="Open Sans" panose="020B0606030504020204" pitchFamily="34" charset="0"/>
              </a:rPr>
              <a:t> підходів у автоматизації збору даних;</a:t>
            </a:r>
          </a:p>
          <a:p>
            <a:r>
              <a:rPr lang="uk-UA" noProof="0" dirty="0">
                <a:latin typeface="Open Sans" panose="020B0606030504020204" pitchFamily="34" charset="0"/>
                <a:ea typeface="Open Sans" panose="020B0606030504020204" pitchFamily="34" charset="0"/>
                <a:cs typeface="Open Sans" panose="020B0606030504020204" pitchFamily="34" charset="0"/>
              </a:rPr>
              <a:t>- </a:t>
            </a:r>
            <a:r>
              <a:rPr lang="uk-UA" noProof="0" dirty="0" err="1">
                <a:latin typeface="Open Sans" panose="020B0606030504020204" pitchFamily="34" charset="0"/>
                <a:ea typeface="Open Sans" panose="020B0606030504020204" pitchFamily="34" charset="0"/>
                <a:cs typeface="Open Sans" panose="020B0606030504020204" pitchFamily="34" charset="0"/>
              </a:rPr>
              <a:t>no-code</a:t>
            </a:r>
            <a:r>
              <a:rPr lang="uk-UA" noProof="0" dirty="0">
                <a:latin typeface="Open Sans" panose="020B0606030504020204" pitchFamily="34" charset="0"/>
                <a:ea typeface="Open Sans" panose="020B0606030504020204" pitchFamily="34" charset="0"/>
                <a:cs typeface="Open Sans" panose="020B0606030504020204" pitchFamily="34" charset="0"/>
              </a:rPr>
              <a:t> рішення: доступність для нетехнічних користувачів.</a:t>
            </a:r>
          </a:p>
          <a:p>
            <a:endParaRPr lang="uk-UA" noProof="0" dirty="0">
              <a:latin typeface="Open Sans" panose="020B0606030504020204" pitchFamily="34" charset="0"/>
              <a:ea typeface="Open Sans" panose="020B0606030504020204" pitchFamily="34" charset="0"/>
              <a:cs typeface="Open Sans" panose="020B0606030504020204" pitchFamily="34" charset="0"/>
            </a:endParaRPr>
          </a:p>
          <a:p>
            <a:pPr>
              <a:buNone/>
            </a:pPr>
            <a:r>
              <a:rPr lang="uk-UA" b="1" noProof="0" dirty="0">
                <a:latin typeface="Open Sans" panose="020B0606030504020204" pitchFamily="34" charset="0"/>
                <a:ea typeface="Open Sans" panose="020B0606030504020204" pitchFamily="34" charset="0"/>
                <a:cs typeface="Open Sans" panose="020B0606030504020204" pitchFamily="34" charset="0"/>
              </a:rPr>
              <a:t>Прогалини:</a:t>
            </a:r>
            <a:endParaRPr lang="uk-UA" noProof="0" dirty="0">
              <a:latin typeface="Open Sans" panose="020B0606030504020204" pitchFamily="34" charset="0"/>
              <a:ea typeface="Open Sans" panose="020B0606030504020204" pitchFamily="34" charset="0"/>
              <a:cs typeface="Open Sans" panose="020B0606030504020204" pitchFamily="34" charset="0"/>
            </a:endParaRPr>
          </a:p>
          <a:p>
            <a:r>
              <a:rPr lang="uk-UA" noProof="0" dirty="0">
                <a:latin typeface="Open Sans" panose="020B0606030504020204" pitchFamily="34" charset="0"/>
                <a:ea typeface="Open Sans" panose="020B0606030504020204" pitchFamily="34" charset="0"/>
                <a:cs typeface="Open Sans" panose="020B0606030504020204" pitchFamily="34" charset="0"/>
              </a:rPr>
              <a:t>- відсутність універсального інструменту з повним набором функцій (пагінація + анти-блокування + </a:t>
            </a:r>
            <a:r>
              <a:rPr lang="uk-UA" noProof="0" dirty="0" err="1">
                <a:latin typeface="Open Sans" panose="020B0606030504020204" pitchFamily="34" charset="0"/>
                <a:ea typeface="Open Sans" panose="020B0606030504020204" pitchFamily="34" charset="0"/>
                <a:cs typeface="Open Sans" panose="020B0606030504020204" pitchFamily="34" charset="0"/>
              </a:rPr>
              <a:t>кастомізація</a:t>
            </a:r>
            <a:r>
              <a:rPr lang="uk-UA" noProof="0" dirty="0">
                <a:latin typeface="Open Sans" panose="020B0606030504020204" pitchFamily="34" charset="0"/>
                <a:ea typeface="Open Sans" panose="020B0606030504020204" pitchFamily="34" charset="0"/>
                <a:cs typeface="Open Sans" panose="020B0606030504020204" pitchFamily="34" charset="0"/>
              </a:rPr>
              <a:t>);</a:t>
            </a:r>
          </a:p>
          <a:p>
            <a:r>
              <a:rPr lang="uk-UA" noProof="0" dirty="0">
                <a:latin typeface="Open Sans" panose="020B0606030504020204" pitchFamily="34" charset="0"/>
                <a:ea typeface="Open Sans" panose="020B0606030504020204" pitchFamily="34" charset="0"/>
                <a:cs typeface="Open Sans" panose="020B0606030504020204" pitchFamily="34" charset="0"/>
              </a:rPr>
              <a:t>- недостатня ефективність анти-блокування у більшості рішень;</a:t>
            </a:r>
          </a:p>
          <a:p>
            <a:r>
              <a:rPr lang="uk-UA" noProof="0" dirty="0">
                <a:latin typeface="Open Sans" panose="020B0606030504020204" pitchFamily="34" charset="0"/>
                <a:ea typeface="Open Sans" panose="020B0606030504020204" pitchFamily="34" charset="0"/>
                <a:cs typeface="Open Sans" panose="020B0606030504020204" pitchFamily="34" charset="0"/>
              </a:rPr>
              <a:t>- залежність від зовнішніх хмарних платформ без можливості локального розгортання.</a:t>
            </a:r>
          </a:p>
        </p:txBody>
      </p:sp>
    </p:spTree>
    <p:extLst>
      <p:ext uri="{BB962C8B-B14F-4D97-AF65-F5344CB8AC3E}">
        <p14:creationId xmlns:p14="http://schemas.microsoft.com/office/powerpoint/2010/main" val="2552585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1FB7FA00-0B6E-B630-30BE-F0AF362C40B0}"/>
            </a:ext>
          </a:extLst>
        </p:cNvPr>
        <p:cNvGrpSpPr/>
        <p:nvPr/>
      </p:nvGrpSpPr>
      <p:grpSpPr>
        <a:xfrm>
          <a:off x="0" y="0"/>
          <a:ext cx="0" cy="0"/>
          <a:chOff x="0" y="0"/>
          <a:chExt cx="0" cy="0"/>
        </a:xfrm>
      </p:grpSpPr>
      <p:sp>
        <p:nvSpPr>
          <p:cNvPr id="92" name="Google Shape;92;p17">
            <a:extLst>
              <a:ext uri="{FF2B5EF4-FFF2-40B4-BE49-F238E27FC236}">
                <a16:creationId xmlns:a16="http://schemas.microsoft.com/office/drawing/2014/main" id="{DECB012A-0D2D-E0DD-D196-6889D36BBA20}"/>
              </a:ext>
            </a:extLst>
          </p:cNvPr>
          <p:cNvSpPr txBox="1">
            <a:spLocks noGrp="1"/>
          </p:cNvSpPr>
          <p:nvPr>
            <p:ph type="title"/>
          </p:nvPr>
        </p:nvSpPr>
        <p:spPr>
          <a:xfrm>
            <a:off x="311700" y="86683"/>
            <a:ext cx="8520600" cy="986126"/>
          </a:xfrm>
          <a:prstGeom prst="rect">
            <a:avLst/>
          </a:prstGeom>
          <a:noFill/>
          <a:ln>
            <a:noFill/>
          </a:ln>
        </p:spPr>
        <p:txBody>
          <a:bodyPr spcFirstLastPara="1" wrap="square" lIns="91425" tIns="91425" rIns="91425" bIns="91425" anchor="b" anchorCtr="0">
            <a:normAutofit fontScale="90000"/>
          </a:bodyPr>
          <a:lstStyle/>
          <a:p>
            <a:r>
              <a:rPr lang="uk-UA" sz="3200" noProof="0" dirty="0">
                <a:latin typeface="Open Sans" panose="020B0606030504020204" pitchFamily="34" charset="0"/>
                <a:ea typeface="Open Sans" panose="020B0606030504020204" pitchFamily="34" charset="0"/>
                <a:cs typeface="Open Sans" panose="020B0606030504020204" pitchFamily="34" charset="0"/>
              </a:rPr>
              <a:t>Огляд й аналіз літературних, наукових джерел</a:t>
            </a:r>
          </a:p>
        </p:txBody>
      </p:sp>
      <p:pic>
        <p:nvPicPr>
          <p:cNvPr id="94" name="Google Shape;94;p17">
            <a:extLst>
              <a:ext uri="{FF2B5EF4-FFF2-40B4-BE49-F238E27FC236}">
                <a16:creationId xmlns:a16="http://schemas.microsoft.com/office/drawing/2014/main" id="{10489016-DC86-2756-3446-029EAD3F751A}"/>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Номер слайда 1">
            <a:extLst>
              <a:ext uri="{FF2B5EF4-FFF2-40B4-BE49-F238E27FC236}">
                <a16:creationId xmlns:a16="http://schemas.microsoft.com/office/drawing/2014/main" id="{1EA744E2-D460-9382-8A73-A35EA85C2F1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uk-UA" noProof="0" smtClean="0"/>
              <a:t>4</a:t>
            </a:fld>
            <a:endParaRPr lang="uk-UA" noProof="0" dirty="0"/>
          </a:p>
        </p:txBody>
      </p:sp>
      <p:graphicFrame>
        <p:nvGraphicFramePr>
          <p:cNvPr id="7" name="Table 6">
            <a:extLst>
              <a:ext uri="{FF2B5EF4-FFF2-40B4-BE49-F238E27FC236}">
                <a16:creationId xmlns:a16="http://schemas.microsoft.com/office/drawing/2014/main" id="{43165C35-BECC-F178-87CA-69710F471F53}"/>
              </a:ext>
            </a:extLst>
          </p:cNvPr>
          <p:cNvGraphicFramePr>
            <a:graphicFrameLocks noGrp="1"/>
          </p:cNvGraphicFramePr>
          <p:nvPr>
            <p:extLst>
              <p:ext uri="{D42A27DB-BD31-4B8C-83A1-F6EECF244321}">
                <p14:modId xmlns:p14="http://schemas.microsoft.com/office/powerpoint/2010/main" val="1054101687"/>
              </p:ext>
            </p:extLst>
          </p:nvPr>
        </p:nvGraphicFramePr>
        <p:xfrm>
          <a:off x="103909" y="1131479"/>
          <a:ext cx="5552612" cy="3081393"/>
        </p:xfrm>
        <a:graphic>
          <a:graphicData uri="http://schemas.openxmlformats.org/drawingml/2006/table">
            <a:tbl>
              <a:tblPr firstRow="1" firstCol="1" bandRow="1">
                <a:tableStyleId>{5C22544A-7EE6-4342-B048-85BDC9FD1C3A}</a:tableStyleId>
              </a:tblPr>
              <a:tblGrid>
                <a:gridCol w="1633160">
                  <a:extLst>
                    <a:ext uri="{9D8B030D-6E8A-4147-A177-3AD203B41FA5}">
                      <a16:colId xmlns:a16="http://schemas.microsoft.com/office/drawing/2014/main" val="716934271"/>
                    </a:ext>
                  </a:extLst>
                </a:gridCol>
                <a:gridCol w="1256702">
                  <a:extLst>
                    <a:ext uri="{9D8B030D-6E8A-4147-A177-3AD203B41FA5}">
                      <a16:colId xmlns:a16="http://schemas.microsoft.com/office/drawing/2014/main" val="4266221780"/>
                    </a:ext>
                  </a:extLst>
                </a:gridCol>
                <a:gridCol w="1274457">
                  <a:extLst>
                    <a:ext uri="{9D8B030D-6E8A-4147-A177-3AD203B41FA5}">
                      <a16:colId xmlns:a16="http://schemas.microsoft.com/office/drawing/2014/main" val="667399313"/>
                    </a:ext>
                  </a:extLst>
                </a:gridCol>
                <a:gridCol w="1388293">
                  <a:extLst>
                    <a:ext uri="{9D8B030D-6E8A-4147-A177-3AD203B41FA5}">
                      <a16:colId xmlns:a16="http://schemas.microsoft.com/office/drawing/2014/main" val="4094637149"/>
                    </a:ext>
                  </a:extLst>
                </a:gridCol>
              </a:tblGrid>
              <a:tr h="586485">
                <a:tc>
                  <a:txBody>
                    <a:bodyPr/>
                    <a:lstStyle/>
                    <a:p>
                      <a:pPr algn="ctr">
                        <a:lnSpc>
                          <a:spcPct val="150000"/>
                        </a:lnSpc>
                        <a:spcAft>
                          <a:spcPts val="1000"/>
                        </a:spcAft>
                        <a:buNone/>
                      </a:pPr>
                      <a:r>
                        <a:rPr lang="uk-UA" sz="1100" noProof="0" dirty="0">
                          <a:latin typeface="Open Sans" panose="020B0606030504020204" pitchFamily="34" charset="0"/>
                          <a:ea typeface="Open Sans" panose="020B0606030504020204" pitchFamily="34" charset="0"/>
                          <a:cs typeface="Open Sans" panose="020B0606030504020204" pitchFamily="34" charset="0"/>
                        </a:rPr>
                        <a:t>Автори</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50000"/>
                        </a:lnSpc>
                        <a:spcAft>
                          <a:spcPts val="1000"/>
                        </a:spcAft>
                        <a:buNone/>
                      </a:pPr>
                      <a:r>
                        <a:rPr lang="uk-UA" sz="1200" noProof="0" dirty="0">
                          <a:effectLst/>
                          <a:latin typeface="Open Sans" panose="020B0606030504020204" pitchFamily="34" charset="0"/>
                          <a:ea typeface="Open Sans" panose="020B0606030504020204" pitchFamily="34" charset="0"/>
                          <a:cs typeface="Open Sans" panose="020B0606030504020204" pitchFamily="34" charset="0"/>
                        </a:rPr>
                        <a:t>Цілі дослідження</a:t>
                      </a:r>
                      <a:endParaRPr lang="uk-UA" sz="105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50000"/>
                        </a:lnSpc>
                        <a:spcAft>
                          <a:spcPts val="1000"/>
                        </a:spcAft>
                        <a:buNone/>
                      </a:pPr>
                      <a:r>
                        <a:rPr lang="uk-UA" sz="1050" noProof="0" dirty="0">
                          <a:effectLst/>
                          <a:latin typeface="Open Sans" panose="020B0606030504020204" pitchFamily="34" charset="0"/>
                          <a:ea typeface="Open Sans" panose="020B0606030504020204" pitchFamily="34" charset="0"/>
                          <a:cs typeface="Open Sans" panose="020B0606030504020204" pitchFamily="34" charset="0"/>
                        </a:rPr>
                        <a:t>Використані методи</a:t>
                      </a:r>
                    </a:p>
                  </a:txBody>
                  <a:tcPr marL="68580" marR="68580" marT="0" marB="0"/>
                </a:tc>
                <a:tc>
                  <a:txBody>
                    <a:bodyPr/>
                    <a:lstStyle/>
                    <a:p>
                      <a:pPr algn="ctr">
                        <a:lnSpc>
                          <a:spcPct val="150000"/>
                        </a:lnSpc>
                        <a:spcAft>
                          <a:spcPts val="1000"/>
                        </a:spcAft>
                        <a:buNone/>
                      </a:pPr>
                      <a:r>
                        <a:rPr lang="uk-UA" sz="1200" noProof="0" dirty="0">
                          <a:effectLst/>
                          <a:latin typeface="Open Sans" panose="020B0606030504020204" pitchFamily="34" charset="0"/>
                          <a:ea typeface="Open Sans" panose="020B0606030504020204" pitchFamily="34" charset="0"/>
                          <a:cs typeface="Open Sans" panose="020B0606030504020204" pitchFamily="34" charset="0"/>
                        </a:rPr>
                        <a:t>Результати та висновки</a:t>
                      </a:r>
                      <a:endParaRPr lang="uk-UA" sz="105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3399183791"/>
                  </a:ext>
                </a:extLst>
              </a:tr>
              <a:tr h="802446">
                <a:tc>
                  <a:txBody>
                    <a:bodyPr/>
                    <a:lstStyle/>
                    <a:p>
                      <a:pPr algn="l">
                        <a:lnSpc>
                          <a:spcPct val="150000"/>
                        </a:lnSpc>
                        <a:spcAft>
                          <a:spcPts val="1000"/>
                        </a:spcAft>
                        <a:buNone/>
                      </a:pPr>
                      <a:r>
                        <a:rPr lang="uk-UA" sz="1000" noProof="0" dirty="0" err="1">
                          <a:latin typeface="Open Sans" panose="020B0606030504020204" pitchFamily="34" charset="0"/>
                          <a:ea typeface="Open Sans" panose="020B0606030504020204" pitchFamily="34" charset="0"/>
                          <a:cs typeface="Open Sans" panose="020B0606030504020204" pitchFamily="34" charset="0"/>
                        </a:rPr>
                        <a:t>Weerasinghe</a:t>
                      </a:r>
                      <a:r>
                        <a:rPr lang="uk-UA" sz="1000" noProof="0" dirty="0">
                          <a:latin typeface="Open Sans" panose="020B0606030504020204" pitchFamily="34" charset="0"/>
                          <a:ea typeface="Open Sans" panose="020B0606030504020204" pitchFamily="34" charset="0"/>
                          <a:cs typeface="Open Sans" panose="020B0606030504020204" pitchFamily="34" charset="0"/>
                        </a:rPr>
                        <a:t> (2024)</a:t>
                      </a:r>
                      <a:endParaRPr lang="uk-UA" sz="8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tc>
                <a:tc>
                  <a:txBody>
                    <a:bodyPr/>
                    <a:lstStyle/>
                    <a:p>
                      <a:pPr algn="ctr">
                        <a:lnSpc>
                          <a:spcPct val="150000"/>
                        </a:lnSpc>
                        <a:spcAft>
                          <a:spcPts val="1000"/>
                        </a:spcAft>
                        <a:buNone/>
                      </a:pPr>
                      <a:r>
                        <a:rPr lang="uk-UA" sz="1000" noProof="0" dirty="0">
                          <a:latin typeface="Open Sans" panose="020B0606030504020204" pitchFamily="34" charset="0"/>
                          <a:ea typeface="Open Sans" panose="020B0606030504020204" pitchFamily="34" charset="0"/>
                          <a:cs typeface="Open Sans" panose="020B0606030504020204" pitchFamily="34" charset="0"/>
                        </a:rPr>
                        <a:t>Огляд застосування ШІ у веб-</a:t>
                      </a:r>
                      <a:r>
                        <a:rPr lang="uk-UA" sz="1000" noProof="0" dirty="0" err="1">
                          <a:latin typeface="Open Sans" panose="020B0606030504020204" pitchFamily="34" charset="0"/>
                          <a:ea typeface="Open Sans" panose="020B0606030504020204" pitchFamily="34" charset="0"/>
                          <a:cs typeface="Open Sans" panose="020B0606030504020204" pitchFamily="34" charset="0"/>
                        </a:rPr>
                        <a:t>скрейпінгу</a:t>
                      </a:r>
                      <a:endParaRPr lang="uk-UA" sz="8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tc>
                <a:tc>
                  <a:txBody>
                    <a:bodyPr/>
                    <a:lstStyle/>
                    <a:p>
                      <a:pPr algn="ctr">
                        <a:lnSpc>
                          <a:spcPct val="150000"/>
                        </a:lnSpc>
                        <a:spcAft>
                          <a:spcPts val="1000"/>
                        </a:spcAft>
                        <a:buNone/>
                      </a:pPr>
                      <a:r>
                        <a:rPr lang="uk-UA" sz="1000" noProof="0" dirty="0" err="1">
                          <a:latin typeface="Open Sans" panose="020B0606030504020204" pitchFamily="34" charset="0"/>
                          <a:ea typeface="Open Sans" panose="020B0606030504020204" pitchFamily="34" charset="0"/>
                          <a:cs typeface="Open Sans" panose="020B0606030504020204" pitchFamily="34" charset="0"/>
                        </a:rPr>
                        <a:t>Transformer</a:t>
                      </a:r>
                      <a:r>
                        <a:rPr lang="uk-UA" sz="1000" noProof="0" dirty="0">
                          <a:latin typeface="Open Sans" panose="020B0606030504020204" pitchFamily="34" charset="0"/>
                          <a:ea typeface="Open Sans" panose="020B0606030504020204" pitchFamily="34" charset="0"/>
                          <a:cs typeface="Open Sans" panose="020B0606030504020204" pitchFamily="34" charset="0"/>
                        </a:rPr>
                        <a:t>-моделі, NLP</a:t>
                      </a:r>
                      <a:endParaRPr lang="uk-UA" sz="8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tc>
                <a:tc>
                  <a:txBody>
                    <a:bodyPr/>
                    <a:lstStyle/>
                    <a:p>
                      <a:pPr algn="ctr">
                        <a:lnSpc>
                          <a:spcPct val="150000"/>
                        </a:lnSpc>
                        <a:spcAft>
                          <a:spcPts val="1000"/>
                        </a:spcAft>
                        <a:buNone/>
                      </a:pPr>
                      <a:r>
                        <a:rPr lang="uk-UA" sz="1000" noProof="0" dirty="0">
                          <a:latin typeface="Open Sans" panose="020B0606030504020204" pitchFamily="34" charset="0"/>
                          <a:ea typeface="Open Sans" panose="020B0606030504020204" pitchFamily="34" charset="0"/>
                          <a:cs typeface="Open Sans" panose="020B0606030504020204" pitchFamily="34" charset="0"/>
                        </a:rPr>
                        <a:t>Підвищення точності екстракції з динамічних сайтів</a:t>
                      </a:r>
                      <a:endParaRPr lang="uk-UA" sz="8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tc>
                <a:extLst>
                  <a:ext uri="{0D108BD9-81ED-4DB2-BD59-A6C34878D82A}">
                    <a16:rowId xmlns:a16="http://schemas.microsoft.com/office/drawing/2014/main" val="868551051"/>
                  </a:ext>
                </a:extLst>
              </a:tr>
              <a:tr h="802446">
                <a:tc>
                  <a:txBody>
                    <a:bodyPr/>
                    <a:lstStyle/>
                    <a:p>
                      <a:pPr algn="l">
                        <a:lnSpc>
                          <a:spcPct val="150000"/>
                        </a:lnSpc>
                        <a:spcAft>
                          <a:spcPts val="1000"/>
                        </a:spcAft>
                        <a:buNone/>
                      </a:pPr>
                      <a:r>
                        <a:rPr lang="uk-UA" sz="1000" noProof="0" dirty="0" err="1">
                          <a:latin typeface="Open Sans" panose="020B0606030504020204" pitchFamily="34" charset="0"/>
                          <a:ea typeface="Open Sans" panose="020B0606030504020204" pitchFamily="34" charset="0"/>
                          <a:cs typeface="Open Sans" panose="020B0606030504020204" pitchFamily="34" charset="0"/>
                        </a:rPr>
                        <a:t>Blázquez-Ochando</a:t>
                      </a:r>
                      <a:r>
                        <a:rPr lang="uk-UA" sz="1000" noProof="0" dirty="0">
                          <a:latin typeface="Open Sans" panose="020B0606030504020204" pitchFamily="34" charset="0"/>
                          <a:ea typeface="Open Sans" panose="020B0606030504020204" pitchFamily="34" charset="0"/>
                          <a:cs typeface="Open Sans" panose="020B0606030504020204" pitchFamily="34" charset="0"/>
                        </a:rPr>
                        <a:t> (2025)</a:t>
                      </a:r>
                      <a:endParaRPr lang="uk-UA" sz="8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tc>
                <a:tc>
                  <a:txBody>
                    <a:bodyPr/>
                    <a:lstStyle/>
                    <a:p>
                      <a:pPr algn="ctr">
                        <a:lnSpc>
                          <a:spcPct val="150000"/>
                        </a:lnSpc>
                        <a:spcAft>
                          <a:spcPts val="1000"/>
                        </a:spcAft>
                        <a:buNone/>
                      </a:pPr>
                      <a:r>
                        <a:rPr lang="uk-UA" sz="1000" noProof="0" dirty="0" err="1">
                          <a:latin typeface="Open Sans" panose="020B0606030504020204" pitchFamily="34" charset="0"/>
                          <a:ea typeface="Open Sans" panose="020B0606030504020204" pitchFamily="34" charset="0"/>
                          <a:cs typeface="Open Sans" panose="020B0606030504020204" pitchFamily="34" charset="0"/>
                        </a:rPr>
                        <a:t>Prompt</a:t>
                      </a:r>
                      <a:r>
                        <a:rPr lang="uk-UA" sz="1000" noProof="0" dirty="0">
                          <a:latin typeface="Open Sans" panose="020B0606030504020204" pitchFamily="34" charset="0"/>
                          <a:ea typeface="Open Sans" panose="020B0606030504020204" pitchFamily="34" charset="0"/>
                          <a:cs typeface="Open Sans" panose="020B0606030504020204" pitchFamily="34" charset="0"/>
                        </a:rPr>
                        <a:t> </a:t>
                      </a:r>
                      <a:r>
                        <a:rPr lang="uk-UA" sz="1000" noProof="0" dirty="0" err="1">
                          <a:latin typeface="Open Sans" panose="020B0606030504020204" pitchFamily="34" charset="0"/>
                          <a:ea typeface="Open Sans" panose="020B0606030504020204" pitchFamily="34" charset="0"/>
                          <a:cs typeface="Open Sans" panose="020B0606030504020204" pitchFamily="34" charset="0"/>
                        </a:rPr>
                        <a:t>engineering</a:t>
                      </a:r>
                      <a:r>
                        <a:rPr lang="uk-UA" sz="1000" noProof="0" dirty="0">
                          <a:latin typeface="Open Sans" panose="020B0606030504020204" pitchFamily="34" charset="0"/>
                          <a:ea typeface="Open Sans" panose="020B0606030504020204" pitchFamily="34" charset="0"/>
                          <a:cs typeface="Open Sans" panose="020B0606030504020204" pitchFamily="34" charset="0"/>
                        </a:rPr>
                        <a:t> для бібліографічного </a:t>
                      </a:r>
                      <a:r>
                        <a:rPr lang="uk-UA" sz="1000" noProof="0" dirty="0" err="1">
                          <a:latin typeface="Open Sans" panose="020B0606030504020204" pitchFamily="34" charset="0"/>
                          <a:ea typeface="Open Sans" panose="020B0606030504020204" pitchFamily="34" charset="0"/>
                          <a:cs typeface="Open Sans" panose="020B0606030504020204" pitchFamily="34" charset="0"/>
                        </a:rPr>
                        <a:t>скрейпінгу</a:t>
                      </a:r>
                      <a:endParaRPr lang="uk-UA" sz="8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tc>
                <a:tc>
                  <a:txBody>
                    <a:bodyPr/>
                    <a:lstStyle/>
                    <a:p>
                      <a:pPr algn="ctr">
                        <a:lnSpc>
                          <a:spcPct val="150000"/>
                        </a:lnSpc>
                        <a:spcAft>
                          <a:spcPts val="1000"/>
                        </a:spcAft>
                        <a:buNone/>
                      </a:pPr>
                      <a:r>
                        <a:rPr lang="uk-UA" sz="1000" noProof="0" dirty="0" err="1">
                          <a:latin typeface="Open Sans" panose="020B0606030504020204" pitchFamily="34" charset="0"/>
                          <a:ea typeface="Open Sans" panose="020B0606030504020204" pitchFamily="34" charset="0"/>
                          <a:cs typeface="Open Sans" panose="020B0606030504020204" pitchFamily="34" charset="0"/>
                        </a:rPr>
                        <a:t>Role</a:t>
                      </a:r>
                      <a:r>
                        <a:rPr lang="uk-UA" sz="1000" noProof="0" dirty="0">
                          <a:latin typeface="Open Sans" panose="020B0606030504020204" pitchFamily="34" charset="0"/>
                          <a:ea typeface="Open Sans" panose="020B0606030504020204" pitchFamily="34" charset="0"/>
                          <a:cs typeface="Open Sans" panose="020B0606030504020204" pitchFamily="34" charset="0"/>
                        </a:rPr>
                        <a:t> </a:t>
                      </a:r>
                      <a:r>
                        <a:rPr lang="uk-UA" sz="1000" noProof="0" dirty="0" err="1">
                          <a:latin typeface="Open Sans" panose="020B0606030504020204" pitchFamily="34" charset="0"/>
                          <a:ea typeface="Open Sans" panose="020B0606030504020204" pitchFamily="34" charset="0"/>
                          <a:cs typeface="Open Sans" panose="020B0606030504020204" pitchFamily="34" charset="0"/>
                        </a:rPr>
                        <a:t>Prompting</a:t>
                      </a:r>
                      <a:r>
                        <a:rPr lang="uk-UA" sz="1000" noProof="0" dirty="0">
                          <a:latin typeface="Open Sans" panose="020B0606030504020204" pitchFamily="34" charset="0"/>
                          <a:ea typeface="Open Sans" panose="020B0606030504020204" pitchFamily="34" charset="0"/>
                          <a:cs typeface="Open Sans" panose="020B0606030504020204" pitchFamily="34" charset="0"/>
                        </a:rPr>
                        <a:t>, </a:t>
                      </a:r>
                      <a:r>
                        <a:rPr lang="uk-UA" sz="1000" noProof="0" dirty="0" err="1">
                          <a:latin typeface="Open Sans" panose="020B0606030504020204" pitchFamily="34" charset="0"/>
                          <a:ea typeface="Open Sans" panose="020B0606030504020204" pitchFamily="34" charset="0"/>
                          <a:cs typeface="Open Sans" panose="020B0606030504020204" pitchFamily="34" charset="0"/>
                        </a:rPr>
                        <a:t>Few-shot</a:t>
                      </a:r>
                      <a:r>
                        <a:rPr lang="uk-UA" sz="1000" noProof="0" dirty="0">
                          <a:latin typeface="Open Sans" panose="020B0606030504020204" pitchFamily="34" charset="0"/>
                          <a:ea typeface="Open Sans" panose="020B0606030504020204" pitchFamily="34" charset="0"/>
                          <a:cs typeface="Open Sans" panose="020B0606030504020204" pitchFamily="34" charset="0"/>
                        </a:rPr>
                        <a:t> </a:t>
                      </a:r>
                      <a:r>
                        <a:rPr lang="uk-UA" sz="1000" noProof="0" dirty="0" err="1">
                          <a:latin typeface="Open Sans" panose="020B0606030504020204" pitchFamily="34" charset="0"/>
                          <a:ea typeface="Open Sans" panose="020B0606030504020204" pitchFamily="34" charset="0"/>
                          <a:cs typeface="Open Sans" panose="020B0606030504020204" pitchFamily="34" charset="0"/>
                        </a:rPr>
                        <a:t>Prompting</a:t>
                      </a:r>
                      <a:endParaRPr lang="uk-UA" sz="8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tc>
                <a:tc>
                  <a:txBody>
                    <a:bodyPr/>
                    <a:lstStyle/>
                    <a:p>
                      <a:pPr algn="ctr">
                        <a:lnSpc>
                          <a:spcPct val="150000"/>
                        </a:lnSpc>
                        <a:spcAft>
                          <a:spcPts val="1000"/>
                        </a:spcAft>
                        <a:buNone/>
                      </a:pPr>
                      <a:r>
                        <a:rPr lang="uk-UA" sz="1000" noProof="0" dirty="0">
                          <a:latin typeface="Open Sans" panose="020B0606030504020204" pitchFamily="34" charset="0"/>
                          <a:ea typeface="Open Sans" panose="020B0606030504020204" pitchFamily="34" charset="0"/>
                          <a:cs typeface="Open Sans" panose="020B0606030504020204" pitchFamily="34" charset="0"/>
                        </a:rPr>
                        <a:t>Точність 85.43%, швидкість 66.76 записів/хв</a:t>
                      </a:r>
                      <a:endParaRPr lang="uk-UA" sz="8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tc>
                <a:extLst>
                  <a:ext uri="{0D108BD9-81ED-4DB2-BD59-A6C34878D82A}">
                    <a16:rowId xmlns:a16="http://schemas.microsoft.com/office/drawing/2014/main" val="3201770092"/>
                  </a:ext>
                </a:extLst>
              </a:tr>
              <a:tr h="802446">
                <a:tc>
                  <a:txBody>
                    <a:bodyPr/>
                    <a:lstStyle/>
                    <a:p>
                      <a:pPr algn="l">
                        <a:lnSpc>
                          <a:spcPct val="150000"/>
                        </a:lnSpc>
                        <a:spcAft>
                          <a:spcPts val="1000"/>
                        </a:spcAft>
                        <a:buNone/>
                      </a:pPr>
                      <a:r>
                        <a:rPr lang="uk-UA" sz="1000" noProof="0" dirty="0" err="1">
                          <a:latin typeface="Open Sans" panose="020B0606030504020204" pitchFamily="34" charset="0"/>
                          <a:ea typeface="Open Sans" panose="020B0606030504020204" pitchFamily="34" charset="0"/>
                          <a:cs typeface="Open Sans" panose="020B0606030504020204" pitchFamily="34" charset="0"/>
                        </a:rPr>
                        <a:t>Brown</a:t>
                      </a:r>
                      <a:r>
                        <a:rPr lang="uk-UA" sz="1000" noProof="0" dirty="0">
                          <a:latin typeface="Open Sans" panose="020B0606030504020204" pitchFamily="34" charset="0"/>
                          <a:ea typeface="Open Sans" panose="020B0606030504020204" pitchFamily="34" charset="0"/>
                          <a:cs typeface="Open Sans" panose="020B0606030504020204" pitchFamily="34" charset="0"/>
                        </a:rPr>
                        <a:t> </a:t>
                      </a:r>
                      <a:r>
                        <a:rPr lang="uk-UA" sz="1000" noProof="0" dirty="0" err="1">
                          <a:latin typeface="Open Sans" panose="020B0606030504020204" pitchFamily="34" charset="0"/>
                          <a:ea typeface="Open Sans" panose="020B0606030504020204" pitchFamily="34" charset="0"/>
                          <a:cs typeface="Open Sans" panose="020B0606030504020204" pitchFamily="34" charset="0"/>
                        </a:rPr>
                        <a:t>et</a:t>
                      </a:r>
                      <a:r>
                        <a:rPr lang="uk-UA" sz="1000" noProof="0" dirty="0">
                          <a:latin typeface="Open Sans" panose="020B0606030504020204" pitchFamily="34" charset="0"/>
                          <a:ea typeface="Open Sans" panose="020B0606030504020204" pitchFamily="34" charset="0"/>
                          <a:cs typeface="Open Sans" panose="020B0606030504020204" pitchFamily="34" charset="0"/>
                        </a:rPr>
                        <a:t> </a:t>
                      </a:r>
                      <a:r>
                        <a:rPr lang="uk-UA" sz="1000" noProof="0" dirty="0" err="1">
                          <a:latin typeface="Open Sans" panose="020B0606030504020204" pitchFamily="34" charset="0"/>
                          <a:ea typeface="Open Sans" panose="020B0606030504020204" pitchFamily="34" charset="0"/>
                          <a:cs typeface="Open Sans" panose="020B0606030504020204" pitchFamily="34" charset="0"/>
                        </a:rPr>
                        <a:t>al</a:t>
                      </a:r>
                      <a:r>
                        <a:rPr lang="uk-UA" sz="1000" noProof="0" dirty="0">
                          <a:latin typeface="Open Sans" panose="020B0606030504020204" pitchFamily="34" charset="0"/>
                          <a:ea typeface="Open Sans" panose="020B0606030504020204" pitchFamily="34" charset="0"/>
                          <a:cs typeface="Open Sans" panose="020B0606030504020204" pitchFamily="34" charset="0"/>
                        </a:rPr>
                        <a:t>. (2025)</a:t>
                      </a:r>
                      <a:endParaRPr lang="uk-UA" sz="8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tc>
                <a:tc>
                  <a:txBody>
                    <a:bodyPr/>
                    <a:lstStyle/>
                    <a:p>
                      <a:pPr algn="ctr">
                        <a:lnSpc>
                          <a:spcPct val="150000"/>
                        </a:lnSpc>
                        <a:spcAft>
                          <a:spcPts val="1000"/>
                        </a:spcAft>
                        <a:buNone/>
                      </a:pPr>
                      <a:r>
                        <a:rPr lang="uk-UA" sz="1000" noProof="0" dirty="0">
                          <a:latin typeface="Open Sans" panose="020B0606030504020204" pitchFamily="34" charset="0"/>
                          <a:ea typeface="Open Sans" panose="020B0606030504020204" pitchFamily="34" charset="0"/>
                          <a:cs typeface="Open Sans" panose="020B0606030504020204" pitchFamily="34" charset="0"/>
                        </a:rPr>
                        <a:t>Правові та етичні аспекти веб-</a:t>
                      </a:r>
                      <a:r>
                        <a:rPr lang="uk-UA" sz="1000" noProof="0" dirty="0" err="1">
                          <a:latin typeface="Open Sans" panose="020B0606030504020204" pitchFamily="34" charset="0"/>
                          <a:ea typeface="Open Sans" panose="020B0606030504020204" pitchFamily="34" charset="0"/>
                          <a:cs typeface="Open Sans" panose="020B0606030504020204" pitchFamily="34" charset="0"/>
                        </a:rPr>
                        <a:t>скрейпінгу</a:t>
                      </a:r>
                      <a:endParaRPr lang="uk-UA" sz="8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tc>
                <a:tc>
                  <a:txBody>
                    <a:bodyPr/>
                    <a:lstStyle/>
                    <a:p>
                      <a:pPr algn="ctr">
                        <a:lnSpc>
                          <a:spcPct val="150000"/>
                        </a:lnSpc>
                        <a:spcAft>
                          <a:spcPts val="1000"/>
                        </a:spcAft>
                        <a:buNone/>
                      </a:pPr>
                      <a:r>
                        <a:rPr lang="uk-UA" sz="1000" noProof="0" dirty="0">
                          <a:latin typeface="Open Sans" panose="020B0606030504020204" pitchFamily="34" charset="0"/>
                          <a:ea typeface="Open Sans" panose="020B0606030504020204" pitchFamily="34" charset="0"/>
                          <a:cs typeface="Open Sans" panose="020B0606030504020204" pitchFamily="34" charset="0"/>
                        </a:rPr>
                        <a:t>Аналіз судової практики, GDPR</a:t>
                      </a:r>
                      <a:endParaRPr lang="uk-UA" sz="8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tc>
                <a:tc>
                  <a:txBody>
                    <a:bodyPr/>
                    <a:lstStyle/>
                    <a:p>
                      <a:pPr algn="ctr">
                        <a:lnSpc>
                          <a:spcPct val="150000"/>
                        </a:lnSpc>
                        <a:spcAft>
                          <a:spcPts val="1000"/>
                        </a:spcAft>
                        <a:buNone/>
                      </a:pPr>
                      <a:r>
                        <a:rPr lang="uk-UA" sz="1000" noProof="0" dirty="0">
                          <a:latin typeface="Open Sans" panose="020B0606030504020204" pitchFamily="34" charset="0"/>
                          <a:ea typeface="Open Sans" panose="020B0606030504020204" pitchFamily="34" charset="0"/>
                          <a:cs typeface="Open Sans" panose="020B0606030504020204" pitchFamily="34" charset="0"/>
                        </a:rPr>
                        <a:t>Систематизація правових обмежень збору даних</a:t>
                      </a:r>
                      <a:endParaRPr lang="uk-UA" sz="8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45935" marR="45935" marT="0" marB="0"/>
                </a:tc>
                <a:extLst>
                  <a:ext uri="{0D108BD9-81ED-4DB2-BD59-A6C34878D82A}">
                    <a16:rowId xmlns:a16="http://schemas.microsoft.com/office/drawing/2014/main" val="4163159210"/>
                  </a:ext>
                </a:extLst>
              </a:tr>
            </a:tbl>
          </a:graphicData>
        </a:graphic>
      </p:graphicFrame>
      <p:sp>
        <p:nvSpPr>
          <p:cNvPr id="9" name="TextBox 8">
            <a:extLst>
              <a:ext uri="{FF2B5EF4-FFF2-40B4-BE49-F238E27FC236}">
                <a16:creationId xmlns:a16="http://schemas.microsoft.com/office/drawing/2014/main" id="{781CFABF-82F0-02E8-CC6C-566EE22B7E5D}"/>
              </a:ext>
            </a:extLst>
          </p:cNvPr>
          <p:cNvSpPr txBox="1"/>
          <p:nvPr/>
        </p:nvSpPr>
        <p:spPr>
          <a:xfrm>
            <a:off x="5656521" y="1436852"/>
            <a:ext cx="3487479" cy="2862322"/>
          </a:xfrm>
          <a:prstGeom prst="rect">
            <a:avLst/>
          </a:prstGeom>
          <a:noFill/>
        </p:spPr>
        <p:txBody>
          <a:bodyPr wrap="square">
            <a:spAutoFit/>
          </a:bodyPr>
          <a:lstStyle/>
          <a:p>
            <a:pPr>
              <a:buNone/>
            </a:pPr>
            <a:r>
              <a:rPr lang="uk-UA" sz="1200" b="1" noProof="0" dirty="0">
                <a:latin typeface="Open Sans" panose="020B0606030504020204" pitchFamily="34" charset="0"/>
                <a:ea typeface="Open Sans" panose="020B0606030504020204" pitchFamily="34" charset="0"/>
                <a:cs typeface="Open Sans" panose="020B0606030504020204" pitchFamily="34" charset="0"/>
              </a:rPr>
              <a:t>Висновки з огляду:</a:t>
            </a:r>
            <a:endParaRPr lang="uk-UA" sz="1200" noProof="0" dirty="0">
              <a:latin typeface="Open Sans" panose="020B0606030504020204" pitchFamily="34" charset="0"/>
              <a:ea typeface="Open Sans" panose="020B0606030504020204" pitchFamily="34" charset="0"/>
              <a:cs typeface="Open Sans" panose="020B0606030504020204" pitchFamily="34" charset="0"/>
            </a:endParaRPr>
          </a:p>
          <a:p>
            <a:r>
              <a:rPr lang="uk-UA" sz="1200" noProof="0" dirty="0">
                <a:latin typeface="Open Sans" panose="020B0606030504020204" pitchFamily="34" charset="0"/>
                <a:ea typeface="Open Sans" panose="020B0606030504020204" pitchFamily="34" charset="0"/>
                <a:cs typeface="Open Sans" panose="020B0606030504020204" pitchFamily="34" charset="0"/>
              </a:rPr>
              <a:t>- LLM та </a:t>
            </a:r>
            <a:r>
              <a:rPr lang="uk-UA" sz="1200" noProof="0" dirty="0" err="1">
                <a:latin typeface="Open Sans" panose="020B0606030504020204" pitchFamily="34" charset="0"/>
                <a:ea typeface="Open Sans" panose="020B0606030504020204" pitchFamily="34" charset="0"/>
                <a:cs typeface="Open Sans" panose="020B0606030504020204" pitchFamily="34" charset="0"/>
              </a:rPr>
              <a:t>prompt</a:t>
            </a:r>
            <a:r>
              <a:rPr lang="uk-UA" sz="1200" noProof="0" dirty="0">
                <a:latin typeface="Open Sans" panose="020B0606030504020204" pitchFamily="34" charset="0"/>
                <a:ea typeface="Open Sans" panose="020B0606030504020204" pitchFamily="34" charset="0"/>
                <a:cs typeface="Open Sans" panose="020B0606030504020204" pitchFamily="34" charset="0"/>
              </a:rPr>
              <a:t> </a:t>
            </a:r>
            <a:r>
              <a:rPr lang="uk-UA" sz="1200" noProof="0" dirty="0" err="1">
                <a:latin typeface="Open Sans" panose="020B0606030504020204" pitchFamily="34" charset="0"/>
                <a:ea typeface="Open Sans" panose="020B0606030504020204" pitchFamily="34" charset="0"/>
                <a:cs typeface="Open Sans" panose="020B0606030504020204" pitchFamily="34" charset="0"/>
              </a:rPr>
              <a:t>engineering</a:t>
            </a:r>
            <a:r>
              <a:rPr lang="uk-UA" sz="1200" noProof="0" dirty="0">
                <a:latin typeface="Open Sans" panose="020B0606030504020204" pitchFamily="34" charset="0"/>
                <a:ea typeface="Open Sans" panose="020B0606030504020204" pitchFamily="34" charset="0"/>
                <a:cs typeface="Open Sans" panose="020B0606030504020204" pitchFamily="34" charset="0"/>
              </a:rPr>
              <a:t> як сучасний інструмент автоматизації </a:t>
            </a:r>
            <a:r>
              <a:rPr lang="uk-UA" sz="1200" noProof="0" dirty="0" err="1">
                <a:latin typeface="Open Sans" panose="020B0606030504020204" pitchFamily="34" charset="0"/>
                <a:ea typeface="Open Sans" panose="020B0606030504020204" pitchFamily="34" charset="0"/>
                <a:cs typeface="Open Sans" panose="020B0606030504020204" pitchFamily="34" charset="0"/>
              </a:rPr>
              <a:t>скрейпінгу</a:t>
            </a:r>
            <a:r>
              <a:rPr lang="uk-UA" sz="1200" noProof="0" dirty="0">
                <a:latin typeface="Open Sans" panose="020B0606030504020204" pitchFamily="34" charset="0"/>
                <a:ea typeface="Open Sans" panose="020B0606030504020204" pitchFamily="34" charset="0"/>
                <a:cs typeface="Open Sans" panose="020B0606030504020204" pitchFamily="34" charset="0"/>
              </a:rPr>
              <a:t>;</a:t>
            </a:r>
          </a:p>
          <a:p>
            <a:r>
              <a:rPr lang="uk-UA" sz="1200" noProof="0" dirty="0">
                <a:latin typeface="Open Sans" panose="020B0606030504020204" pitchFamily="34" charset="0"/>
                <a:ea typeface="Open Sans" panose="020B0606030504020204" pitchFamily="34" charset="0"/>
                <a:cs typeface="Open Sans" panose="020B0606030504020204" pitchFamily="34" charset="0"/>
              </a:rPr>
              <a:t>- роль NLP та методів машинного навчання в екстракції даних;</a:t>
            </a:r>
          </a:p>
          <a:p>
            <a:r>
              <a:rPr lang="uk-UA" sz="1200" noProof="0" dirty="0">
                <a:latin typeface="Open Sans" panose="020B0606030504020204" pitchFamily="34" charset="0"/>
                <a:ea typeface="Open Sans" panose="020B0606030504020204" pitchFamily="34" charset="0"/>
                <a:cs typeface="Open Sans" panose="020B0606030504020204" pitchFamily="34" charset="0"/>
              </a:rPr>
              <a:t>- правові обмеження: GDPR та судова практика США.</a:t>
            </a:r>
          </a:p>
          <a:p>
            <a:endParaRPr lang="uk-UA" sz="1200" noProof="0" dirty="0">
              <a:latin typeface="Open Sans" panose="020B0606030504020204" pitchFamily="34" charset="0"/>
              <a:ea typeface="Open Sans" panose="020B0606030504020204" pitchFamily="34" charset="0"/>
              <a:cs typeface="Open Sans" panose="020B0606030504020204" pitchFamily="34" charset="0"/>
            </a:endParaRPr>
          </a:p>
          <a:p>
            <a:pPr>
              <a:buNone/>
            </a:pPr>
            <a:r>
              <a:rPr lang="uk-UA" sz="1200" b="1" noProof="0" dirty="0">
                <a:latin typeface="Open Sans" panose="020B0606030504020204" pitchFamily="34" charset="0"/>
                <a:ea typeface="Open Sans" panose="020B0606030504020204" pitchFamily="34" charset="0"/>
                <a:cs typeface="Open Sans" panose="020B0606030504020204" pitchFamily="34" charset="0"/>
              </a:rPr>
              <a:t>Прогалини:</a:t>
            </a:r>
            <a:endParaRPr lang="uk-UA" sz="1200" noProof="0" dirty="0">
              <a:latin typeface="Open Sans" panose="020B0606030504020204" pitchFamily="34" charset="0"/>
              <a:ea typeface="Open Sans" panose="020B0606030504020204" pitchFamily="34" charset="0"/>
              <a:cs typeface="Open Sans" panose="020B0606030504020204" pitchFamily="34" charset="0"/>
            </a:endParaRPr>
          </a:p>
          <a:p>
            <a:r>
              <a:rPr lang="uk-UA" sz="1200" noProof="0" dirty="0">
                <a:latin typeface="Open Sans" panose="020B0606030504020204" pitchFamily="34" charset="0"/>
                <a:ea typeface="Open Sans" panose="020B0606030504020204" pitchFamily="34" charset="0"/>
                <a:cs typeface="Open Sans" panose="020B0606030504020204" pitchFamily="34" charset="0"/>
              </a:rPr>
              <a:t>- відсутність системного порівняння різних LLM-моделей для </a:t>
            </a:r>
            <a:r>
              <a:rPr lang="uk-UA" sz="1200" noProof="0" dirty="0" err="1">
                <a:latin typeface="Open Sans" panose="020B0606030504020204" pitchFamily="34" charset="0"/>
                <a:ea typeface="Open Sans" panose="020B0606030504020204" pitchFamily="34" charset="0"/>
                <a:cs typeface="Open Sans" panose="020B0606030504020204" pitchFamily="34" charset="0"/>
              </a:rPr>
              <a:t>скрейпінгу</a:t>
            </a:r>
            <a:r>
              <a:rPr lang="uk-UA" sz="1200" noProof="0" dirty="0">
                <a:latin typeface="Open Sans" panose="020B0606030504020204" pitchFamily="34" charset="0"/>
                <a:ea typeface="Open Sans" panose="020B0606030504020204" pitchFamily="34" charset="0"/>
                <a:cs typeface="Open Sans" panose="020B0606030504020204" pitchFamily="34" charset="0"/>
              </a:rPr>
              <a:t>;</a:t>
            </a:r>
          </a:p>
          <a:p>
            <a:r>
              <a:rPr lang="uk-UA" sz="1200" noProof="0" dirty="0">
                <a:latin typeface="Open Sans" panose="020B0606030504020204" pitchFamily="34" charset="0"/>
                <a:ea typeface="Open Sans" panose="020B0606030504020204" pitchFamily="34" charset="0"/>
                <a:cs typeface="Open Sans" panose="020B0606030504020204" pitchFamily="34" charset="0"/>
              </a:rPr>
              <a:t>- недостатня увага до задач структуризації даних у реляційні схеми;</a:t>
            </a:r>
          </a:p>
          <a:p>
            <a:r>
              <a:rPr lang="uk-UA" sz="1200" noProof="0" dirty="0">
                <a:latin typeface="Open Sans" panose="020B0606030504020204" pitchFamily="34" charset="0"/>
                <a:ea typeface="Open Sans" panose="020B0606030504020204" pitchFamily="34" charset="0"/>
                <a:cs typeface="Open Sans" panose="020B0606030504020204" pitchFamily="34" charset="0"/>
              </a:rPr>
              <a:t>- відсутність диференційованого підходу до вибору моделі залежно від типу завдання.</a:t>
            </a:r>
          </a:p>
        </p:txBody>
      </p:sp>
    </p:spTree>
    <p:extLst>
      <p:ext uri="{BB962C8B-B14F-4D97-AF65-F5344CB8AC3E}">
        <p14:creationId xmlns:p14="http://schemas.microsoft.com/office/powerpoint/2010/main" val="3084676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311700" y="202223"/>
            <a:ext cx="8520600" cy="4572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uk-UA" sz="3200" noProof="0" dirty="0"/>
              <a:t>Постановка задачі</a:t>
            </a:r>
          </a:p>
        </p:txBody>
      </p:sp>
      <p:sp>
        <p:nvSpPr>
          <p:cNvPr id="86" name="Google Shape;86;p16"/>
          <p:cNvSpPr txBox="1">
            <a:spLocks noGrp="1"/>
          </p:cNvSpPr>
          <p:nvPr>
            <p:ph type="body" idx="1"/>
          </p:nvPr>
        </p:nvSpPr>
        <p:spPr>
          <a:xfrm>
            <a:off x="1364659" y="894750"/>
            <a:ext cx="6414682" cy="3354000"/>
          </a:xfrm>
          <a:prstGeom prst="rect">
            <a:avLst/>
          </a:prstGeom>
        </p:spPr>
        <p:txBody>
          <a:bodyPr spcFirstLastPara="1" wrap="square" lIns="91425" tIns="91425" rIns="91425" bIns="91425" anchor="t" anchorCtr="0">
            <a:normAutofit/>
          </a:bodyPr>
          <a:lstStyle/>
          <a:p>
            <a:pPr marL="0" indent="0">
              <a:spcBef>
                <a:spcPts val="1500"/>
              </a:spcBef>
              <a:buNone/>
            </a:pPr>
            <a:r>
              <a:rPr lang="uk-UA" b="1" noProof="0" dirty="0"/>
              <a:t>Задача: </a:t>
            </a:r>
            <a:br>
              <a:rPr lang="uk-UA" b="1" noProof="0" dirty="0"/>
            </a:br>
            <a:r>
              <a:rPr lang="uk-UA" noProof="0" dirty="0"/>
              <a:t>Оцінка моделей </a:t>
            </a:r>
            <a:r>
              <a:rPr lang="uk-UA" noProof="0" dirty="0" err="1"/>
              <a:t>ChatGPT</a:t>
            </a:r>
            <a:r>
              <a:rPr lang="uk-UA" noProof="0" dirty="0"/>
              <a:t>, </a:t>
            </a:r>
            <a:r>
              <a:rPr lang="uk-UA" noProof="0" dirty="0" err="1"/>
              <a:t>Claude</a:t>
            </a:r>
            <a:r>
              <a:rPr lang="uk-UA" noProof="0" dirty="0"/>
              <a:t>, </a:t>
            </a:r>
            <a:r>
              <a:rPr lang="uk-UA" noProof="0" dirty="0" err="1"/>
              <a:t>DeepSeek</a:t>
            </a:r>
            <a:r>
              <a:rPr lang="uk-UA" noProof="0" dirty="0"/>
              <a:t> та </a:t>
            </a:r>
            <a:r>
              <a:rPr lang="uk-UA" noProof="0" dirty="0" err="1"/>
              <a:t>Grok</a:t>
            </a:r>
            <a:r>
              <a:rPr lang="uk-UA" noProof="0" dirty="0"/>
              <a:t> для збору даних, текстової аналітики та структуризації даних.</a:t>
            </a:r>
          </a:p>
          <a:p>
            <a:pPr marL="0" indent="0">
              <a:spcBef>
                <a:spcPts val="1500"/>
              </a:spcBef>
              <a:buNone/>
            </a:pPr>
            <a:r>
              <a:rPr lang="uk-UA" b="1" noProof="0" dirty="0"/>
              <a:t>Результат: </a:t>
            </a:r>
            <a:br>
              <a:rPr lang="uk-UA" noProof="0" dirty="0"/>
            </a:br>
            <a:r>
              <a:rPr lang="uk-UA" noProof="0" dirty="0"/>
              <a:t>Рекомендації щодо </a:t>
            </a:r>
            <a:r>
              <a:rPr lang="uk-UA" dirty="0"/>
              <a:t>корисності</a:t>
            </a:r>
            <a:r>
              <a:rPr lang="uk-UA" noProof="0" dirty="0"/>
              <a:t> ШІ-моделей для задач збору даних, текстової аналітики даних та структуризації даних.</a:t>
            </a:r>
          </a:p>
        </p:txBody>
      </p:sp>
      <p:pic>
        <p:nvPicPr>
          <p:cNvPr id="87" name="Google Shape;87;p16"/>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Номер слайда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uk-UA" noProof="0" smtClean="0"/>
              <a:t>5</a:t>
            </a:fld>
            <a:endParaRPr lang="uk-UA"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E94E16E7-C289-A7AA-385A-3650A9ED2209}"/>
            </a:ext>
          </a:extLst>
        </p:cNvPr>
        <p:cNvGrpSpPr/>
        <p:nvPr/>
      </p:nvGrpSpPr>
      <p:grpSpPr>
        <a:xfrm>
          <a:off x="0" y="0"/>
          <a:ext cx="0" cy="0"/>
          <a:chOff x="0" y="0"/>
          <a:chExt cx="0" cy="0"/>
        </a:xfrm>
      </p:grpSpPr>
      <p:sp>
        <p:nvSpPr>
          <p:cNvPr id="85" name="Google Shape;85;p16">
            <a:extLst>
              <a:ext uri="{FF2B5EF4-FFF2-40B4-BE49-F238E27FC236}">
                <a16:creationId xmlns:a16="http://schemas.microsoft.com/office/drawing/2014/main" id="{F12D853D-D6C2-C8B4-584D-D0FD285716DE}"/>
              </a:ext>
            </a:extLst>
          </p:cNvPr>
          <p:cNvSpPr txBox="1">
            <a:spLocks noGrp="1"/>
          </p:cNvSpPr>
          <p:nvPr>
            <p:ph type="title"/>
          </p:nvPr>
        </p:nvSpPr>
        <p:spPr>
          <a:xfrm>
            <a:off x="311700" y="202222"/>
            <a:ext cx="8520600" cy="919995"/>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uk-UA" sz="3200" noProof="0" dirty="0"/>
              <a:t>Використане та розроблене програмне забезпечення</a:t>
            </a:r>
          </a:p>
        </p:txBody>
      </p:sp>
      <p:pic>
        <p:nvPicPr>
          <p:cNvPr id="87" name="Google Shape;87;p16">
            <a:extLst>
              <a:ext uri="{FF2B5EF4-FFF2-40B4-BE49-F238E27FC236}">
                <a16:creationId xmlns:a16="http://schemas.microsoft.com/office/drawing/2014/main" id="{52A866EC-37F1-5FC1-9978-DB5BE16B2A23}"/>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Номер слайда 1">
            <a:extLst>
              <a:ext uri="{FF2B5EF4-FFF2-40B4-BE49-F238E27FC236}">
                <a16:creationId xmlns:a16="http://schemas.microsoft.com/office/drawing/2014/main" id="{74C7232A-3F31-E748-DE1F-AEC35625DB3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uk-UA" noProof="0" smtClean="0"/>
              <a:t>6</a:t>
            </a:fld>
            <a:endParaRPr lang="uk-UA" noProof="0" dirty="0"/>
          </a:p>
        </p:txBody>
      </p:sp>
      <p:pic>
        <p:nvPicPr>
          <p:cNvPr id="5" name="Picture 4">
            <a:extLst>
              <a:ext uri="{FF2B5EF4-FFF2-40B4-BE49-F238E27FC236}">
                <a16:creationId xmlns:a16="http://schemas.microsoft.com/office/drawing/2014/main" id="{B57D843C-87C6-3C06-F571-CD9648F28E11}"/>
              </a:ext>
            </a:extLst>
          </p:cNvPr>
          <p:cNvPicPr>
            <a:picLocks noChangeAspect="1"/>
          </p:cNvPicPr>
          <p:nvPr/>
        </p:nvPicPr>
        <p:blipFill>
          <a:blip r:embed="rId4"/>
          <a:stretch>
            <a:fillRect/>
          </a:stretch>
        </p:blipFill>
        <p:spPr>
          <a:xfrm>
            <a:off x="410767" y="1169035"/>
            <a:ext cx="1695124" cy="2805430"/>
          </a:xfrm>
          <a:prstGeom prst="rect">
            <a:avLst/>
          </a:prstGeom>
          <a:ln>
            <a:solidFill>
              <a:schemeClr val="tx1"/>
            </a:solidFill>
          </a:ln>
        </p:spPr>
      </p:pic>
      <p:pic>
        <p:nvPicPr>
          <p:cNvPr id="6" name="Picture 5">
            <a:extLst>
              <a:ext uri="{FF2B5EF4-FFF2-40B4-BE49-F238E27FC236}">
                <a16:creationId xmlns:a16="http://schemas.microsoft.com/office/drawing/2014/main" id="{C509D5DA-F7F7-39D7-A540-264E14A80920}"/>
              </a:ext>
            </a:extLst>
          </p:cNvPr>
          <p:cNvPicPr>
            <a:picLocks noChangeAspect="1"/>
          </p:cNvPicPr>
          <p:nvPr/>
        </p:nvPicPr>
        <p:blipFill>
          <a:blip r:embed="rId5"/>
          <a:stretch>
            <a:fillRect/>
          </a:stretch>
        </p:blipFill>
        <p:spPr>
          <a:xfrm>
            <a:off x="2386714" y="1169035"/>
            <a:ext cx="5351453" cy="3373583"/>
          </a:xfrm>
          <a:prstGeom prst="rect">
            <a:avLst/>
          </a:prstGeom>
          <a:ln>
            <a:solidFill>
              <a:schemeClr val="tx1"/>
            </a:solidFill>
          </a:ln>
        </p:spPr>
      </p:pic>
    </p:spTree>
    <p:extLst>
      <p:ext uri="{BB962C8B-B14F-4D97-AF65-F5344CB8AC3E}">
        <p14:creationId xmlns:p14="http://schemas.microsoft.com/office/powerpoint/2010/main" val="3456633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53600FB9-226C-F047-69C2-B495420511F3}"/>
            </a:ext>
          </a:extLst>
        </p:cNvPr>
        <p:cNvGrpSpPr/>
        <p:nvPr/>
      </p:nvGrpSpPr>
      <p:grpSpPr>
        <a:xfrm>
          <a:off x="0" y="0"/>
          <a:ext cx="0" cy="0"/>
          <a:chOff x="0" y="0"/>
          <a:chExt cx="0" cy="0"/>
        </a:xfrm>
      </p:grpSpPr>
      <p:sp>
        <p:nvSpPr>
          <p:cNvPr id="92" name="Google Shape;92;p17">
            <a:extLst>
              <a:ext uri="{FF2B5EF4-FFF2-40B4-BE49-F238E27FC236}">
                <a16:creationId xmlns:a16="http://schemas.microsoft.com/office/drawing/2014/main" id="{5ED4B61F-CE42-72BC-6608-4E6E03F0BAAD}"/>
              </a:ext>
            </a:extLst>
          </p:cNvPr>
          <p:cNvSpPr txBox="1">
            <a:spLocks noGrp="1"/>
          </p:cNvSpPr>
          <p:nvPr>
            <p:ph type="title"/>
          </p:nvPr>
        </p:nvSpPr>
        <p:spPr>
          <a:xfrm>
            <a:off x="311700" y="263769"/>
            <a:ext cx="8520600" cy="527539"/>
          </a:xfrm>
          <a:prstGeom prst="rect">
            <a:avLst/>
          </a:prstGeom>
          <a:noFill/>
          <a:ln>
            <a:noFill/>
          </a:ln>
        </p:spPr>
        <p:txBody>
          <a:bodyPr spcFirstLastPara="1" wrap="square" lIns="91425" tIns="91425" rIns="91425" bIns="91425" anchor="b" anchorCtr="0">
            <a:normAutofit fontScale="90000"/>
          </a:bodyPr>
          <a:lstStyle/>
          <a:p>
            <a:r>
              <a:rPr lang="uk-UA" sz="3200" noProof="0" dirty="0">
                <a:latin typeface="Open Sans" panose="020B0606030504020204" pitchFamily="34" charset="0"/>
                <a:ea typeface="Open Sans" panose="020B0606030504020204" pitchFamily="34" charset="0"/>
                <a:cs typeface="Open Sans" panose="020B0606030504020204" pitchFamily="34" charset="0"/>
              </a:rPr>
              <a:t>Критерії збору даних моделями ШІ</a:t>
            </a:r>
          </a:p>
        </p:txBody>
      </p:sp>
      <p:pic>
        <p:nvPicPr>
          <p:cNvPr id="94" name="Google Shape;94;p17">
            <a:extLst>
              <a:ext uri="{FF2B5EF4-FFF2-40B4-BE49-F238E27FC236}">
                <a16:creationId xmlns:a16="http://schemas.microsoft.com/office/drawing/2014/main" id="{57B64CD0-1E77-DD56-0689-E738688897CB}"/>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Номер слайда 1">
            <a:extLst>
              <a:ext uri="{FF2B5EF4-FFF2-40B4-BE49-F238E27FC236}">
                <a16:creationId xmlns:a16="http://schemas.microsoft.com/office/drawing/2014/main" id="{1709BF92-316E-9956-9502-BF950711ED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uk-UA" noProof="0" smtClean="0"/>
              <a:t>7</a:t>
            </a:fld>
            <a:endParaRPr lang="uk-UA" noProof="0" dirty="0"/>
          </a:p>
        </p:txBody>
      </p:sp>
      <p:graphicFrame>
        <p:nvGraphicFramePr>
          <p:cNvPr id="3" name="Table 2">
            <a:extLst>
              <a:ext uri="{FF2B5EF4-FFF2-40B4-BE49-F238E27FC236}">
                <a16:creationId xmlns:a16="http://schemas.microsoft.com/office/drawing/2014/main" id="{D7854179-2D8B-18C0-292E-B5F948BF2AA4}"/>
              </a:ext>
            </a:extLst>
          </p:cNvPr>
          <p:cNvGraphicFramePr>
            <a:graphicFrameLocks noGrp="1"/>
          </p:cNvGraphicFramePr>
          <p:nvPr>
            <p:extLst>
              <p:ext uri="{D42A27DB-BD31-4B8C-83A1-F6EECF244321}">
                <p14:modId xmlns:p14="http://schemas.microsoft.com/office/powerpoint/2010/main" val="2526797381"/>
              </p:ext>
            </p:extLst>
          </p:nvPr>
        </p:nvGraphicFramePr>
        <p:xfrm>
          <a:off x="200684" y="865910"/>
          <a:ext cx="5773836" cy="3446394"/>
        </p:xfrm>
        <a:graphic>
          <a:graphicData uri="http://schemas.openxmlformats.org/drawingml/2006/table">
            <a:tbl>
              <a:tblPr firstRow="1" firstCol="1" bandRow="1">
                <a:tableStyleId>{5C22544A-7EE6-4342-B048-85BDC9FD1C3A}</a:tableStyleId>
              </a:tblPr>
              <a:tblGrid>
                <a:gridCol w="1094716">
                  <a:extLst>
                    <a:ext uri="{9D8B030D-6E8A-4147-A177-3AD203B41FA5}">
                      <a16:colId xmlns:a16="http://schemas.microsoft.com/office/drawing/2014/main" val="2013946572"/>
                    </a:ext>
                  </a:extLst>
                </a:gridCol>
                <a:gridCol w="829296">
                  <a:extLst>
                    <a:ext uri="{9D8B030D-6E8A-4147-A177-3AD203B41FA5}">
                      <a16:colId xmlns:a16="http://schemas.microsoft.com/office/drawing/2014/main" val="2444889362"/>
                    </a:ext>
                  </a:extLst>
                </a:gridCol>
                <a:gridCol w="962006">
                  <a:extLst>
                    <a:ext uri="{9D8B030D-6E8A-4147-A177-3AD203B41FA5}">
                      <a16:colId xmlns:a16="http://schemas.microsoft.com/office/drawing/2014/main" val="974535518"/>
                    </a:ext>
                  </a:extLst>
                </a:gridCol>
                <a:gridCol w="962606">
                  <a:extLst>
                    <a:ext uri="{9D8B030D-6E8A-4147-A177-3AD203B41FA5}">
                      <a16:colId xmlns:a16="http://schemas.microsoft.com/office/drawing/2014/main" val="1475604945"/>
                    </a:ext>
                  </a:extLst>
                </a:gridCol>
                <a:gridCol w="962606">
                  <a:extLst>
                    <a:ext uri="{9D8B030D-6E8A-4147-A177-3AD203B41FA5}">
                      <a16:colId xmlns:a16="http://schemas.microsoft.com/office/drawing/2014/main" val="2793665264"/>
                    </a:ext>
                  </a:extLst>
                </a:gridCol>
                <a:gridCol w="962606">
                  <a:extLst>
                    <a:ext uri="{9D8B030D-6E8A-4147-A177-3AD203B41FA5}">
                      <a16:colId xmlns:a16="http://schemas.microsoft.com/office/drawing/2014/main" val="2762815965"/>
                    </a:ext>
                  </a:extLst>
                </a:gridCol>
              </a:tblGrid>
              <a:tr h="371439">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Критерій / Модель</a:t>
                      </a:r>
                    </a:p>
                  </a:txBody>
                  <a:tcPr marL="53404" marR="53404" marT="0" marB="0"/>
                </a:tc>
                <a:tc>
                  <a:txBody>
                    <a:bodyPr/>
                    <a:lstStyle/>
                    <a:p>
                      <a:pPr algn="ctr">
                        <a:lnSpc>
                          <a:spcPct val="115000"/>
                        </a:lnSpc>
                        <a:spcAft>
                          <a:spcPts val="1000"/>
                        </a:spcAft>
                        <a:buNone/>
                      </a:pPr>
                      <a:r>
                        <a:rPr lang="uk-UA" sz="1100" noProof="0" dirty="0" err="1">
                          <a:effectLst/>
                          <a:latin typeface="Open Sans" panose="020B0606030504020204" pitchFamily="34" charset="0"/>
                          <a:ea typeface="Open Sans" panose="020B0606030504020204" pitchFamily="34" charset="0"/>
                          <a:cs typeface="Open Sans" panose="020B0606030504020204" pitchFamily="34" charset="0"/>
                        </a:rPr>
                        <a:t>ChatGPT</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53404" marR="53404" marT="0" marB="0"/>
                </a:tc>
                <a:tc>
                  <a:txBody>
                    <a:bodyPr/>
                    <a:lstStyle/>
                    <a:p>
                      <a:pPr algn="ctr">
                        <a:lnSpc>
                          <a:spcPct val="115000"/>
                        </a:lnSpc>
                        <a:spcAft>
                          <a:spcPts val="1000"/>
                        </a:spcAft>
                        <a:buNone/>
                      </a:pPr>
                      <a:r>
                        <a:rPr lang="uk-UA" sz="1100" noProof="0" dirty="0" err="1">
                          <a:effectLst/>
                          <a:latin typeface="Open Sans" panose="020B0606030504020204" pitchFamily="34" charset="0"/>
                          <a:ea typeface="Open Sans" panose="020B0606030504020204" pitchFamily="34" charset="0"/>
                          <a:cs typeface="Open Sans" panose="020B0606030504020204" pitchFamily="34" charset="0"/>
                        </a:rPr>
                        <a:t>Claude</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53404" marR="53404" marT="0" marB="0"/>
                </a:tc>
                <a:tc>
                  <a:txBody>
                    <a:bodyPr/>
                    <a:lstStyle/>
                    <a:p>
                      <a:pPr algn="ctr">
                        <a:lnSpc>
                          <a:spcPct val="115000"/>
                        </a:lnSpc>
                        <a:spcAft>
                          <a:spcPts val="1000"/>
                        </a:spcAft>
                        <a:buNone/>
                      </a:pPr>
                      <a:r>
                        <a:rPr lang="uk-UA" sz="1100" noProof="0" dirty="0" err="1">
                          <a:effectLst/>
                          <a:latin typeface="Open Sans" panose="020B0606030504020204" pitchFamily="34" charset="0"/>
                          <a:ea typeface="Open Sans" panose="020B0606030504020204" pitchFamily="34" charset="0"/>
                          <a:cs typeface="Open Sans" panose="020B0606030504020204" pitchFamily="34" charset="0"/>
                        </a:rPr>
                        <a:t>DeepSeek</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53404" marR="53404" marT="0" marB="0"/>
                </a:tc>
                <a:tc>
                  <a:txBody>
                    <a:bodyPr/>
                    <a:lstStyle/>
                    <a:p>
                      <a:pPr algn="ctr">
                        <a:lnSpc>
                          <a:spcPct val="115000"/>
                        </a:lnSpc>
                        <a:spcAft>
                          <a:spcPts val="1000"/>
                        </a:spcAft>
                        <a:buNone/>
                      </a:pPr>
                      <a:r>
                        <a:rPr lang="uk-UA" sz="1100" noProof="0" dirty="0" err="1">
                          <a:effectLst/>
                          <a:latin typeface="Open Sans" panose="020B0606030504020204" pitchFamily="34" charset="0"/>
                          <a:ea typeface="Open Sans" panose="020B0606030504020204" pitchFamily="34" charset="0"/>
                          <a:cs typeface="Open Sans" panose="020B0606030504020204" pitchFamily="34" charset="0"/>
                        </a:rPr>
                        <a:t>Gemini</a:t>
                      </a:r>
                      <a:r>
                        <a:rPr lang="uk-UA" sz="1100" noProof="0" dirty="0">
                          <a:effectLst/>
                          <a:latin typeface="Open Sans" panose="020B0606030504020204" pitchFamily="34" charset="0"/>
                          <a:ea typeface="Open Sans" panose="020B0606030504020204" pitchFamily="34" charset="0"/>
                          <a:cs typeface="Open Sans" panose="020B0606030504020204" pitchFamily="34" charset="0"/>
                        </a:rPr>
                        <a:t> </a:t>
                      </a:r>
                      <a:r>
                        <a:rPr lang="uk-UA" sz="1100" noProof="0" dirty="0" err="1">
                          <a:effectLst/>
                          <a:latin typeface="Open Sans" panose="020B0606030504020204" pitchFamily="34" charset="0"/>
                          <a:ea typeface="Open Sans" panose="020B0606030504020204" pitchFamily="34" charset="0"/>
                          <a:cs typeface="Open Sans" panose="020B0606030504020204" pitchFamily="34" charset="0"/>
                        </a:rPr>
                        <a:t>Pro</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53404" marR="53404" marT="0" marB="0"/>
                </a:tc>
                <a:tc>
                  <a:txBody>
                    <a:bodyPr/>
                    <a:lstStyle/>
                    <a:p>
                      <a:pPr algn="ctr">
                        <a:lnSpc>
                          <a:spcPct val="115000"/>
                        </a:lnSpc>
                        <a:spcAft>
                          <a:spcPts val="1000"/>
                        </a:spcAft>
                        <a:buNone/>
                      </a:pPr>
                      <a:r>
                        <a:rPr lang="uk-UA" sz="1100" noProof="0" dirty="0" err="1">
                          <a:effectLst/>
                          <a:latin typeface="Open Sans" panose="020B0606030504020204" pitchFamily="34" charset="0"/>
                          <a:ea typeface="Open Sans" panose="020B0606030504020204" pitchFamily="34" charset="0"/>
                          <a:cs typeface="Open Sans" panose="020B0606030504020204" pitchFamily="34" charset="0"/>
                        </a:rPr>
                        <a:t>Llama</a:t>
                      </a:r>
                      <a:r>
                        <a:rPr lang="uk-UA" sz="1100" noProof="0" dirty="0">
                          <a:effectLst/>
                          <a:latin typeface="Open Sans" panose="020B0606030504020204" pitchFamily="34" charset="0"/>
                          <a:ea typeface="Open Sans" panose="020B0606030504020204" pitchFamily="34" charset="0"/>
                          <a:cs typeface="Open Sans" panose="020B0606030504020204" pitchFamily="34" charset="0"/>
                        </a:rPr>
                        <a:t> 3.1</a:t>
                      </a:r>
                    </a:p>
                  </a:txBody>
                  <a:tcPr marL="53404" marR="53404" marT="0" marB="0"/>
                </a:tc>
                <a:extLst>
                  <a:ext uri="{0D108BD9-81ED-4DB2-BD59-A6C34878D82A}">
                    <a16:rowId xmlns:a16="http://schemas.microsoft.com/office/drawing/2014/main" val="2259453750"/>
                  </a:ext>
                </a:extLst>
              </a:tr>
              <a:tr h="563203">
                <a:tc>
                  <a:txBody>
                    <a:bodyPr/>
                    <a:lstStyle/>
                    <a:p>
                      <a:pPr algn="l">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Точність результату, %</a:t>
                      </a:r>
                    </a:p>
                  </a:txBody>
                  <a:tcPr marL="53404" marR="53404" marT="0" marB="0"/>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95.58</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81.04</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40.01</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88.00</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75.00</a:t>
                      </a:r>
                    </a:p>
                  </a:txBody>
                  <a:tcPr marL="53404" marR="53404" marT="0" marB="0" anchor="ctr"/>
                </a:tc>
                <a:extLst>
                  <a:ext uri="{0D108BD9-81ED-4DB2-BD59-A6C34878D82A}">
                    <a16:rowId xmlns:a16="http://schemas.microsoft.com/office/drawing/2014/main" val="919534183"/>
                  </a:ext>
                </a:extLst>
              </a:tr>
              <a:tr h="586611">
                <a:tc>
                  <a:txBody>
                    <a:bodyPr/>
                    <a:lstStyle/>
                    <a:p>
                      <a:pPr algn="l">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Швидкість обробки, </a:t>
                      </a:r>
                      <a:r>
                        <a:rPr lang="uk-UA" sz="1100" noProof="0" dirty="0" err="1">
                          <a:effectLst/>
                          <a:latin typeface="Open Sans" panose="020B0606030504020204" pitchFamily="34" charset="0"/>
                          <a:ea typeface="Open Sans" panose="020B0606030504020204" pitchFamily="34" charset="0"/>
                          <a:cs typeface="Open Sans" panose="020B0606030504020204" pitchFamily="34" charset="0"/>
                        </a:rPr>
                        <a:t>сек</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53404" marR="53404" marT="0" marB="0"/>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20</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15</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70</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25</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35</a:t>
                      </a:r>
                    </a:p>
                  </a:txBody>
                  <a:tcPr marL="53404" marR="53404" marT="0" marB="0" anchor="ctr"/>
                </a:tc>
                <a:extLst>
                  <a:ext uri="{0D108BD9-81ED-4DB2-BD59-A6C34878D82A}">
                    <a16:rowId xmlns:a16="http://schemas.microsoft.com/office/drawing/2014/main" val="3751957770"/>
                  </a:ext>
                </a:extLst>
              </a:tr>
              <a:tr h="437565">
                <a:tc>
                  <a:txBody>
                    <a:bodyPr/>
                    <a:lstStyle/>
                    <a:p>
                      <a:pPr algn="l">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Вартість запиту, USD</a:t>
                      </a:r>
                    </a:p>
                  </a:txBody>
                  <a:tcPr marL="53404" marR="53404" marT="0" marB="0"/>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0.02</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0.30</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0.02</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0.15</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0</a:t>
                      </a:r>
                    </a:p>
                  </a:txBody>
                  <a:tcPr marL="53404" marR="53404" marT="0" marB="0" anchor="ctr"/>
                </a:tc>
                <a:extLst>
                  <a:ext uri="{0D108BD9-81ED-4DB2-BD59-A6C34878D82A}">
                    <a16:rowId xmlns:a16="http://schemas.microsoft.com/office/drawing/2014/main" val="2694780042"/>
                  </a:ext>
                </a:extLst>
              </a:tr>
              <a:tr h="371439">
                <a:tc>
                  <a:txBody>
                    <a:bodyPr/>
                    <a:lstStyle/>
                    <a:p>
                      <a:pPr algn="l">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Доступність API</a:t>
                      </a:r>
                    </a:p>
                  </a:txBody>
                  <a:tcPr marL="53404" marR="53404" marT="0" marB="0"/>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Повний доступ</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Повний доступ</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Обмежений доступ</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Повний доступ</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Базовий доступ</a:t>
                      </a:r>
                    </a:p>
                  </a:txBody>
                  <a:tcPr marL="53404" marR="53404" marT="0" marB="0" anchor="ctr"/>
                </a:tc>
                <a:extLst>
                  <a:ext uri="{0D108BD9-81ED-4DB2-BD59-A6C34878D82A}">
                    <a16:rowId xmlns:a16="http://schemas.microsoft.com/office/drawing/2014/main" val="650392326"/>
                  </a:ext>
                </a:extLst>
              </a:tr>
              <a:tr h="735656">
                <a:tc>
                  <a:txBody>
                    <a:bodyPr/>
                    <a:lstStyle/>
                    <a:p>
                      <a:pPr algn="l">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Локальне розгортання</a:t>
                      </a:r>
                    </a:p>
                  </a:txBody>
                  <a:tcPr marL="53404" marR="53404" marT="0" marB="0"/>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Не підтримується</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Не підтримується</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Підтримується через контейнери</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Не підтримується</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Повна підтримка</a:t>
                      </a:r>
                    </a:p>
                  </a:txBody>
                  <a:tcPr marL="53404" marR="53404" marT="0" marB="0" anchor="ctr"/>
                </a:tc>
                <a:extLst>
                  <a:ext uri="{0D108BD9-81ED-4DB2-BD59-A6C34878D82A}">
                    <a16:rowId xmlns:a16="http://schemas.microsoft.com/office/drawing/2014/main" val="3168649762"/>
                  </a:ext>
                </a:extLst>
              </a:tr>
              <a:tr h="371439">
                <a:tc>
                  <a:txBody>
                    <a:bodyPr/>
                    <a:lstStyle/>
                    <a:p>
                      <a:pPr algn="l">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Контекстні запити</a:t>
                      </a:r>
                    </a:p>
                  </a:txBody>
                  <a:tcPr marL="53404" marR="53404" marT="0" marB="0"/>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Відмінна (200K)</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Відмінна (200K)</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Середня (32K)</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Висока (100K)</a:t>
                      </a:r>
                    </a:p>
                  </a:txBody>
                  <a:tcPr marL="53404" marR="53404"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Середня (30K)</a:t>
                      </a:r>
                    </a:p>
                  </a:txBody>
                  <a:tcPr marL="53404" marR="53404" marT="0" marB="0" anchor="ctr"/>
                </a:tc>
                <a:extLst>
                  <a:ext uri="{0D108BD9-81ED-4DB2-BD59-A6C34878D82A}">
                    <a16:rowId xmlns:a16="http://schemas.microsoft.com/office/drawing/2014/main" val="556534727"/>
                  </a:ext>
                </a:extLst>
              </a:tr>
            </a:tbl>
          </a:graphicData>
        </a:graphic>
      </p:graphicFrame>
      <p:sp>
        <p:nvSpPr>
          <p:cNvPr id="6" name="TextBox 5">
            <a:extLst>
              <a:ext uri="{FF2B5EF4-FFF2-40B4-BE49-F238E27FC236}">
                <a16:creationId xmlns:a16="http://schemas.microsoft.com/office/drawing/2014/main" id="{A30B4283-0B76-CD56-573B-ABBB7A800850}"/>
              </a:ext>
            </a:extLst>
          </p:cNvPr>
          <p:cNvSpPr txBox="1"/>
          <p:nvPr/>
        </p:nvSpPr>
        <p:spPr>
          <a:xfrm>
            <a:off x="5974520" y="1161742"/>
            <a:ext cx="3169480" cy="3677930"/>
          </a:xfrm>
          <a:prstGeom prst="rect">
            <a:avLst/>
          </a:prstGeom>
          <a:noFill/>
        </p:spPr>
        <p:txBody>
          <a:bodyPr wrap="square">
            <a:spAutoFit/>
          </a:bodyPr>
          <a:lstStyle/>
          <a:p>
            <a:r>
              <a:rPr lang="uk-UA" sz="1200" b="1" noProof="0" dirty="0">
                <a:latin typeface="Open Sans" panose="020B0606030504020204" pitchFamily="34" charset="0"/>
                <a:ea typeface="Open Sans" panose="020B0606030504020204" pitchFamily="34" charset="0"/>
                <a:cs typeface="Open Sans" panose="020B0606030504020204" pitchFamily="34" charset="0"/>
              </a:rPr>
              <a:t>Практичний ефект</a:t>
            </a:r>
            <a:endParaRPr lang="uk-UA" sz="1200" noProof="0" dirty="0">
              <a:latin typeface="Open Sans" panose="020B0606030504020204" pitchFamily="34" charset="0"/>
              <a:ea typeface="Open Sans" panose="020B0606030504020204" pitchFamily="34" charset="0"/>
              <a:cs typeface="Open Sans" panose="020B0606030504020204" pitchFamily="34" charset="0"/>
            </a:endParaRPr>
          </a:p>
          <a:p>
            <a:r>
              <a:rPr lang="uk-UA" sz="1100" noProof="0" dirty="0" err="1">
                <a:latin typeface="Open Sans" panose="020B0606030504020204" pitchFamily="34" charset="0"/>
                <a:ea typeface="Open Sans" panose="020B0606030504020204" pitchFamily="34" charset="0"/>
                <a:cs typeface="Open Sans" panose="020B0606030504020204" pitchFamily="34" charset="0"/>
              </a:rPr>
              <a:t>ChatGPT</a:t>
            </a:r>
            <a:r>
              <a:rPr lang="uk-UA" sz="1100" noProof="0" dirty="0">
                <a:latin typeface="Open Sans" panose="020B0606030504020204" pitchFamily="34" charset="0"/>
                <a:ea typeface="Open Sans" panose="020B0606030504020204" pitchFamily="34" charset="0"/>
                <a:cs typeface="Open Sans" panose="020B0606030504020204" pitchFamily="34" charset="0"/>
              </a:rPr>
              <a:t>: 9 558 коректних записів за ~22 хв, вартість $1.34</a:t>
            </a:r>
          </a:p>
          <a:p>
            <a:r>
              <a:rPr lang="uk-UA" sz="1100" noProof="0" dirty="0" err="1">
                <a:latin typeface="Open Sans" panose="020B0606030504020204" pitchFamily="34" charset="0"/>
                <a:ea typeface="Open Sans" panose="020B0606030504020204" pitchFamily="34" charset="0"/>
                <a:cs typeface="Open Sans" panose="020B0606030504020204" pitchFamily="34" charset="0"/>
              </a:rPr>
              <a:t>Claude</a:t>
            </a:r>
            <a:r>
              <a:rPr lang="uk-UA" sz="1100" noProof="0" dirty="0">
                <a:latin typeface="Open Sans" panose="020B0606030504020204" pitchFamily="34" charset="0"/>
                <a:ea typeface="Open Sans" panose="020B0606030504020204" pitchFamily="34" charset="0"/>
                <a:cs typeface="Open Sans" panose="020B0606030504020204" pitchFamily="34" charset="0"/>
              </a:rPr>
              <a:t>: 8 104 записи за ~17 хв, вартість $20.10</a:t>
            </a:r>
          </a:p>
          <a:p>
            <a:r>
              <a:rPr lang="uk-UA" sz="1100" noProof="0" dirty="0" err="1">
                <a:latin typeface="Open Sans" panose="020B0606030504020204" pitchFamily="34" charset="0"/>
                <a:ea typeface="Open Sans" panose="020B0606030504020204" pitchFamily="34" charset="0"/>
                <a:cs typeface="Open Sans" panose="020B0606030504020204" pitchFamily="34" charset="0"/>
              </a:rPr>
              <a:t>DeepSeek</a:t>
            </a:r>
            <a:r>
              <a:rPr lang="uk-UA" sz="1100" noProof="0" dirty="0">
                <a:latin typeface="Open Sans" panose="020B0606030504020204" pitchFamily="34" charset="0"/>
                <a:ea typeface="Open Sans" panose="020B0606030504020204" pitchFamily="34" charset="0"/>
                <a:cs typeface="Open Sans" panose="020B0606030504020204" pitchFamily="34" charset="0"/>
              </a:rPr>
              <a:t>: лише 4 001 коректний запис за ~78 хв, вартість $1.34</a:t>
            </a:r>
          </a:p>
          <a:p>
            <a:r>
              <a:rPr lang="uk-UA" sz="1100" noProof="0" dirty="0" err="1">
                <a:latin typeface="Open Sans" panose="020B0606030504020204" pitchFamily="34" charset="0"/>
                <a:ea typeface="Open Sans" panose="020B0606030504020204" pitchFamily="34" charset="0"/>
                <a:cs typeface="Open Sans" panose="020B0606030504020204" pitchFamily="34" charset="0"/>
              </a:rPr>
              <a:t>Gemini</a:t>
            </a:r>
            <a:r>
              <a:rPr lang="uk-UA" sz="1100" noProof="0" dirty="0">
                <a:latin typeface="Open Sans" panose="020B0606030504020204" pitchFamily="34" charset="0"/>
                <a:ea typeface="Open Sans" panose="020B0606030504020204" pitchFamily="34" charset="0"/>
                <a:cs typeface="Open Sans" panose="020B0606030504020204" pitchFamily="34" charset="0"/>
              </a:rPr>
              <a:t> </a:t>
            </a:r>
            <a:r>
              <a:rPr lang="uk-UA" sz="1100" noProof="0" dirty="0" err="1">
                <a:latin typeface="Open Sans" panose="020B0606030504020204" pitchFamily="34" charset="0"/>
                <a:ea typeface="Open Sans" panose="020B0606030504020204" pitchFamily="34" charset="0"/>
                <a:cs typeface="Open Sans" panose="020B0606030504020204" pitchFamily="34" charset="0"/>
              </a:rPr>
              <a:t>Pro</a:t>
            </a:r>
            <a:r>
              <a:rPr lang="uk-UA" sz="1100" noProof="0" dirty="0">
                <a:latin typeface="Open Sans" panose="020B0606030504020204" pitchFamily="34" charset="0"/>
                <a:ea typeface="Open Sans" panose="020B0606030504020204" pitchFamily="34" charset="0"/>
                <a:cs typeface="Open Sans" panose="020B0606030504020204" pitchFamily="34" charset="0"/>
              </a:rPr>
              <a:t>: 8 800 записів за ~28 хв, вартість $10.05</a:t>
            </a:r>
          </a:p>
          <a:p>
            <a:r>
              <a:rPr lang="uk-UA" sz="1100" noProof="0" dirty="0" err="1">
                <a:latin typeface="Open Sans" panose="020B0606030504020204" pitchFamily="34" charset="0"/>
                <a:ea typeface="Open Sans" panose="020B0606030504020204" pitchFamily="34" charset="0"/>
                <a:cs typeface="Open Sans" panose="020B0606030504020204" pitchFamily="34" charset="0"/>
              </a:rPr>
              <a:t>Llama</a:t>
            </a:r>
            <a:r>
              <a:rPr lang="uk-UA" sz="1100" noProof="0" dirty="0">
                <a:latin typeface="Open Sans" panose="020B0606030504020204" pitchFamily="34" charset="0"/>
                <a:ea typeface="Open Sans" panose="020B0606030504020204" pitchFamily="34" charset="0"/>
                <a:cs typeface="Open Sans" panose="020B0606030504020204" pitchFamily="34" charset="0"/>
              </a:rPr>
              <a:t> 3.1: 7 500 записів за ~39 хв, вартість $0</a:t>
            </a:r>
          </a:p>
          <a:p>
            <a:endParaRPr lang="uk-UA" sz="1100" noProof="0" dirty="0">
              <a:latin typeface="Open Sans" panose="020B0606030504020204" pitchFamily="34" charset="0"/>
              <a:ea typeface="Open Sans" panose="020B0606030504020204" pitchFamily="34" charset="0"/>
              <a:cs typeface="Open Sans" panose="020B0606030504020204" pitchFamily="34" charset="0"/>
            </a:endParaRPr>
          </a:p>
          <a:p>
            <a:r>
              <a:rPr lang="uk-UA" sz="1200" b="1" noProof="0" dirty="0">
                <a:latin typeface="Open Sans" panose="020B0606030504020204" pitchFamily="34" charset="0"/>
                <a:ea typeface="Open Sans" panose="020B0606030504020204" pitchFamily="34" charset="0"/>
                <a:cs typeface="Open Sans" panose="020B0606030504020204" pitchFamily="34" charset="0"/>
              </a:rPr>
              <a:t>Висновок:</a:t>
            </a:r>
            <a:r>
              <a:rPr lang="uk-UA" sz="1200" noProof="0" dirty="0">
                <a:latin typeface="Open Sans" panose="020B0606030504020204" pitchFamily="34" charset="0"/>
                <a:ea typeface="Open Sans" panose="020B0606030504020204" pitchFamily="34" charset="0"/>
                <a:cs typeface="Open Sans" panose="020B0606030504020204" pitchFamily="34" charset="0"/>
              </a:rPr>
              <a:t> </a:t>
            </a:r>
          </a:p>
          <a:p>
            <a:r>
              <a:rPr lang="uk-UA" sz="1100" noProof="0" dirty="0" err="1">
                <a:latin typeface="Open Sans" panose="020B0606030504020204" pitchFamily="34" charset="0"/>
                <a:ea typeface="Open Sans" panose="020B0606030504020204" pitchFamily="34" charset="0"/>
                <a:cs typeface="Open Sans" panose="020B0606030504020204" pitchFamily="34" charset="0"/>
              </a:rPr>
              <a:t>ChatGPT</a:t>
            </a:r>
            <a:r>
              <a:rPr lang="uk-UA" sz="1100" noProof="0" dirty="0">
                <a:latin typeface="Open Sans" panose="020B0606030504020204" pitchFamily="34" charset="0"/>
                <a:ea typeface="Open Sans" panose="020B0606030504020204" pitchFamily="34" charset="0"/>
                <a:cs typeface="Open Sans" panose="020B0606030504020204" pitchFamily="34" charset="0"/>
              </a:rPr>
              <a:t> забезпечує найкраще співвідношення точності та вартості ($1.34 за 10 000 записів). </a:t>
            </a:r>
            <a:r>
              <a:rPr lang="uk-UA" sz="1100" noProof="0" dirty="0" err="1">
                <a:latin typeface="Open Sans" panose="020B0606030504020204" pitchFamily="34" charset="0"/>
                <a:ea typeface="Open Sans" panose="020B0606030504020204" pitchFamily="34" charset="0"/>
                <a:cs typeface="Open Sans" panose="020B0606030504020204" pitchFamily="34" charset="0"/>
              </a:rPr>
              <a:t>Claude</a:t>
            </a:r>
            <a:r>
              <a:rPr lang="uk-UA" sz="1100" noProof="0" dirty="0">
                <a:latin typeface="Open Sans" panose="020B0606030504020204" pitchFamily="34" charset="0"/>
                <a:ea typeface="Open Sans" panose="020B0606030504020204" pitchFamily="34" charset="0"/>
                <a:cs typeface="Open Sans" panose="020B0606030504020204" pitchFamily="34" charset="0"/>
              </a:rPr>
              <a:t> — найшвидша обробка, але у 15 разів дорожча за </a:t>
            </a:r>
            <a:r>
              <a:rPr lang="uk-UA" sz="1100" noProof="0" dirty="0" err="1">
                <a:latin typeface="Open Sans" panose="020B0606030504020204" pitchFamily="34" charset="0"/>
                <a:ea typeface="Open Sans" panose="020B0606030504020204" pitchFamily="34" charset="0"/>
                <a:cs typeface="Open Sans" panose="020B0606030504020204" pitchFamily="34" charset="0"/>
              </a:rPr>
              <a:t>ChatGPT</a:t>
            </a:r>
            <a:r>
              <a:rPr lang="uk-UA" sz="1100" noProof="0" dirty="0">
                <a:latin typeface="Open Sans" panose="020B0606030504020204" pitchFamily="34" charset="0"/>
                <a:ea typeface="Open Sans" panose="020B0606030504020204" pitchFamily="34" charset="0"/>
                <a:cs typeface="Open Sans" panose="020B0606030504020204" pitchFamily="34" charset="0"/>
              </a:rPr>
              <a:t>. </a:t>
            </a:r>
            <a:r>
              <a:rPr lang="uk-UA" sz="1100" noProof="0" dirty="0" err="1">
                <a:latin typeface="Open Sans" panose="020B0606030504020204" pitchFamily="34" charset="0"/>
                <a:ea typeface="Open Sans" panose="020B0606030504020204" pitchFamily="34" charset="0"/>
                <a:cs typeface="Open Sans" panose="020B0606030504020204" pitchFamily="34" charset="0"/>
              </a:rPr>
              <a:t>DeepSeek</a:t>
            </a:r>
            <a:r>
              <a:rPr lang="uk-UA" sz="1100" noProof="0" dirty="0">
                <a:latin typeface="Open Sans" panose="020B0606030504020204" pitchFamily="34" charset="0"/>
                <a:ea typeface="Open Sans" panose="020B0606030504020204" pitchFamily="34" charset="0"/>
                <a:cs typeface="Open Sans" panose="020B0606030504020204" pitchFamily="34" charset="0"/>
              </a:rPr>
              <a:t> — однаково дешева з </a:t>
            </a:r>
            <a:r>
              <a:rPr lang="uk-UA" sz="1100" noProof="0" dirty="0" err="1">
                <a:latin typeface="Open Sans" panose="020B0606030504020204" pitchFamily="34" charset="0"/>
                <a:ea typeface="Open Sans" panose="020B0606030504020204" pitchFamily="34" charset="0"/>
                <a:cs typeface="Open Sans" panose="020B0606030504020204" pitchFamily="34" charset="0"/>
              </a:rPr>
              <a:t>ChatGPT</a:t>
            </a:r>
            <a:r>
              <a:rPr lang="uk-UA" sz="1100" noProof="0" dirty="0">
                <a:latin typeface="Open Sans" panose="020B0606030504020204" pitchFamily="34" charset="0"/>
                <a:ea typeface="Open Sans" panose="020B0606030504020204" pitchFamily="34" charset="0"/>
                <a:cs typeface="Open Sans" panose="020B0606030504020204" pitchFamily="34" charset="0"/>
              </a:rPr>
              <a:t>, але втрачає майже 6 000 записів з 10 000. </a:t>
            </a:r>
            <a:r>
              <a:rPr lang="uk-UA" sz="1100" noProof="0" dirty="0" err="1">
                <a:latin typeface="Open Sans" panose="020B0606030504020204" pitchFamily="34" charset="0"/>
                <a:ea typeface="Open Sans" panose="020B0606030504020204" pitchFamily="34" charset="0"/>
                <a:cs typeface="Open Sans" panose="020B0606030504020204" pitchFamily="34" charset="0"/>
              </a:rPr>
              <a:t>Llama</a:t>
            </a:r>
            <a:r>
              <a:rPr lang="uk-UA" sz="1100" noProof="0" dirty="0">
                <a:latin typeface="Open Sans" panose="020B0606030504020204" pitchFamily="34" charset="0"/>
                <a:ea typeface="Open Sans" panose="020B0606030504020204" pitchFamily="34" charset="0"/>
                <a:cs typeface="Open Sans" panose="020B0606030504020204" pitchFamily="34" charset="0"/>
              </a:rPr>
              <a:t> 3.1 — безкоштовна, але потребує власної інфраструктури.</a:t>
            </a:r>
          </a:p>
        </p:txBody>
      </p:sp>
    </p:spTree>
    <p:extLst>
      <p:ext uri="{BB962C8B-B14F-4D97-AF65-F5344CB8AC3E}">
        <p14:creationId xmlns:p14="http://schemas.microsoft.com/office/powerpoint/2010/main" val="1187165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56F7E1E6-C060-1B96-6C9B-0943C3C6AA62}"/>
            </a:ext>
          </a:extLst>
        </p:cNvPr>
        <p:cNvGrpSpPr/>
        <p:nvPr/>
      </p:nvGrpSpPr>
      <p:grpSpPr>
        <a:xfrm>
          <a:off x="0" y="0"/>
          <a:ext cx="0" cy="0"/>
          <a:chOff x="0" y="0"/>
          <a:chExt cx="0" cy="0"/>
        </a:xfrm>
      </p:grpSpPr>
      <p:sp>
        <p:nvSpPr>
          <p:cNvPr id="92" name="Google Shape;92;p17">
            <a:extLst>
              <a:ext uri="{FF2B5EF4-FFF2-40B4-BE49-F238E27FC236}">
                <a16:creationId xmlns:a16="http://schemas.microsoft.com/office/drawing/2014/main" id="{262DE4D7-3E3F-6B32-26D9-7BD6573EBF0B}"/>
              </a:ext>
            </a:extLst>
          </p:cNvPr>
          <p:cNvSpPr txBox="1">
            <a:spLocks noGrp="1"/>
          </p:cNvSpPr>
          <p:nvPr>
            <p:ph type="title"/>
          </p:nvPr>
        </p:nvSpPr>
        <p:spPr>
          <a:xfrm>
            <a:off x="311700" y="263769"/>
            <a:ext cx="8520600" cy="865376"/>
          </a:xfrm>
          <a:prstGeom prst="rect">
            <a:avLst/>
          </a:prstGeom>
          <a:noFill/>
          <a:ln>
            <a:noFill/>
          </a:ln>
        </p:spPr>
        <p:txBody>
          <a:bodyPr spcFirstLastPara="1" wrap="square" lIns="91425" tIns="91425" rIns="91425" bIns="91425" anchor="b" anchorCtr="0">
            <a:normAutofit fontScale="90000"/>
          </a:bodyPr>
          <a:lstStyle/>
          <a:p>
            <a:r>
              <a:rPr lang="uk-UA" sz="3200" dirty="0">
                <a:latin typeface="Open Sans" panose="020B0606030504020204" pitchFamily="34" charset="0"/>
                <a:ea typeface="Open Sans" panose="020B0606030504020204" pitchFamily="34" charset="0"/>
                <a:cs typeface="Open Sans" panose="020B0606030504020204" pitchFamily="34" charset="0"/>
              </a:rPr>
              <a:t>Порівняльна характеристика</a:t>
            </a:r>
            <a:r>
              <a:rPr lang="en-US" sz="3200" dirty="0">
                <a:latin typeface="Open Sans" panose="020B0606030504020204" pitchFamily="34" charset="0"/>
                <a:ea typeface="Open Sans" panose="020B0606030504020204" pitchFamily="34" charset="0"/>
                <a:cs typeface="Open Sans" panose="020B0606030504020204" pitchFamily="34" charset="0"/>
              </a:rPr>
              <a:t> </a:t>
            </a:r>
            <a:r>
              <a:rPr lang="uk-UA" sz="3200" dirty="0">
                <a:latin typeface="Open Sans" panose="020B0606030504020204" pitchFamily="34" charset="0"/>
                <a:ea typeface="Open Sans" panose="020B0606030504020204" pitchFamily="34" charset="0"/>
                <a:cs typeface="Open Sans" panose="020B0606030504020204" pitchFamily="34" charset="0"/>
              </a:rPr>
              <a:t>критеріїв моделей ШІ</a:t>
            </a:r>
            <a:endParaRPr lang="uk-UA" sz="3200" noProof="0" dirty="0">
              <a:latin typeface="Open Sans" panose="020B0606030504020204" pitchFamily="34" charset="0"/>
              <a:ea typeface="Open Sans" panose="020B0606030504020204" pitchFamily="34" charset="0"/>
              <a:cs typeface="Open Sans" panose="020B0606030504020204" pitchFamily="34" charset="0"/>
            </a:endParaRPr>
          </a:p>
        </p:txBody>
      </p:sp>
      <p:pic>
        <p:nvPicPr>
          <p:cNvPr id="94" name="Google Shape;94;p17">
            <a:extLst>
              <a:ext uri="{FF2B5EF4-FFF2-40B4-BE49-F238E27FC236}">
                <a16:creationId xmlns:a16="http://schemas.microsoft.com/office/drawing/2014/main" id="{25CEB17E-A8EE-16D7-2605-EE4C528E9FAF}"/>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Номер слайда 1">
            <a:extLst>
              <a:ext uri="{FF2B5EF4-FFF2-40B4-BE49-F238E27FC236}">
                <a16:creationId xmlns:a16="http://schemas.microsoft.com/office/drawing/2014/main" id="{2C7775CA-784A-ACD5-C76C-47725214F68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uk-UA" noProof="0" smtClean="0"/>
              <a:t>8</a:t>
            </a:fld>
            <a:endParaRPr lang="uk-UA" noProof="0" dirty="0"/>
          </a:p>
        </p:txBody>
      </p:sp>
      <p:graphicFrame>
        <p:nvGraphicFramePr>
          <p:cNvPr id="4" name="Table 3">
            <a:extLst>
              <a:ext uri="{FF2B5EF4-FFF2-40B4-BE49-F238E27FC236}">
                <a16:creationId xmlns:a16="http://schemas.microsoft.com/office/drawing/2014/main" id="{E9C30050-27A0-E65B-F466-D96320F8FF28}"/>
              </a:ext>
            </a:extLst>
          </p:cNvPr>
          <p:cNvGraphicFramePr>
            <a:graphicFrameLocks noGrp="1"/>
          </p:cNvGraphicFramePr>
          <p:nvPr>
            <p:extLst>
              <p:ext uri="{D42A27DB-BD31-4B8C-83A1-F6EECF244321}">
                <p14:modId xmlns:p14="http://schemas.microsoft.com/office/powerpoint/2010/main" val="835552337"/>
              </p:ext>
            </p:extLst>
          </p:nvPr>
        </p:nvGraphicFramePr>
        <p:xfrm>
          <a:off x="175212" y="1224399"/>
          <a:ext cx="6010843" cy="2840230"/>
        </p:xfrm>
        <a:graphic>
          <a:graphicData uri="http://schemas.openxmlformats.org/drawingml/2006/table">
            <a:tbl>
              <a:tblPr firstRow="1" firstCol="1" bandRow="1">
                <a:tableStyleId>{5C22544A-7EE6-4342-B048-85BDC9FD1C3A}</a:tableStyleId>
              </a:tblPr>
              <a:tblGrid>
                <a:gridCol w="1175806">
                  <a:extLst>
                    <a:ext uri="{9D8B030D-6E8A-4147-A177-3AD203B41FA5}">
                      <a16:colId xmlns:a16="http://schemas.microsoft.com/office/drawing/2014/main" val="1490405515"/>
                    </a:ext>
                  </a:extLst>
                </a:gridCol>
                <a:gridCol w="798608">
                  <a:extLst>
                    <a:ext uri="{9D8B030D-6E8A-4147-A177-3AD203B41FA5}">
                      <a16:colId xmlns:a16="http://schemas.microsoft.com/office/drawing/2014/main" val="2833790972"/>
                    </a:ext>
                  </a:extLst>
                </a:gridCol>
                <a:gridCol w="728051">
                  <a:extLst>
                    <a:ext uri="{9D8B030D-6E8A-4147-A177-3AD203B41FA5}">
                      <a16:colId xmlns:a16="http://schemas.microsoft.com/office/drawing/2014/main" val="781086498"/>
                    </a:ext>
                  </a:extLst>
                </a:gridCol>
                <a:gridCol w="963341">
                  <a:extLst>
                    <a:ext uri="{9D8B030D-6E8A-4147-A177-3AD203B41FA5}">
                      <a16:colId xmlns:a16="http://schemas.microsoft.com/office/drawing/2014/main" val="4171040045"/>
                    </a:ext>
                  </a:extLst>
                </a:gridCol>
                <a:gridCol w="1257455">
                  <a:extLst>
                    <a:ext uri="{9D8B030D-6E8A-4147-A177-3AD203B41FA5}">
                      <a16:colId xmlns:a16="http://schemas.microsoft.com/office/drawing/2014/main" val="793653820"/>
                    </a:ext>
                  </a:extLst>
                </a:gridCol>
                <a:gridCol w="1087582">
                  <a:extLst>
                    <a:ext uri="{9D8B030D-6E8A-4147-A177-3AD203B41FA5}">
                      <a16:colId xmlns:a16="http://schemas.microsoft.com/office/drawing/2014/main" val="856394798"/>
                    </a:ext>
                  </a:extLst>
                </a:gridCol>
              </a:tblGrid>
              <a:tr h="0">
                <a:tc>
                  <a:txBody>
                    <a:bodyPr/>
                    <a:lstStyle/>
                    <a:p>
                      <a:pPr algn="ctr">
                        <a:lnSpc>
                          <a:spcPct val="115000"/>
                        </a:lnSpc>
                        <a:spcAft>
                          <a:spcPts val="1000"/>
                        </a:spcAft>
                        <a:buNone/>
                      </a:pP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15000"/>
                        </a:lnSpc>
                        <a:spcAft>
                          <a:spcPts val="1000"/>
                        </a:spcAft>
                        <a:buNone/>
                      </a:pPr>
                      <a:r>
                        <a:rPr lang="uk-UA" sz="1100" noProof="0" dirty="0" err="1">
                          <a:effectLst/>
                          <a:latin typeface="Open Sans" panose="020B0606030504020204" pitchFamily="34" charset="0"/>
                          <a:ea typeface="Open Sans" panose="020B0606030504020204" pitchFamily="34" charset="0"/>
                          <a:cs typeface="Open Sans" panose="020B0606030504020204" pitchFamily="34" charset="0"/>
                        </a:rPr>
                        <a:t>ChatGPT</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15000"/>
                        </a:lnSpc>
                        <a:spcAft>
                          <a:spcPts val="1000"/>
                        </a:spcAft>
                        <a:buNone/>
                      </a:pPr>
                      <a:r>
                        <a:rPr lang="uk-UA" sz="1100" noProof="0" dirty="0" err="1">
                          <a:effectLst/>
                          <a:latin typeface="Open Sans" panose="020B0606030504020204" pitchFamily="34" charset="0"/>
                          <a:ea typeface="Open Sans" panose="020B0606030504020204" pitchFamily="34" charset="0"/>
                          <a:cs typeface="Open Sans" panose="020B0606030504020204" pitchFamily="34" charset="0"/>
                        </a:rPr>
                        <a:t>Claude</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15000"/>
                        </a:lnSpc>
                        <a:spcAft>
                          <a:spcPts val="1000"/>
                        </a:spcAft>
                        <a:buNone/>
                      </a:pPr>
                      <a:r>
                        <a:rPr lang="uk-UA" sz="1100" noProof="0" dirty="0" err="1">
                          <a:effectLst/>
                          <a:latin typeface="Open Sans" panose="020B0606030504020204" pitchFamily="34" charset="0"/>
                          <a:ea typeface="Open Sans" panose="020B0606030504020204" pitchFamily="34" charset="0"/>
                          <a:cs typeface="Open Sans" panose="020B0606030504020204" pitchFamily="34" charset="0"/>
                        </a:rPr>
                        <a:t>DeepSeek</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15000"/>
                        </a:lnSpc>
                        <a:spcAft>
                          <a:spcPts val="1000"/>
                        </a:spcAft>
                        <a:buNone/>
                      </a:pPr>
                      <a:r>
                        <a:rPr lang="uk-UA" sz="1100" noProof="0" dirty="0" err="1">
                          <a:effectLst/>
                          <a:latin typeface="Open Sans" panose="020B0606030504020204" pitchFamily="34" charset="0"/>
                          <a:ea typeface="Open Sans" panose="020B0606030504020204" pitchFamily="34" charset="0"/>
                          <a:cs typeface="Open Sans" panose="020B0606030504020204" pitchFamily="34" charset="0"/>
                        </a:rPr>
                        <a:t>Gemini</a:t>
                      </a:r>
                      <a:r>
                        <a:rPr lang="uk-UA" sz="1100" noProof="0" dirty="0">
                          <a:effectLst/>
                          <a:latin typeface="Open Sans" panose="020B0606030504020204" pitchFamily="34" charset="0"/>
                          <a:ea typeface="Open Sans" panose="020B0606030504020204" pitchFamily="34" charset="0"/>
                          <a:cs typeface="Open Sans" panose="020B0606030504020204" pitchFamily="34" charset="0"/>
                        </a:rPr>
                        <a:t> </a:t>
                      </a:r>
                      <a:r>
                        <a:rPr lang="uk-UA" sz="1100" noProof="0" dirty="0" err="1">
                          <a:effectLst/>
                          <a:latin typeface="Open Sans" panose="020B0606030504020204" pitchFamily="34" charset="0"/>
                          <a:ea typeface="Open Sans" panose="020B0606030504020204" pitchFamily="34" charset="0"/>
                          <a:cs typeface="Open Sans" panose="020B0606030504020204" pitchFamily="34" charset="0"/>
                        </a:rPr>
                        <a:t>Pro</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15000"/>
                        </a:lnSpc>
                        <a:spcAft>
                          <a:spcPts val="1000"/>
                        </a:spcAft>
                        <a:buNone/>
                      </a:pPr>
                      <a:r>
                        <a:rPr lang="uk-UA" sz="1100" noProof="0" dirty="0" err="1">
                          <a:effectLst/>
                          <a:latin typeface="Open Sans" panose="020B0606030504020204" pitchFamily="34" charset="0"/>
                          <a:ea typeface="Open Sans" panose="020B0606030504020204" pitchFamily="34" charset="0"/>
                          <a:cs typeface="Open Sans" panose="020B0606030504020204" pitchFamily="34" charset="0"/>
                        </a:rPr>
                        <a:t>Llama</a:t>
                      </a:r>
                      <a:r>
                        <a:rPr lang="uk-UA" sz="1100" noProof="0" dirty="0">
                          <a:effectLst/>
                          <a:latin typeface="Open Sans" panose="020B0606030504020204" pitchFamily="34" charset="0"/>
                          <a:ea typeface="Open Sans" panose="020B0606030504020204" pitchFamily="34" charset="0"/>
                          <a:cs typeface="Open Sans" panose="020B0606030504020204" pitchFamily="34" charset="0"/>
                        </a:rPr>
                        <a:t> 3.1</a:t>
                      </a:r>
                    </a:p>
                  </a:txBody>
                  <a:tcPr marL="68580" marR="68580" marT="0" marB="0"/>
                </a:tc>
                <a:extLst>
                  <a:ext uri="{0D108BD9-81ED-4DB2-BD59-A6C34878D82A}">
                    <a16:rowId xmlns:a16="http://schemas.microsoft.com/office/drawing/2014/main" val="2181195971"/>
                  </a:ext>
                </a:extLst>
              </a:tr>
              <a:tr h="0">
                <a:tc>
                  <a:txBody>
                    <a:bodyPr/>
                    <a:lstStyle/>
                    <a:p>
                      <a:pPr algn="l">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Доступність API</a:t>
                      </a:r>
                    </a:p>
                  </a:txBody>
                  <a:tcPr marL="68580" marR="68580" marT="0" marB="0"/>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5</a:t>
                      </a:r>
                    </a:p>
                  </a:txBody>
                  <a:tcPr marL="68580" marR="68580"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5</a:t>
                      </a:r>
                    </a:p>
                  </a:txBody>
                  <a:tcPr marL="68580" marR="68580"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2</a:t>
                      </a:r>
                    </a:p>
                  </a:txBody>
                  <a:tcPr marL="68580" marR="68580"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5</a:t>
                      </a:r>
                    </a:p>
                  </a:txBody>
                  <a:tcPr marL="68580" marR="68580"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3</a:t>
                      </a:r>
                    </a:p>
                  </a:txBody>
                  <a:tcPr marL="68580" marR="68580" marT="0" marB="0" anchor="ctr"/>
                </a:tc>
                <a:extLst>
                  <a:ext uri="{0D108BD9-81ED-4DB2-BD59-A6C34878D82A}">
                    <a16:rowId xmlns:a16="http://schemas.microsoft.com/office/drawing/2014/main" val="4291097633"/>
                  </a:ext>
                </a:extLst>
              </a:tr>
              <a:tr h="0">
                <a:tc>
                  <a:txBody>
                    <a:bodyPr/>
                    <a:lstStyle/>
                    <a:p>
                      <a:pPr algn="l">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Локальне розгортання</a:t>
                      </a:r>
                    </a:p>
                  </a:txBody>
                  <a:tcPr marL="68580" marR="68580" marT="0" marB="0"/>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1</a:t>
                      </a:r>
                    </a:p>
                  </a:txBody>
                  <a:tcPr marL="68580" marR="68580"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1</a:t>
                      </a:r>
                    </a:p>
                  </a:txBody>
                  <a:tcPr marL="68580" marR="68580"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4</a:t>
                      </a:r>
                    </a:p>
                  </a:txBody>
                  <a:tcPr marL="68580" marR="68580"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1</a:t>
                      </a:r>
                    </a:p>
                  </a:txBody>
                  <a:tcPr marL="68580" marR="68580"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5</a:t>
                      </a:r>
                    </a:p>
                  </a:txBody>
                  <a:tcPr marL="68580" marR="68580" marT="0" marB="0" anchor="ctr"/>
                </a:tc>
                <a:extLst>
                  <a:ext uri="{0D108BD9-81ED-4DB2-BD59-A6C34878D82A}">
                    <a16:rowId xmlns:a16="http://schemas.microsoft.com/office/drawing/2014/main" val="3484687604"/>
                  </a:ext>
                </a:extLst>
              </a:tr>
              <a:tr h="44450">
                <a:tc>
                  <a:txBody>
                    <a:bodyPr/>
                    <a:lstStyle/>
                    <a:p>
                      <a:pPr algn="l">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Контекстні запити</a:t>
                      </a:r>
                    </a:p>
                  </a:txBody>
                  <a:tcPr marL="68580" marR="68580" marT="0" marB="0"/>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5</a:t>
                      </a:r>
                    </a:p>
                  </a:txBody>
                  <a:tcPr marL="68580" marR="68580"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5</a:t>
                      </a:r>
                    </a:p>
                  </a:txBody>
                  <a:tcPr marL="68580" marR="68580"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3</a:t>
                      </a:r>
                    </a:p>
                  </a:txBody>
                  <a:tcPr marL="68580" marR="68580"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4</a:t>
                      </a:r>
                    </a:p>
                  </a:txBody>
                  <a:tcPr marL="68580" marR="68580" marT="0" marB="0" anchor="ctr"/>
                </a:tc>
                <a:tc>
                  <a:txBody>
                    <a:bodyPr/>
                    <a:lstStyle/>
                    <a:p>
                      <a:pPr algn="ctr">
                        <a:lnSpc>
                          <a:spcPct val="115000"/>
                        </a:lnSpc>
                        <a:spcAft>
                          <a:spcPts val="1000"/>
                        </a:spcAft>
                        <a:buNone/>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5</a:t>
                      </a:r>
                    </a:p>
                  </a:txBody>
                  <a:tcPr marL="68580" marR="68580" marT="0" marB="0" anchor="ctr"/>
                </a:tc>
                <a:extLst>
                  <a:ext uri="{0D108BD9-81ED-4DB2-BD59-A6C34878D82A}">
                    <a16:rowId xmlns:a16="http://schemas.microsoft.com/office/drawing/2014/main" val="328801567"/>
                  </a:ext>
                </a:extLst>
              </a:tr>
              <a:tr h="0">
                <a:tc>
                  <a:txBody>
                    <a:bodyPr/>
                    <a:lstStyle/>
                    <a:p>
                      <a:pPr algn="l">
                        <a:buNone/>
                      </a:pPr>
                      <a:r>
                        <a:rPr lang="uk-UA" sz="1100" noProof="0" dirty="0">
                          <a:latin typeface="Open Sans" panose="020B0606030504020204" pitchFamily="34" charset="0"/>
                          <a:ea typeface="Open Sans" panose="020B0606030504020204" pitchFamily="34" charset="0"/>
                          <a:cs typeface="Open Sans" panose="020B0606030504020204" pitchFamily="34" charset="0"/>
                        </a:rPr>
                        <a:t>Точність результату</a:t>
                      </a:r>
                    </a:p>
                  </a:txBody>
                  <a:tcPr anchor="ctr"/>
                </a:tc>
                <a:tc>
                  <a:txBody>
                    <a:bodyPr/>
                    <a:lstStyle/>
                    <a:p>
                      <a:pPr algn="ctr">
                        <a:buNone/>
                      </a:pPr>
                      <a:r>
                        <a:rPr lang="uk-UA" sz="1100" b="0" noProof="0" dirty="0">
                          <a:latin typeface="Open Sans" panose="020B0606030504020204" pitchFamily="34" charset="0"/>
                          <a:ea typeface="Open Sans" panose="020B0606030504020204" pitchFamily="34" charset="0"/>
                          <a:cs typeface="Open Sans" panose="020B0606030504020204" pitchFamily="34" charset="0"/>
                        </a:rPr>
                        <a:t>5</a:t>
                      </a:r>
                    </a:p>
                  </a:txBody>
                  <a:tcPr anchor="ctr"/>
                </a:tc>
                <a:tc>
                  <a:txBody>
                    <a:bodyPr/>
                    <a:lstStyle/>
                    <a:p>
                      <a:pPr algn="ctr">
                        <a:buNone/>
                      </a:pPr>
                      <a:r>
                        <a:rPr lang="uk-UA" sz="1100" b="0" noProof="0" dirty="0">
                          <a:latin typeface="Open Sans" panose="020B0606030504020204" pitchFamily="34" charset="0"/>
                          <a:ea typeface="Open Sans" panose="020B0606030504020204" pitchFamily="34" charset="0"/>
                          <a:cs typeface="Open Sans" panose="020B0606030504020204" pitchFamily="34" charset="0"/>
                        </a:rPr>
                        <a:t>4</a:t>
                      </a:r>
                    </a:p>
                  </a:txBody>
                  <a:tcPr anchor="ctr"/>
                </a:tc>
                <a:tc>
                  <a:txBody>
                    <a:bodyPr/>
                    <a:lstStyle/>
                    <a:p>
                      <a:pPr algn="ctr">
                        <a:buNone/>
                      </a:pPr>
                      <a:r>
                        <a:rPr lang="uk-UA" sz="1100" b="0" noProof="0" dirty="0">
                          <a:latin typeface="Open Sans" panose="020B0606030504020204" pitchFamily="34" charset="0"/>
                          <a:ea typeface="Open Sans" panose="020B0606030504020204" pitchFamily="34" charset="0"/>
                          <a:cs typeface="Open Sans" panose="020B0606030504020204" pitchFamily="34" charset="0"/>
                        </a:rPr>
                        <a:t>2</a:t>
                      </a:r>
                    </a:p>
                  </a:txBody>
                  <a:tcPr anchor="ctr"/>
                </a:tc>
                <a:tc>
                  <a:txBody>
                    <a:bodyPr/>
                    <a:lstStyle/>
                    <a:p>
                      <a:pPr algn="ctr">
                        <a:buNone/>
                      </a:pPr>
                      <a:r>
                        <a:rPr lang="uk-UA" sz="1100" b="0" noProof="0" dirty="0">
                          <a:latin typeface="Open Sans" panose="020B0606030504020204" pitchFamily="34" charset="0"/>
                          <a:ea typeface="Open Sans" panose="020B0606030504020204" pitchFamily="34" charset="0"/>
                          <a:cs typeface="Open Sans" panose="020B0606030504020204" pitchFamily="34" charset="0"/>
                        </a:rPr>
                        <a:t>4</a:t>
                      </a:r>
                    </a:p>
                  </a:txBody>
                  <a:tcPr anchor="ctr"/>
                </a:tc>
                <a:tc>
                  <a:txBody>
                    <a:bodyPr/>
                    <a:lstStyle/>
                    <a:p>
                      <a:pPr algn="ctr">
                        <a:buNone/>
                      </a:pPr>
                      <a:r>
                        <a:rPr lang="uk-UA" sz="1100" b="0" noProof="0" dirty="0">
                          <a:latin typeface="Open Sans" panose="020B0606030504020204" pitchFamily="34" charset="0"/>
                          <a:ea typeface="Open Sans" panose="020B0606030504020204" pitchFamily="34" charset="0"/>
                          <a:cs typeface="Open Sans" panose="020B0606030504020204" pitchFamily="34" charset="0"/>
                        </a:rPr>
                        <a:t>4</a:t>
                      </a:r>
                    </a:p>
                  </a:txBody>
                  <a:tcPr anchor="ctr"/>
                </a:tc>
                <a:extLst>
                  <a:ext uri="{0D108BD9-81ED-4DB2-BD59-A6C34878D82A}">
                    <a16:rowId xmlns:a16="http://schemas.microsoft.com/office/drawing/2014/main" val="3474337164"/>
                  </a:ext>
                </a:extLst>
              </a:tr>
              <a:tr h="0">
                <a:tc>
                  <a:txBody>
                    <a:bodyPr/>
                    <a:lstStyle/>
                    <a:p>
                      <a:pPr algn="l">
                        <a:buNone/>
                      </a:pPr>
                      <a:r>
                        <a:rPr lang="uk-UA" sz="1100" noProof="0" dirty="0">
                          <a:latin typeface="Open Sans" panose="020B0606030504020204" pitchFamily="34" charset="0"/>
                          <a:ea typeface="Open Sans" panose="020B0606030504020204" pitchFamily="34" charset="0"/>
                          <a:cs typeface="Open Sans" panose="020B0606030504020204" pitchFamily="34" charset="0"/>
                        </a:rPr>
                        <a:t>Швидкість обробки</a:t>
                      </a:r>
                    </a:p>
                  </a:txBody>
                  <a:tcPr anchor="ctr"/>
                </a:tc>
                <a:tc>
                  <a:txBody>
                    <a:bodyPr/>
                    <a:lstStyle/>
                    <a:p>
                      <a:pPr algn="ctr">
                        <a:buNone/>
                      </a:pPr>
                      <a:r>
                        <a:rPr lang="uk-UA" sz="1100" b="0" noProof="0" dirty="0">
                          <a:latin typeface="Open Sans" panose="020B0606030504020204" pitchFamily="34" charset="0"/>
                          <a:ea typeface="Open Sans" panose="020B0606030504020204" pitchFamily="34" charset="0"/>
                          <a:cs typeface="Open Sans" panose="020B0606030504020204" pitchFamily="34" charset="0"/>
                        </a:rPr>
                        <a:t>4</a:t>
                      </a:r>
                    </a:p>
                  </a:txBody>
                  <a:tcPr anchor="ctr"/>
                </a:tc>
                <a:tc>
                  <a:txBody>
                    <a:bodyPr/>
                    <a:lstStyle/>
                    <a:p>
                      <a:pPr algn="ctr">
                        <a:buNone/>
                      </a:pPr>
                      <a:r>
                        <a:rPr lang="uk-UA" sz="1100" b="0" noProof="0" dirty="0">
                          <a:latin typeface="Open Sans" panose="020B0606030504020204" pitchFamily="34" charset="0"/>
                          <a:ea typeface="Open Sans" panose="020B0606030504020204" pitchFamily="34" charset="0"/>
                          <a:cs typeface="Open Sans" panose="020B0606030504020204" pitchFamily="34" charset="0"/>
                        </a:rPr>
                        <a:t>5</a:t>
                      </a:r>
                    </a:p>
                  </a:txBody>
                  <a:tcPr anchor="ctr"/>
                </a:tc>
                <a:tc>
                  <a:txBody>
                    <a:bodyPr/>
                    <a:lstStyle/>
                    <a:p>
                      <a:pPr algn="ctr">
                        <a:buNone/>
                      </a:pPr>
                      <a:r>
                        <a:rPr lang="uk-UA" sz="1100" b="0" noProof="0" dirty="0">
                          <a:latin typeface="Open Sans" panose="020B0606030504020204" pitchFamily="34" charset="0"/>
                          <a:ea typeface="Open Sans" panose="020B0606030504020204" pitchFamily="34" charset="0"/>
                          <a:cs typeface="Open Sans" panose="020B0606030504020204" pitchFamily="34" charset="0"/>
                        </a:rPr>
                        <a:t>1</a:t>
                      </a:r>
                    </a:p>
                  </a:txBody>
                  <a:tcPr anchor="ctr"/>
                </a:tc>
                <a:tc>
                  <a:txBody>
                    <a:bodyPr/>
                    <a:lstStyle/>
                    <a:p>
                      <a:pPr algn="ctr">
                        <a:buNone/>
                      </a:pPr>
                      <a:r>
                        <a:rPr lang="uk-UA" sz="1100" b="0" noProof="0" dirty="0">
                          <a:latin typeface="Open Sans" panose="020B0606030504020204" pitchFamily="34" charset="0"/>
                          <a:ea typeface="Open Sans" panose="020B0606030504020204" pitchFamily="34" charset="0"/>
                          <a:cs typeface="Open Sans" panose="020B0606030504020204" pitchFamily="34" charset="0"/>
                        </a:rPr>
                        <a:t>4</a:t>
                      </a:r>
                    </a:p>
                  </a:txBody>
                  <a:tcPr anchor="ctr"/>
                </a:tc>
                <a:tc>
                  <a:txBody>
                    <a:bodyPr/>
                    <a:lstStyle/>
                    <a:p>
                      <a:pPr algn="ctr">
                        <a:buNone/>
                      </a:pPr>
                      <a:r>
                        <a:rPr lang="uk-UA" sz="1100" b="0" noProof="0" dirty="0">
                          <a:latin typeface="Open Sans" panose="020B0606030504020204" pitchFamily="34" charset="0"/>
                          <a:ea typeface="Open Sans" panose="020B0606030504020204" pitchFamily="34" charset="0"/>
                          <a:cs typeface="Open Sans" panose="020B0606030504020204" pitchFamily="34" charset="0"/>
                        </a:rPr>
                        <a:t>3</a:t>
                      </a:r>
                    </a:p>
                  </a:txBody>
                  <a:tcPr anchor="ctr"/>
                </a:tc>
                <a:extLst>
                  <a:ext uri="{0D108BD9-81ED-4DB2-BD59-A6C34878D82A}">
                    <a16:rowId xmlns:a16="http://schemas.microsoft.com/office/drawing/2014/main" val="1739918015"/>
                  </a:ext>
                </a:extLst>
              </a:tr>
              <a:tr h="0">
                <a:tc>
                  <a:txBody>
                    <a:bodyPr/>
                    <a:lstStyle/>
                    <a:p>
                      <a:pPr algn="l">
                        <a:buNone/>
                      </a:pPr>
                      <a:r>
                        <a:rPr lang="uk-UA" sz="1100" noProof="0" dirty="0">
                          <a:latin typeface="Open Sans" panose="020B0606030504020204" pitchFamily="34" charset="0"/>
                          <a:ea typeface="Open Sans" panose="020B0606030504020204" pitchFamily="34" charset="0"/>
                          <a:cs typeface="Open Sans" panose="020B0606030504020204" pitchFamily="34" charset="0"/>
                        </a:rPr>
                        <a:t>Вартість запиту</a:t>
                      </a:r>
                    </a:p>
                  </a:txBody>
                  <a:tcPr anchor="ctr"/>
                </a:tc>
                <a:tc>
                  <a:txBody>
                    <a:bodyPr/>
                    <a:lstStyle/>
                    <a:p>
                      <a:pPr algn="ctr">
                        <a:buNone/>
                      </a:pPr>
                      <a:r>
                        <a:rPr lang="uk-UA" sz="1100" b="0" noProof="0" dirty="0">
                          <a:latin typeface="Open Sans" panose="020B0606030504020204" pitchFamily="34" charset="0"/>
                          <a:ea typeface="Open Sans" panose="020B0606030504020204" pitchFamily="34" charset="0"/>
                          <a:cs typeface="Open Sans" panose="020B0606030504020204" pitchFamily="34" charset="0"/>
                        </a:rPr>
                        <a:t>5</a:t>
                      </a:r>
                    </a:p>
                  </a:txBody>
                  <a:tcPr anchor="ctr"/>
                </a:tc>
                <a:tc>
                  <a:txBody>
                    <a:bodyPr/>
                    <a:lstStyle/>
                    <a:p>
                      <a:pPr algn="ctr">
                        <a:buNone/>
                      </a:pPr>
                      <a:r>
                        <a:rPr lang="uk-UA" sz="1100" b="0" noProof="0" dirty="0">
                          <a:latin typeface="Open Sans" panose="020B0606030504020204" pitchFamily="34" charset="0"/>
                          <a:ea typeface="Open Sans" panose="020B0606030504020204" pitchFamily="34" charset="0"/>
                          <a:cs typeface="Open Sans" panose="020B0606030504020204" pitchFamily="34" charset="0"/>
                        </a:rPr>
                        <a:t>2</a:t>
                      </a:r>
                    </a:p>
                  </a:txBody>
                  <a:tcPr anchor="ctr"/>
                </a:tc>
                <a:tc>
                  <a:txBody>
                    <a:bodyPr/>
                    <a:lstStyle/>
                    <a:p>
                      <a:pPr algn="ctr">
                        <a:buNone/>
                      </a:pPr>
                      <a:r>
                        <a:rPr lang="uk-UA" sz="1100" b="0" noProof="0" dirty="0">
                          <a:latin typeface="Open Sans" panose="020B0606030504020204" pitchFamily="34" charset="0"/>
                          <a:ea typeface="Open Sans" panose="020B0606030504020204" pitchFamily="34" charset="0"/>
                          <a:cs typeface="Open Sans" panose="020B0606030504020204" pitchFamily="34" charset="0"/>
                        </a:rPr>
                        <a:t>5</a:t>
                      </a:r>
                    </a:p>
                  </a:txBody>
                  <a:tcPr anchor="ctr"/>
                </a:tc>
                <a:tc>
                  <a:txBody>
                    <a:bodyPr/>
                    <a:lstStyle/>
                    <a:p>
                      <a:pPr algn="ctr">
                        <a:buNone/>
                      </a:pPr>
                      <a:r>
                        <a:rPr lang="uk-UA" sz="1100" b="0" noProof="0" dirty="0">
                          <a:latin typeface="Open Sans" panose="020B0606030504020204" pitchFamily="34" charset="0"/>
                          <a:ea typeface="Open Sans" panose="020B0606030504020204" pitchFamily="34" charset="0"/>
                          <a:cs typeface="Open Sans" panose="020B0606030504020204" pitchFamily="34" charset="0"/>
                        </a:rPr>
                        <a:t>2</a:t>
                      </a:r>
                    </a:p>
                  </a:txBody>
                  <a:tcPr anchor="ctr"/>
                </a:tc>
                <a:tc>
                  <a:txBody>
                    <a:bodyPr/>
                    <a:lstStyle/>
                    <a:p>
                      <a:pPr algn="ctr">
                        <a:buNone/>
                      </a:pPr>
                      <a:r>
                        <a:rPr lang="uk-UA" sz="1100" b="0" noProof="0" dirty="0">
                          <a:latin typeface="Open Sans" panose="020B0606030504020204" pitchFamily="34" charset="0"/>
                          <a:ea typeface="Open Sans" panose="020B0606030504020204" pitchFamily="34" charset="0"/>
                          <a:cs typeface="Open Sans" panose="020B0606030504020204" pitchFamily="34" charset="0"/>
                        </a:rPr>
                        <a:t>5</a:t>
                      </a:r>
                    </a:p>
                  </a:txBody>
                  <a:tcPr anchor="ctr"/>
                </a:tc>
                <a:extLst>
                  <a:ext uri="{0D108BD9-81ED-4DB2-BD59-A6C34878D82A}">
                    <a16:rowId xmlns:a16="http://schemas.microsoft.com/office/drawing/2014/main" val="2216565257"/>
                  </a:ext>
                </a:extLst>
              </a:tr>
              <a:tr h="0">
                <a:tc>
                  <a:txBody>
                    <a:bodyPr/>
                    <a:lstStyle/>
                    <a:p>
                      <a:pPr algn="l">
                        <a:buNone/>
                      </a:pPr>
                      <a:r>
                        <a:rPr lang="uk-UA" sz="1100" b="1" noProof="0" dirty="0">
                          <a:latin typeface="Open Sans" panose="020B0606030504020204" pitchFamily="34" charset="0"/>
                          <a:ea typeface="Open Sans" panose="020B0606030504020204" pitchFamily="34" charset="0"/>
                          <a:cs typeface="Open Sans" panose="020B0606030504020204" pitchFamily="34" charset="0"/>
                        </a:rPr>
                        <a:t>Сума</a:t>
                      </a:r>
                    </a:p>
                  </a:txBody>
                  <a:tcPr anchor="ctr"/>
                </a:tc>
                <a:tc>
                  <a:txBody>
                    <a:bodyPr/>
                    <a:lstStyle/>
                    <a:p>
                      <a:pPr algn="ctr">
                        <a:buNone/>
                      </a:pPr>
                      <a:r>
                        <a:rPr lang="uk-UA" sz="1100" b="0" noProof="0" dirty="0">
                          <a:latin typeface="Open Sans" panose="020B0606030504020204" pitchFamily="34" charset="0"/>
                          <a:ea typeface="Open Sans" panose="020B0606030504020204" pitchFamily="34" charset="0"/>
                          <a:cs typeface="Open Sans" panose="020B0606030504020204" pitchFamily="34" charset="0"/>
                        </a:rPr>
                        <a:t>25</a:t>
                      </a:r>
                    </a:p>
                  </a:txBody>
                  <a:tcPr anchor="ctr"/>
                </a:tc>
                <a:tc>
                  <a:txBody>
                    <a:bodyPr/>
                    <a:lstStyle/>
                    <a:p>
                      <a:pPr algn="ctr">
                        <a:buNone/>
                      </a:pPr>
                      <a:r>
                        <a:rPr lang="uk-UA" sz="1100" b="0" noProof="0" dirty="0">
                          <a:latin typeface="Open Sans" panose="020B0606030504020204" pitchFamily="34" charset="0"/>
                          <a:ea typeface="Open Sans" panose="020B0606030504020204" pitchFamily="34" charset="0"/>
                          <a:cs typeface="Open Sans" panose="020B0606030504020204" pitchFamily="34" charset="0"/>
                        </a:rPr>
                        <a:t>22</a:t>
                      </a:r>
                    </a:p>
                  </a:txBody>
                  <a:tcPr anchor="ctr"/>
                </a:tc>
                <a:tc>
                  <a:txBody>
                    <a:bodyPr/>
                    <a:lstStyle/>
                    <a:p>
                      <a:pPr algn="ctr">
                        <a:buNone/>
                      </a:pPr>
                      <a:r>
                        <a:rPr lang="uk-UA" sz="1100" b="0" noProof="0" dirty="0">
                          <a:latin typeface="Open Sans" panose="020B0606030504020204" pitchFamily="34" charset="0"/>
                          <a:ea typeface="Open Sans" panose="020B0606030504020204" pitchFamily="34" charset="0"/>
                          <a:cs typeface="Open Sans" panose="020B0606030504020204" pitchFamily="34" charset="0"/>
                        </a:rPr>
                        <a:t>17</a:t>
                      </a:r>
                    </a:p>
                  </a:txBody>
                  <a:tcPr anchor="ctr"/>
                </a:tc>
                <a:tc>
                  <a:txBody>
                    <a:bodyPr/>
                    <a:lstStyle/>
                    <a:p>
                      <a:pPr algn="ctr">
                        <a:buNone/>
                      </a:pPr>
                      <a:r>
                        <a:rPr lang="uk-UA" sz="1100" b="0" noProof="0" dirty="0">
                          <a:latin typeface="Open Sans" panose="020B0606030504020204" pitchFamily="34" charset="0"/>
                          <a:ea typeface="Open Sans" panose="020B0606030504020204" pitchFamily="34" charset="0"/>
                          <a:cs typeface="Open Sans" panose="020B0606030504020204" pitchFamily="34" charset="0"/>
                        </a:rPr>
                        <a:t>20</a:t>
                      </a:r>
                    </a:p>
                  </a:txBody>
                  <a:tcPr anchor="ctr"/>
                </a:tc>
                <a:tc>
                  <a:txBody>
                    <a:bodyPr/>
                    <a:lstStyle/>
                    <a:p>
                      <a:pPr algn="ctr">
                        <a:buNone/>
                      </a:pPr>
                      <a:r>
                        <a:rPr lang="uk-UA" sz="1100" b="0" noProof="0" dirty="0">
                          <a:latin typeface="Open Sans" panose="020B0606030504020204" pitchFamily="34" charset="0"/>
                          <a:ea typeface="Open Sans" panose="020B0606030504020204" pitchFamily="34" charset="0"/>
                          <a:cs typeface="Open Sans" panose="020B0606030504020204" pitchFamily="34" charset="0"/>
                        </a:rPr>
                        <a:t>22</a:t>
                      </a:r>
                    </a:p>
                  </a:txBody>
                  <a:tcPr anchor="ctr"/>
                </a:tc>
                <a:extLst>
                  <a:ext uri="{0D108BD9-81ED-4DB2-BD59-A6C34878D82A}">
                    <a16:rowId xmlns:a16="http://schemas.microsoft.com/office/drawing/2014/main" val="3894031810"/>
                  </a:ext>
                </a:extLst>
              </a:tr>
            </a:tbl>
          </a:graphicData>
        </a:graphic>
      </p:graphicFrame>
      <p:sp>
        <p:nvSpPr>
          <p:cNvPr id="6" name="TextBox 5">
            <a:extLst>
              <a:ext uri="{FF2B5EF4-FFF2-40B4-BE49-F238E27FC236}">
                <a16:creationId xmlns:a16="http://schemas.microsoft.com/office/drawing/2014/main" id="{2B90ABCF-6220-1021-C91B-72133A018F3A}"/>
              </a:ext>
            </a:extLst>
          </p:cNvPr>
          <p:cNvSpPr txBox="1"/>
          <p:nvPr/>
        </p:nvSpPr>
        <p:spPr>
          <a:xfrm>
            <a:off x="6186055" y="1436805"/>
            <a:ext cx="2770909" cy="2646878"/>
          </a:xfrm>
          <a:prstGeom prst="rect">
            <a:avLst/>
          </a:prstGeom>
          <a:noFill/>
        </p:spPr>
        <p:txBody>
          <a:bodyPr wrap="square">
            <a:spAutoFit/>
          </a:bodyPr>
          <a:lstStyle/>
          <a:p>
            <a:r>
              <a:rPr lang="uk-UA" sz="1200" b="1" noProof="0" dirty="0">
                <a:latin typeface="Open Sans" panose="020B0606030504020204" pitchFamily="34" charset="0"/>
                <a:ea typeface="Open Sans" panose="020B0606030504020204" pitchFamily="34" charset="0"/>
                <a:cs typeface="Open Sans" panose="020B0606030504020204" pitchFamily="34" charset="0"/>
              </a:rPr>
              <a:t>Висновок:</a:t>
            </a:r>
            <a:r>
              <a:rPr lang="uk-UA" sz="1200" noProof="0" dirty="0">
                <a:latin typeface="Open Sans" panose="020B0606030504020204" pitchFamily="34" charset="0"/>
                <a:ea typeface="Open Sans" panose="020B0606030504020204" pitchFamily="34" charset="0"/>
                <a:cs typeface="Open Sans" panose="020B0606030504020204" pitchFamily="34" charset="0"/>
              </a:rPr>
              <a:t> </a:t>
            </a:r>
          </a:p>
          <a:p>
            <a:r>
              <a:rPr lang="uk-UA" sz="1100" noProof="0" dirty="0" err="1">
                <a:latin typeface="Open Sans" panose="020B0606030504020204" pitchFamily="34" charset="0"/>
                <a:ea typeface="Open Sans" panose="020B0606030504020204" pitchFamily="34" charset="0"/>
                <a:cs typeface="Open Sans" panose="020B0606030504020204" pitchFamily="34" charset="0"/>
              </a:rPr>
              <a:t>ChatGPT</a:t>
            </a:r>
            <a:r>
              <a:rPr lang="uk-UA" sz="1100" noProof="0" dirty="0">
                <a:latin typeface="Open Sans" panose="020B0606030504020204" pitchFamily="34" charset="0"/>
                <a:ea typeface="Open Sans" panose="020B0606030504020204" pitchFamily="34" charset="0"/>
                <a:cs typeface="Open Sans" panose="020B0606030504020204" pitchFamily="34" charset="0"/>
              </a:rPr>
              <a:t> лідирує з сумою 25 балів завдяки відмінній точності, низькій вартості та повному доступу до API з великим контекстним вікном. </a:t>
            </a:r>
            <a:r>
              <a:rPr lang="uk-UA" sz="1100" noProof="0" dirty="0" err="1">
                <a:latin typeface="Open Sans" panose="020B0606030504020204" pitchFamily="34" charset="0"/>
                <a:ea typeface="Open Sans" panose="020B0606030504020204" pitchFamily="34" charset="0"/>
                <a:cs typeface="Open Sans" panose="020B0606030504020204" pitchFamily="34" charset="0"/>
              </a:rPr>
              <a:t>Claude</a:t>
            </a:r>
            <a:r>
              <a:rPr lang="uk-UA" sz="1100" noProof="0" dirty="0">
                <a:latin typeface="Open Sans" panose="020B0606030504020204" pitchFamily="34" charset="0"/>
                <a:ea typeface="Open Sans" panose="020B0606030504020204" pitchFamily="34" charset="0"/>
                <a:cs typeface="Open Sans" panose="020B0606030504020204" pitchFamily="34" charset="0"/>
              </a:rPr>
              <a:t> та </a:t>
            </a:r>
            <a:r>
              <a:rPr lang="uk-UA" sz="1100" noProof="0" dirty="0" err="1">
                <a:latin typeface="Open Sans" panose="020B0606030504020204" pitchFamily="34" charset="0"/>
                <a:ea typeface="Open Sans" panose="020B0606030504020204" pitchFamily="34" charset="0"/>
                <a:cs typeface="Open Sans" panose="020B0606030504020204" pitchFamily="34" charset="0"/>
              </a:rPr>
              <a:t>Llama</a:t>
            </a:r>
            <a:r>
              <a:rPr lang="uk-UA" sz="1100" noProof="0" dirty="0">
                <a:latin typeface="Open Sans" panose="020B0606030504020204" pitchFamily="34" charset="0"/>
                <a:ea typeface="Open Sans" panose="020B0606030504020204" pitchFamily="34" charset="0"/>
                <a:cs typeface="Open Sans" panose="020B0606030504020204" pitchFamily="34" charset="0"/>
              </a:rPr>
              <a:t> 3.1 поділяють друге місце (22 бали) — </a:t>
            </a:r>
            <a:r>
              <a:rPr lang="uk-UA" sz="1100" noProof="0" dirty="0" err="1">
                <a:latin typeface="Open Sans" panose="020B0606030504020204" pitchFamily="34" charset="0"/>
                <a:ea typeface="Open Sans" panose="020B0606030504020204" pitchFamily="34" charset="0"/>
                <a:cs typeface="Open Sans" panose="020B0606030504020204" pitchFamily="34" charset="0"/>
              </a:rPr>
              <a:t>Claude</a:t>
            </a:r>
            <a:r>
              <a:rPr lang="uk-UA" sz="1100" noProof="0" dirty="0">
                <a:latin typeface="Open Sans" panose="020B0606030504020204" pitchFamily="34" charset="0"/>
                <a:ea typeface="Open Sans" panose="020B0606030504020204" pitchFamily="34" charset="0"/>
                <a:cs typeface="Open Sans" panose="020B0606030504020204" pitchFamily="34" charset="0"/>
              </a:rPr>
              <a:t> виграє за швидкістю та контекстом, </a:t>
            </a:r>
            <a:r>
              <a:rPr lang="uk-UA" sz="1100" noProof="0" dirty="0" err="1">
                <a:latin typeface="Open Sans" panose="020B0606030504020204" pitchFamily="34" charset="0"/>
                <a:ea typeface="Open Sans" panose="020B0606030504020204" pitchFamily="34" charset="0"/>
                <a:cs typeface="Open Sans" panose="020B0606030504020204" pitchFamily="34" charset="0"/>
              </a:rPr>
              <a:t>Llama</a:t>
            </a:r>
            <a:r>
              <a:rPr lang="uk-UA" sz="1100" noProof="0" dirty="0">
                <a:latin typeface="Open Sans" panose="020B0606030504020204" pitchFamily="34" charset="0"/>
                <a:ea typeface="Open Sans" panose="020B0606030504020204" pitchFamily="34" charset="0"/>
                <a:cs typeface="Open Sans" panose="020B0606030504020204" pitchFamily="34" charset="0"/>
              </a:rPr>
              <a:t> — за вартістю та локальним розгортанням. </a:t>
            </a:r>
            <a:r>
              <a:rPr lang="uk-UA" sz="1100" noProof="0" dirty="0" err="1">
                <a:latin typeface="Open Sans" panose="020B0606030504020204" pitchFamily="34" charset="0"/>
                <a:ea typeface="Open Sans" panose="020B0606030504020204" pitchFamily="34" charset="0"/>
                <a:cs typeface="Open Sans" panose="020B0606030504020204" pitchFamily="34" charset="0"/>
              </a:rPr>
              <a:t>Gemini</a:t>
            </a:r>
            <a:r>
              <a:rPr lang="uk-UA" sz="1100" noProof="0" dirty="0">
                <a:latin typeface="Open Sans" panose="020B0606030504020204" pitchFamily="34" charset="0"/>
                <a:ea typeface="Open Sans" panose="020B0606030504020204" pitchFamily="34" charset="0"/>
                <a:cs typeface="Open Sans" panose="020B0606030504020204" pitchFamily="34" charset="0"/>
              </a:rPr>
              <a:t> </a:t>
            </a:r>
            <a:r>
              <a:rPr lang="uk-UA" sz="1100" noProof="0" dirty="0" err="1">
                <a:latin typeface="Open Sans" panose="020B0606030504020204" pitchFamily="34" charset="0"/>
                <a:ea typeface="Open Sans" panose="020B0606030504020204" pitchFamily="34" charset="0"/>
                <a:cs typeface="Open Sans" panose="020B0606030504020204" pitchFamily="34" charset="0"/>
              </a:rPr>
              <a:t>Pro</a:t>
            </a:r>
            <a:r>
              <a:rPr lang="uk-UA" sz="1100" noProof="0" dirty="0">
                <a:latin typeface="Open Sans" panose="020B0606030504020204" pitchFamily="34" charset="0"/>
                <a:ea typeface="Open Sans" panose="020B0606030504020204" pitchFamily="34" charset="0"/>
                <a:cs typeface="Open Sans" panose="020B0606030504020204" pitchFamily="34" charset="0"/>
              </a:rPr>
              <a:t> посідає четверте місце (20 балів). </a:t>
            </a:r>
            <a:r>
              <a:rPr lang="uk-UA" sz="1100" noProof="0" dirty="0" err="1">
                <a:latin typeface="Open Sans" panose="020B0606030504020204" pitchFamily="34" charset="0"/>
                <a:ea typeface="Open Sans" panose="020B0606030504020204" pitchFamily="34" charset="0"/>
                <a:cs typeface="Open Sans" panose="020B0606030504020204" pitchFamily="34" charset="0"/>
              </a:rPr>
              <a:t>DeepSeek</a:t>
            </a:r>
            <a:r>
              <a:rPr lang="uk-UA" sz="1100" noProof="0" dirty="0">
                <a:latin typeface="Open Sans" panose="020B0606030504020204" pitchFamily="34" charset="0"/>
                <a:ea typeface="Open Sans" panose="020B0606030504020204" pitchFamily="34" charset="0"/>
                <a:cs typeface="Open Sans" panose="020B0606030504020204" pitchFamily="34" charset="0"/>
              </a:rPr>
              <a:t> замикає рейтинг (17 балів) через низьку точність та обмежений API, попри переваги у локальному розгортанні.</a:t>
            </a:r>
          </a:p>
        </p:txBody>
      </p:sp>
    </p:spTree>
    <p:extLst>
      <p:ext uri="{BB962C8B-B14F-4D97-AF65-F5344CB8AC3E}">
        <p14:creationId xmlns:p14="http://schemas.microsoft.com/office/powerpoint/2010/main" val="2788281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166B9CD1-23DF-76A3-54D9-772AB10BB6F2}"/>
            </a:ext>
          </a:extLst>
        </p:cNvPr>
        <p:cNvGrpSpPr/>
        <p:nvPr/>
      </p:nvGrpSpPr>
      <p:grpSpPr>
        <a:xfrm>
          <a:off x="0" y="0"/>
          <a:ext cx="0" cy="0"/>
          <a:chOff x="0" y="0"/>
          <a:chExt cx="0" cy="0"/>
        </a:xfrm>
      </p:grpSpPr>
      <p:sp>
        <p:nvSpPr>
          <p:cNvPr id="92" name="Google Shape;92;p17">
            <a:extLst>
              <a:ext uri="{FF2B5EF4-FFF2-40B4-BE49-F238E27FC236}">
                <a16:creationId xmlns:a16="http://schemas.microsoft.com/office/drawing/2014/main" id="{E3D5A95B-0E0B-28E4-EFF1-8616DEEB7466}"/>
              </a:ext>
            </a:extLst>
          </p:cNvPr>
          <p:cNvSpPr txBox="1">
            <a:spLocks noGrp="1"/>
          </p:cNvSpPr>
          <p:nvPr>
            <p:ph type="title"/>
          </p:nvPr>
        </p:nvSpPr>
        <p:spPr>
          <a:xfrm>
            <a:off x="62519" y="131701"/>
            <a:ext cx="9081481" cy="902035"/>
          </a:xfrm>
          <a:prstGeom prst="rect">
            <a:avLst/>
          </a:prstGeom>
          <a:noFill/>
          <a:ln>
            <a:noFill/>
          </a:ln>
        </p:spPr>
        <p:txBody>
          <a:bodyPr spcFirstLastPara="1" wrap="square" lIns="91425" tIns="91425" rIns="91425" bIns="91425" anchor="b" anchorCtr="0">
            <a:normAutofit fontScale="90000"/>
          </a:bodyPr>
          <a:lstStyle/>
          <a:p>
            <a:r>
              <a:rPr lang="uk-UA" sz="3200" dirty="0">
                <a:latin typeface="Open Sans" panose="020B0606030504020204" pitchFamily="34" charset="0"/>
                <a:ea typeface="Open Sans" panose="020B0606030504020204" pitchFamily="34" charset="0"/>
                <a:cs typeface="Open Sans" panose="020B0606030504020204" pitchFamily="34" charset="0"/>
              </a:rPr>
              <a:t>Показники виконання </a:t>
            </a:r>
            <a:r>
              <a:rPr lang="uk-UA" sz="3200" noProof="0" dirty="0">
                <a:latin typeface="Open Sans" panose="020B0606030504020204" pitchFamily="34" charset="0"/>
                <a:ea typeface="Open Sans" panose="020B0606030504020204" pitchFamily="34" charset="0"/>
                <a:cs typeface="Open Sans" panose="020B0606030504020204" pitchFamily="34" charset="0"/>
              </a:rPr>
              <a:t>аналітичних задач моделями ШІ</a:t>
            </a:r>
          </a:p>
        </p:txBody>
      </p:sp>
      <p:pic>
        <p:nvPicPr>
          <p:cNvPr id="94" name="Google Shape;94;p17">
            <a:extLst>
              <a:ext uri="{FF2B5EF4-FFF2-40B4-BE49-F238E27FC236}">
                <a16:creationId xmlns:a16="http://schemas.microsoft.com/office/drawing/2014/main" id="{60092E73-0338-3681-35C6-2B0D79F9A972}"/>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Номер слайда 1">
            <a:extLst>
              <a:ext uri="{FF2B5EF4-FFF2-40B4-BE49-F238E27FC236}">
                <a16:creationId xmlns:a16="http://schemas.microsoft.com/office/drawing/2014/main" id="{FC797053-8E13-85BD-CC42-63DDEDF4615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uk-UA" noProof="0" smtClean="0"/>
              <a:t>9</a:t>
            </a:fld>
            <a:endParaRPr lang="uk-UA" noProof="0" dirty="0"/>
          </a:p>
        </p:txBody>
      </p:sp>
      <p:graphicFrame>
        <p:nvGraphicFramePr>
          <p:cNvPr id="6" name="Table 5">
            <a:extLst>
              <a:ext uri="{FF2B5EF4-FFF2-40B4-BE49-F238E27FC236}">
                <a16:creationId xmlns:a16="http://schemas.microsoft.com/office/drawing/2014/main" id="{76441645-4131-1DD5-8F1C-8D84A8A287C7}"/>
              </a:ext>
            </a:extLst>
          </p:cNvPr>
          <p:cNvGraphicFramePr>
            <a:graphicFrameLocks noGrp="1"/>
          </p:cNvGraphicFramePr>
          <p:nvPr>
            <p:extLst>
              <p:ext uri="{D42A27DB-BD31-4B8C-83A1-F6EECF244321}">
                <p14:modId xmlns:p14="http://schemas.microsoft.com/office/powerpoint/2010/main" val="1606114525"/>
              </p:ext>
            </p:extLst>
          </p:nvPr>
        </p:nvGraphicFramePr>
        <p:xfrm>
          <a:off x="62519" y="976745"/>
          <a:ext cx="5437737" cy="2951098"/>
        </p:xfrm>
        <a:graphic>
          <a:graphicData uri="http://schemas.openxmlformats.org/drawingml/2006/table">
            <a:tbl>
              <a:tblPr firstRow="1" firstCol="1" bandRow="1">
                <a:tableStyleId>{5C22544A-7EE6-4342-B048-85BDC9FD1C3A}</a:tableStyleId>
              </a:tblPr>
              <a:tblGrid>
                <a:gridCol w="1160966">
                  <a:extLst>
                    <a:ext uri="{9D8B030D-6E8A-4147-A177-3AD203B41FA5}">
                      <a16:colId xmlns:a16="http://schemas.microsoft.com/office/drawing/2014/main" val="1592370077"/>
                    </a:ext>
                  </a:extLst>
                </a:gridCol>
                <a:gridCol w="764482">
                  <a:extLst>
                    <a:ext uri="{9D8B030D-6E8A-4147-A177-3AD203B41FA5}">
                      <a16:colId xmlns:a16="http://schemas.microsoft.com/office/drawing/2014/main" val="2294965400"/>
                    </a:ext>
                  </a:extLst>
                </a:gridCol>
                <a:gridCol w="937572">
                  <a:extLst>
                    <a:ext uri="{9D8B030D-6E8A-4147-A177-3AD203B41FA5}">
                      <a16:colId xmlns:a16="http://schemas.microsoft.com/office/drawing/2014/main" val="829716178"/>
                    </a:ext>
                  </a:extLst>
                </a:gridCol>
                <a:gridCol w="584929">
                  <a:extLst>
                    <a:ext uri="{9D8B030D-6E8A-4147-A177-3AD203B41FA5}">
                      <a16:colId xmlns:a16="http://schemas.microsoft.com/office/drawing/2014/main" val="3717286395"/>
                    </a:ext>
                  </a:extLst>
                </a:gridCol>
                <a:gridCol w="821429">
                  <a:extLst>
                    <a:ext uri="{9D8B030D-6E8A-4147-A177-3AD203B41FA5}">
                      <a16:colId xmlns:a16="http://schemas.microsoft.com/office/drawing/2014/main" val="187761388"/>
                    </a:ext>
                  </a:extLst>
                </a:gridCol>
                <a:gridCol w="1168359">
                  <a:extLst>
                    <a:ext uri="{9D8B030D-6E8A-4147-A177-3AD203B41FA5}">
                      <a16:colId xmlns:a16="http://schemas.microsoft.com/office/drawing/2014/main" val="608584153"/>
                    </a:ext>
                  </a:extLst>
                </a:gridCol>
              </a:tblGrid>
              <a:tr h="332510">
                <a:tc>
                  <a:txBody>
                    <a:bodyPr/>
                    <a:lstStyle/>
                    <a:p>
                      <a:pPr algn="jus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 </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buNone/>
                      </a:pPr>
                      <a:r>
                        <a:rPr lang="uk-UA" sz="1400" noProof="0" dirty="0" err="1">
                          <a:effectLst/>
                          <a:latin typeface="Open Sans" panose="020B0606030504020204" pitchFamily="34" charset="0"/>
                          <a:ea typeface="Open Sans" panose="020B0606030504020204" pitchFamily="34" charset="0"/>
                          <a:cs typeface="Open Sans" panose="020B0606030504020204" pitchFamily="34" charset="0"/>
                        </a:rPr>
                        <a:t>Claude</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buNone/>
                      </a:pPr>
                      <a:r>
                        <a:rPr lang="uk-UA" sz="1400" noProof="0" dirty="0" err="1">
                          <a:effectLst/>
                          <a:latin typeface="Open Sans" panose="020B0606030504020204" pitchFamily="34" charset="0"/>
                          <a:ea typeface="Open Sans" panose="020B0606030504020204" pitchFamily="34" charset="0"/>
                          <a:cs typeface="Open Sans" panose="020B0606030504020204" pitchFamily="34" charset="0"/>
                        </a:rPr>
                        <a:t>ChatGPT</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buNone/>
                      </a:pPr>
                      <a:r>
                        <a:rPr lang="uk-UA" sz="1400" noProof="0" dirty="0" err="1">
                          <a:effectLst/>
                          <a:latin typeface="Open Sans" panose="020B0606030504020204" pitchFamily="34" charset="0"/>
                          <a:ea typeface="Open Sans" panose="020B0606030504020204" pitchFamily="34" charset="0"/>
                          <a:cs typeface="Open Sans" panose="020B0606030504020204" pitchFamily="34" charset="0"/>
                        </a:rPr>
                        <a:t>Grok</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buNone/>
                      </a:pPr>
                      <a:r>
                        <a:rPr lang="uk-UA" sz="1400" noProof="0" dirty="0" err="1">
                          <a:effectLst/>
                          <a:latin typeface="Open Sans" panose="020B0606030504020204" pitchFamily="34" charset="0"/>
                          <a:ea typeface="Open Sans" panose="020B0606030504020204" pitchFamily="34" charset="0"/>
                          <a:cs typeface="Open Sans" panose="020B0606030504020204" pitchFamily="34" charset="0"/>
                        </a:rPr>
                        <a:t>Gemini</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buNone/>
                      </a:pPr>
                      <a:r>
                        <a:rPr lang="uk-UA" sz="1400" noProof="0" dirty="0" err="1">
                          <a:effectLst/>
                          <a:latin typeface="Open Sans" panose="020B0606030504020204" pitchFamily="34" charset="0"/>
                          <a:ea typeface="Open Sans" panose="020B0606030504020204" pitchFamily="34" charset="0"/>
                          <a:cs typeface="Open Sans" panose="020B0606030504020204" pitchFamily="34" charset="0"/>
                        </a:rPr>
                        <a:t>DeepSeek</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3489436978"/>
                  </a:ext>
                </a:extLst>
              </a:tr>
              <a:tr h="546406">
                <a:tc>
                  <a:txBody>
                    <a:bodyPr/>
                    <a:lstStyle/>
                    <a:p>
                      <a:pPr algn="l">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Ключові фрази</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50000"/>
                        </a:lnSpc>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6</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50000"/>
                        </a:lnSpc>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7</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50000"/>
                        </a:lnSpc>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9</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50000"/>
                        </a:lnSpc>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5</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50000"/>
                        </a:lnSpc>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7</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extLst>
                  <a:ext uri="{0D108BD9-81ED-4DB2-BD59-A6C34878D82A}">
                    <a16:rowId xmlns:a16="http://schemas.microsoft.com/office/drawing/2014/main" val="203398931"/>
                  </a:ext>
                </a:extLst>
              </a:tr>
              <a:tr h="546406">
                <a:tc>
                  <a:txBody>
                    <a:bodyPr/>
                    <a:lstStyle/>
                    <a:p>
                      <a:pPr algn="l">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Короткий опис</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50000"/>
                        </a:lnSpc>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7</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50000"/>
                        </a:lnSpc>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7</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50000"/>
                        </a:lnSpc>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8</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50000"/>
                        </a:lnSpc>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8</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50000"/>
                        </a:lnSpc>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9</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extLst>
                  <a:ext uri="{0D108BD9-81ED-4DB2-BD59-A6C34878D82A}">
                    <a16:rowId xmlns:a16="http://schemas.microsoft.com/office/drawing/2014/main" val="3462528680"/>
                  </a:ext>
                </a:extLst>
              </a:tr>
              <a:tr h="1151492">
                <a:tc>
                  <a:txBody>
                    <a:bodyPr/>
                    <a:lstStyle/>
                    <a:p>
                      <a:pPr algn="l">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Три головні ключові фрази та тема</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50000"/>
                        </a:lnSpc>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7</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50000"/>
                        </a:lnSpc>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7</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50000"/>
                        </a:lnSpc>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8</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50000"/>
                        </a:lnSpc>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7</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50000"/>
                        </a:lnSpc>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9</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extLst>
                  <a:ext uri="{0D108BD9-81ED-4DB2-BD59-A6C34878D82A}">
                    <a16:rowId xmlns:a16="http://schemas.microsoft.com/office/drawing/2014/main" val="4080087997"/>
                  </a:ext>
                </a:extLst>
              </a:tr>
              <a:tr h="374284">
                <a:tc>
                  <a:txBody>
                    <a:bodyPr/>
                    <a:lstStyle/>
                    <a:p>
                      <a:pPr algn="l">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Разом</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50000"/>
                        </a:lnSpc>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20</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50000"/>
                        </a:lnSpc>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21</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50000"/>
                        </a:lnSpc>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25</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50000"/>
                        </a:lnSpc>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20</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50000"/>
                        </a:lnSpc>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25</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extLst>
                  <a:ext uri="{0D108BD9-81ED-4DB2-BD59-A6C34878D82A}">
                    <a16:rowId xmlns:a16="http://schemas.microsoft.com/office/drawing/2014/main" val="3631188435"/>
                  </a:ext>
                </a:extLst>
              </a:tr>
            </a:tbl>
          </a:graphicData>
        </a:graphic>
      </p:graphicFrame>
      <p:sp>
        <p:nvSpPr>
          <p:cNvPr id="5" name="TextBox 4">
            <a:extLst>
              <a:ext uri="{FF2B5EF4-FFF2-40B4-BE49-F238E27FC236}">
                <a16:creationId xmlns:a16="http://schemas.microsoft.com/office/drawing/2014/main" id="{AA95054A-032D-71F3-F882-C05FA99414A7}"/>
              </a:ext>
            </a:extLst>
          </p:cNvPr>
          <p:cNvSpPr txBox="1"/>
          <p:nvPr/>
        </p:nvSpPr>
        <p:spPr>
          <a:xfrm>
            <a:off x="5500255" y="1660048"/>
            <a:ext cx="3643745" cy="2000548"/>
          </a:xfrm>
          <a:prstGeom prst="rect">
            <a:avLst/>
          </a:prstGeom>
          <a:noFill/>
        </p:spPr>
        <p:txBody>
          <a:bodyPr wrap="square">
            <a:spAutoFit/>
          </a:bodyPr>
          <a:lstStyle/>
          <a:p>
            <a:pPr>
              <a:buNone/>
            </a:pPr>
            <a:r>
              <a:rPr lang="uk-UA" sz="1200" b="1" noProof="0" dirty="0">
                <a:latin typeface="Open Sans" panose="020B0606030504020204" pitchFamily="34" charset="0"/>
                <a:ea typeface="Open Sans" panose="020B0606030504020204" pitchFamily="34" charset="0"/>
                <a:cs typeface="Open Sans" panose="020B0606030504020204" pitchFamily="34" charset="0"/>
              </a:rPr>
              <a:t>Практичний ефект для e-</a:t>
            </a:r>
            <a:r>
              <a:rPr lang="uk-UA" sz="1200" b="1" noProof="0" dirty="0" err="1">
                <a:latin typeface="Open Sans" panose="020B0606030504020204" pitchFamily="34" charset="0"/>
                <a:ea typeface="Open Sans" panose="020B0606030504020204" pitchFamily="34" charset="0"/>
                <a:cs typeface="Open Sans" panose="020B0606030504020204" pitchFamily="34" charset="0"/>
              </a:rPr>
              <a:t>commerce</a:t>
            </a:r>
            <a:r>
              <a:rPr lang="uk-UA" sz="1200" b="1" noProof="0" dirty="0">
                <a:latin typeface="Open Sans" panose="020B0606030504020204" pitchFamily="34" charset="0"/>
                <a:ea typeface="Open Sans" panose="020B0606030504020204" pitchFamily="34" charset="0"/>
                <a:cs typeface="Open Sans" panose="020B0606030504020204" pitchFamily="34" charset="0"/>
              </a:rPr>
              <a:t> (1 000 описів товарів):</a:t>
            </a:r>
            <a:endParaRPr lang="uk-UA" sz="1200" noProof="0" dirty="0">
              <a:latin typeface="Open Sans" panose="020B0606030504020204" pitchFamily="34" charset="0"/>
              <a:ea typeface="Open Sans" panose="020B0606030504020204" pitchFamily="34" charset="0"/>
              <a:cs typeface="Open Sans" panose="020B0606030504020204" pitchFamily="34" charset="0"/>
            </a:endParaRPr>
          </a:p>
          <a:p>
            <a:r>
              <a:rPr lang="uk-UA" sz="1100" noProof="0" dirty="0">
                <a:latin typeface="Open Sans" panose="020B0606030504020204" pitchFamily="34" charset="0"/>
                <a:ea typeface="Open Sans" panose="020B0606030504020204" pitchFamily="34" charset="0"/>
                <a:cs typeface="Open Sans" panose="020B0606030504020204" pitchFamily="34" charset="0"/>
              </a:rPr>
              <a:t>- </a:t>
            </a:r>
            <a:r>
              <a:rPr lang="uk-UA" sz="1100" noProof="0" dirty="0" err="1">
                <a:latin typeface="Open Sans" panose="020B0606030504020204" pitchFamily="34" charset="0"/>
                <a:ea typeface="Open Sans" panose="020B0606030504020204" pitchFamily="34" charset="0"/>
                <a:cs typeface="Open Sans" panose="020B0606030504020204" pitchFamily="34" charset="0"/>
              </a:rPr>
              <a:t>Grok</a:t>
            </a:r>
            <a:r>
              <a:rPr lang="uk-UA" sz="1100" noProof="0" dirty="0">
                <a:latin typeface="Open Sans" panose="020B0606030504020204" pitchFamily="34" charset="0"/>
                <a:ea typeface="Open Sans" panose="020B0606030504020204" pitchFamily="34" charset="0"/>
                <a:cs typeface="Open Sans" panose="020B0606030504020204" pitchFamily="34" charset="0"/>
              </a:rPr>
              <a:t>/</a:t>
            </a:r>
            <a:r>
              <a:rPr lang="uk-UA" sz="1100" noProof="0" dirty="0" err="1">
                <a:latin typeface="Open Sans" panose="020B0606030504020204" pitchFamily="34" charset="0"/>
                <a:ea typeface="Open Sans" panose="020B0606030504020204" pitchFamily="34" charset="0"/>
                <a:cs typeface="Open Sans" panose="020B0606030504020204" pitchFamily="34" charset="0"/>
              </a:rPr>
              <a:t>DeepSeek</a:t>
            </a:r>
            <a:r>
              <a:rPr lang="uk-UA" sz="1100" noProof="0" dirty="0">
                <a:latin typeface="Open Sans" panose="020B0606030504020204" pitchFamily="34" charset="0"/>
                <a:ea typeface="Open Sans" panose="020B0606030504020204" pitchFamily="34" charset="0"/>
                <a:cs typeface="Open Sans" panose="020B0606030504020204" pitchFamily="34" charset="0"/>
              </a:rPr>
              <a:t>: ~833 якісних описи</a:t>
            </a:r>
          </a:p>
          <a:p>
            <a:r>
              <a:rPr lang="uk-UA" sz="1100" noProof="0" dirty="0">
                <a:latin typeface="Open Sans" panose="020B0606030504020204" pitchFamily="34" charset="0"/>
                <a:ea typeface="Open Sans" panose="020B0606030504020204" pitchFamily="34" charset="0"/>
                <a:cs typeface="Open Sans" panose="020B0606030504020204" pitchFamily="34" charset="0"/>
              </a:rPr>
              <a:t>- </a:t>
            </a:r>
            <a:r>
              <a:rPr lang="uk-UA" sz="1100" noProof="0" dirty="0" err="1">
                <a:latin typeface="Open Sans" panose="020B0606030504020204" pitchFamily="34" charset="0"/>
                <a:ea typeface="Open Sans" panose="020B0606030504020204" pitchFamily="34" charset="0"/>
                <a:cs typeface="Open Sans" panose="020B0606030504020204" pitchFamily="34" charset="0"/>
              </a:rPr>
              <a:t>ChatGPT</a:t>
            </a:r>
            <a:r>
              <a:rPr lang="uk-UA" sz="1100" noProof="0" dirty="0">
                <a:latin typeface="Open Sans" panose="020B0606030504020204" pitchFamily="34" charset="0"/>
                <a:ea typeface="Open Sans" panose="020B0606030504020204" pitchFamily="34" charset="0"/>
                <a:cs typeface="Open Sans" panose="020B0606030504020204" pitchFamily="34" charset="0"/>
              </a:rPr>
              <a:t>: ~700 якісних описів</a:t>
            </a:r>
          </a:p>
          <a:p>
            <a:r>
              <a:rPr lang="uk-UA" sz="1100" noProof="0" dirty="0">
                <a:latin typeface="Open Sans" panose="020B0606030504020204" pitchFamily="34" charset="0"/>
                <a:ea typeface="Open Sans" panose="020B0606030504020204" pitchFamily="34" charset="0"/>
                <a:cs typeface="Open Sans" panose="020B0606030504020204" pitchFamily="34" charset="0"/>
              </a:rPr>
              <a:t>- </a:t>
            </a:r>
            <a:r>
              <a:rPr lang="uk-UA" sz="1100" noProof="0" dirty="0" err="1">
                <a:latin typeface="Open Sans" panose="020B0606030504020204" pitchFamily="34" charset="0"/>
                <a:ea typeface="Open Sans" panose="020B0606030504020204" pitchFamily="34" charset="0"/>
                <a:cs typeface="Open Sans" panose="020B0606030504020204" pitchFamily="34" charset="0"/>
              </a:rPr>
              <a:t>Claude</a:t>
            </a:r>
            <a:r>
              <a:rPr lang="uk-UA" sz="1100" noProof="0" dirty="0">
                <a:latin typeface="Open Sans" panose="020B0606030504020204" pitchFamily="34" charset="0"/>
                <a:ea typeface="Open Sans" panose="020B0606030504020204" pitchFamily="34" charset="0"/>
                <a:cs typeface="Open Sans" panose="020B0606030504020204" pitchFamily="34" charset="0"/>
              </a:rPr>
              <a:t>/</a:t>
            </a:r>
            <a:r>
              <a:rPr lang="uk-UA" sz="1100" noProof="0" dirty="0" err="1">
                <a:latin typeface="Open Sans" panose="020B0606030504020204" pitchFamily="34" charset="0"/>
                <a:ea typeface="Open Sans" panose="020B0606030504020204" pitchFamily="34" charset="0"/>
                <a:cs typeface="Open Sans" panose="020B0606030504020204" pitchFamily="34" charset="0"/>
              </a:rPr>
              <a:t>Gemini</a:t>
            </a:r>
            <a:r>
              <a:rPr lang="uk-UA" sz="1100" noProof="0" dirty="0">
                <a:latin typeface="Open Sans" panose="020B0606030504020204" pitchFamily="34" charset="0"/>
                <a:ea typeface="Open Sans" panose="020B0606030504020204" pitchFamily="34" charset="0"/>
                <a:cs typeface="Open Sans" panose="020B0606030504020204" pitchFamily="34" charset="0"/>
              </a:rPr>
              <a:t>: ~667 якісних описів</a:t>
            </a:r>
          </a:p>
          <a:p>
            <a:endParaRPr lang="uk-UA" sz="1100" noProof="0" dirty="0">
              <a:latin typeface="Open Sans" panose="020B0606030504020204" pitchFamily="34" charset="0"/>
              <a:ea typeface="Open Sans" panose="020B0606030504020204" pitchFamily="34" charset="0"/>
              <a:cs typeface="Open Sans" panose="020B0606030504020204" pitchFamily="34" charset="0"/>
            </a:endParaRPr>
          </a:p>
          <a:p>
            <a:pPr>
              <a:buNone/>
            </a:pPr>
            <a:r>
              <a:rPr lang="uk-UA" sz="1200" b="1" noProof="0" dirty="0">
                <a:latin typeface="Open Sans" panose="020B0606030504020204" pitchFamily="34" charset="0"/>
                <a:ea typeface="Open Sans" panose="020B0606030504020204" pitchFamily="34" charset="0"/>
                <a:cs typeface="Open Sans" panose="020B0606030504020204" pitchFamily="34" charset="0"/>
              </a:rPr>
              <a:t>Висновок:</a:t>
            </a:r>
            <a:r>
              <a:rPr lang="uk-UA" sz="1200" noProof="0" dirty="0">
                <a:latin typeface="Open Sans" panose="020B0606030504020204" pitchFamily="34" charset="0"/>
                <a:ea typeface="Open Sans" panose="020B0606030504020204" pitchFamily="34" charset="0"/>
                <a:cs typeface="Open Sans" panose="020B0606030504020204" pitchFamily="34" charset="0"/>
              </a:rPr>
              <a:t> </a:t>
            </a:r>
            <a:br>
              <a:rPr lang="uk-UA" sz="1200" noProof="0" dirty="0">
                <a:latin typeface="Open Sans" panose="020B0606030504020204" pitchFamily="34" charset="0"/>
                <a:ea typeface="Open Sans" panose="020B0606030504020204" pitchFamily="34" charset="0"/>
                <a:cs typeface="Open Sans" panose="020B0606030504020204" pitchFamily="34" charset="0"/>
              </a:rPr>
            </a:br>
            <a:r>
              <a:rPr lang="uk-UA" sz="1100" noProof="0" dirty="0">
                <a:latin typeface="Open Sans" panose="020B0606030504020204" pitchFamily="34" charset="0"/>
                <a:ea typeface="Open Sans" panose="020B0606030504020204" pitchFamily="34" charset="0"/>
                <a:cs typeface="Open Sans" panose="020B0606030504020204" pitchFamily="34" charset="0"/>
              </a:rPr>
              <a:t>для задач текстової аналітики (SEO-теги, описи, категоризація товарів) оптимальними є </a:t>
            </a:r>
            <a:r>
              <a:rPr lang="uk-UA" sz="1100" noProof="0" dirty="0" err="1">
                <a:latin typeface="Open Sans" panose="020B0606030504020204" pitchFamily="34" charset="0"/>
                <a:ea typeface="Open Sans" panose="020B0606030504020204" pitchFamily="34" charset="0"/>
                <a:cs typeface="Open Sans" panose="020B0606030504020204" pitchFamily="34" charset="0"/>
              </a:rPr>
              <a:t>Grok</a:t>
            </a:r>
            <a:r>
              <a:rPr lang="uk-UA" sz="1100" noProof="0" dirty="0">
                <a:latin typeface="Open Sans" panose="020B0606030504020204" pitchFamily="34" charset="0"/>
                <a:ea typeface="Open Sans" panose="020B0606030504020204" pitchFamily="34" charset="0"/>
                <a:cs typeface="Open Sans" panose="020B0606030504020204" pitchFamily="34" charset="0"/>
              </a:rPr>
              <a:t> та </a:t>
            </a:r>
            <a:r>
              <a:rPr lang="uk-UA" sz="1100" noProof="0" dirty="0" err="1">
                <a:latin typeface="Open Sans" panose="020B0606030504020204" pitchFamily="34" charset="0"/>
                <a:ea typeface="Open Sans" panose="020B0606030504020204" pitchFamily="34" charset="0"/>
                <a:cs typeface="Open Sans" panose="020B0606030504020204" pitchFamily="34" charset="0"/>
              </a:rPr>
              <a:t>DeepSeek</a:t>
            </a:r>
            <a:r>
              <a:rPr lang="uk-UA" sz="1100" noProof="0" dirty="0">
                <a:latin typeface="Open Sans" panose="020B0606030504020204" pitchFamily="34" charset="0"/>
                <a:ea typeface="Open Sans" panose="020B0606030504020204" pitchFamily="34" charset="0"/>
                <a:cs typeface="Open Sans" panose="020B0606030504020204" pitchFamily="34" charset="0"/>
              </a:rPr>
              <a:t>. </a:t>
            </a:r>
            <a:r>
              <a:rPr lang="uk-UA" sz="1100" noProof="0" dirty="0" err="1">
                <a:latin typeface="Open Sans" panose="020B0606030504020204" pitchFamily="34" charset="0"/>
                <a:ea typeface="Open Sans" panose="020B0606030504020204" pitchFamily="34" charset="0"/>
                <a:cs typeface="Open Sans" panose="020B0606030504020204" pitchFamily="34" charset="0"/>
              </a:rPr>
              <a:t>ChatGPT</a:t>
            </a:r>
            <a:r>
              <a:rPr lang="uk-UA" sz="1100" noProof="0" dirty="0">
                <a:latin typeface="Open Sans" panose="020B0606030504020204" pitchFamily="34" charset="0"/>
                <a:ea typeface="Open Sans" panose="020B0606030504020204" pitchFamily="34" charset="0"/>
                <a:cs typeface="Open Sans" panose="020B0606030504020204" pitchFamily="34" charset="0"/>
              </a:rPr>
              <a:t> — прийнятна альтернатива при обмеженому бюджеті на аналітику.</a:t>
            </a:r>
            <a:endParaRPr lang="uk-UA" sz="1200" noProof="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050870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A7F7A89E-A3C1-5CA3-C0E8-344EB9C80B92}"/>
            </a:ext>
          </a:extLst>
        </p:cNvPr>
        <p:cNvGrpSpPr/>
        <p:nvPr/>
      </p:nvGrpSpPr>
      <p:grpSpPr>
        <a:xfrm>
          <a:off x="0" y="0"/>
          <a:ext cx="0" cy="0"/>
          <a:chOff x="0" y="0"/>
          <a:chExt cx="0" cy="0"/>
        </a:xfrm>
      </p:grpSpPr>
      <p:sp>
        <p:nvSpPr>
          <p:cNvPr id="92" name="Google Shape;92;p17">
            <a:extLst>
              <a:ext uri="{FF2B5EF4-FFF2-40B4-BE49-F238E27FC236}">
                <a16:creationId xmlns:a16="http://schemas.microsoft.com/office/drawing/2014/main" id="{72156250-81E0-96E8-DF4A-527DB0383CBE}"/>
              </a:ext>
            </a:extLst>
          </p:cNvPr>
          <p:cNvSpPr txBox="1">
            <a:spLocks noGrp="1"/>
          </p:cNvSpPr>
          <p:nvPr>
            <p:ph type="title"/>
          </p:nvPr>
        </p:nvSpPr>
        <p:spPr>
          <a:xfrm>
            <a:off x="311700" y="86683"/>
            <a:ext cx="8520600" cy="890062"/>
          </a:xfrm>
          <a:prstGeom prst="rect">
            <a:avLst/>
          </a:prstGeom>
          <a:noFill/>
          <a:ln>
            <a:noFill/>
          </a:ln>
        </p:spPr>
        <p:txBody>
          <a:bodyPr spcFirstLastPara="1" wrap="square" lIns="91425" tIns="91425" rIns="91425" bIns="91425" anchor="b" anchorCtr="0">
            <a:normAutofit fontScale="90000"/>
          </a:bodyPr>
          <a:lstStyle/>
          <a:p>
            <a:r>
              <a:rPr lang="uk-UA" sz="3200" dirty="0">
                <a:latin typeface="Open Sans" panose="020B0606030504020204" pitchFamily="34" charset="0"/>
                <a:ea typeface="Open Sans" panose="020B0606030504020204" pitchFamily="34" charset="0"/>
                <a:cs typeface="Open Sans" panose="020B0606030504020204" pitchFamily="34" charset="0"/>
              </a:rPr>
              <a:t>Порівняння ШІ моделей за точністю структуризації</a:t>
            </a:r>
            <a:endParaRPr lang="uk-UA" sz="3200" noProof="0" dirty="0">
              <a:latin typeface="Open Sans" panose="020B0606030504020204" pitchFamily="34" charset="0"/>
              <a:ea typeface="Open Sans" panose="020B0606030504020204" pitchFamily="34" charset="0"/>
              <a:cs typeface="Open Sans" panose="020B0606030504020204" pitchFamily="34" charset="0"/>
            </a:endParaRPr>
          </a:p>
        </p:txBody>
      </p:sp>
      <p:pic>
        <p:nvPicPr>
          <p:cNvPr id="94" name="Google Shape;94;p17">
            <a:extLst>
              <a:ext uri="{FF2B5EF4-FFF2-40B4-BE49-F238E27FC236}">
                <a16:creationId xmlns:a16="http://schemas.microsoft.com/office/drawing/2014/main" id="{8EFF1B18-41C6-F60F-60ED-79F5B456A0F2}"/>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Номер слайда 1">
            <a:extLst>
              <a:ext uri="{FF2B5EF4-FFF2-40B4-BE49-F238E27FC236}">
                <a16:creationId xmlns:a16="http://schemas.microsoft.com/office/drawing/2014/main" id="{EA2F005E-2885-3736-093C-1684D60BD94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uk-UA" noProof="0" smtClean="0"/>
              <a:t>10</a:t>
            </a:fld>
            <a:endParaRPr lang="uk-UA" noProof="0" dirty="0"/>
          </a:p>
        </p:txBody>
      </p:sp>
      <p:sp>
        <p:nvSpPr>
          <p:cNvPr id="8" name="TextBox 7">
            <a:extLst>
              <a:ext uri="{FF2B5EF4-FFF2-40B4-BE49-F238E27FC236}">
                <a16:creationId xmlns:a16="http://schemas.microsoft.com/office/drawing/2014/main" id="{F88BC691-E304-85ED-D8CA-E00D44BB09ED}"/>
              </a:ext>
            </a:extLst>
          </p:cNvPr>
          <p:cNvSpPr txBox="1"/>
          <p:nvPr/>
        </p:nvSpPr>
        <p:spPr>
          <a:xfrm>
            <a:off x="5784273" y="1123797"/>
            <a:ext cx="3359727" cy="2769989"/>
          </a:xfrm>
          <a:prstGeom prst="rect">
            <a:avLst/>
          </a:prstGeom>
          <a:noFill/>
        </p:spPr>
        <p:txBody>
          <a:bodyPr wrap="square">
            <a:spAutoFit/>
          </a:bodyPr>
          <a:lstStyle/>
          <a:p>
            <a:pPr>
              <a:buNone/>
            </a:pPr>
            <a:r>
              <a:rPr lang="uk-UA" b="1" noProof="0" dirty="0">
                <a:latin typeface="Open Sans" panose="020B0606030504020204" pitchFamily="34" charset="0"/>
                <a:ea typeface="Open Sans" panose="020B0606030504020204" pitchFamily="34" charset="0"/>
                <a:cs typeface="Open Sans" panose="020B0606030504020204" pitchFamily="34" charset="0"/>
              </a:rPr>
              <a:t>Практичний ефект для e-</a:t>
            </a:r>
            <a:r>
              <a:rPr lang="uk-UA" b="1" noProof="0" dirty="0" err="1">
                <a:latin typeface="Open Sans" panose="020B0606030504020204" pitchFamily="34" charset="0"/>
                <a:ea typeface="Open Sans" panose="020B0606030504020204" pitchFamily="34" charset="0"/>
                <a:cs typeface="Open Sans" panose="020B0606030504020204" pitchFamily="34" charset="0"/>
              </a:rPr>
              <a:t>commerce</a:t>
            </a:r>
            <a:r>
              <a:rPr lang="uk-UA" b="1" noProof="0" dirty="0">
                <a:latin typeface="Open Sans" panose="020B0606030504020204" pitchFamily="34" charset="0"/>
                <a:ea typeface="Open Sans" panose="020B0606030504020204" pitchFamily="34" charset="0"/>
                <a:cs typeface="Open Sans" panose="020B0606030504020204" pitchFamily="34" charset="0"/>
              </a:rPr>
              <a:t> (10 000 записів товарів):</a:t>
            </a:r>
          </a:p>
          <a:p>
            <a:r>
              <a:rPr lang="uk-UA" sz="1100" noProof="0" dirty="0">
                <a:latin typeface="Open Sans" panose="020B0606030504020204" pitchFamily="34" charset="0"/>
                <a:ea typeface="Open Sans" panose="020B0606030504020204" pitchFamily="34" charset="0"/>
                <a:cs typeface="Open Sans" panose="020B0606030504020204" pitchFamily="34" charset="0"/>
              </a:rPr>
              <a:t>- DeepSeek-V3.2: 9 400 коректно структурованих записів</a:t>
            </a:r>
          </a:p>
          <a:p>
            <a:r>
              <a:rPr lang="uk-UA" sz="1200" noProof="0" dirty="0">
                <a:latin typeface="Open Sans" panose="020B0606030504020204" pitchFamily="34" charset="0"/>
                <a:ea typeface="Open Sans" panose="020B0606030504020204" pitchFamily="34" charset="0"/>
                <a:cs typeface="Open Sans" panose="020B0606030504020204" pitchFamily="34" charset="0"/>
              </a:rPr>
              <a:t>- </a:t>
            </a:r>
            <a:r>
              <a:rPr lang="uk-UA" sz="1200" noProof="0" dirty="0" err="1">
                <a:latin typeface="Open Sans" panose="020B0606030504020204" pitchFamily="34" charset="0"/>
                <a:ea typeface="Open Sans" panose="020B0606030504020204" pitchFamily="34" charset="0"/>
                <a:cs typeface="Open Sans" panose="020B0606030504020204" pitchFamily="34" charset="0"/>
              </a:rPr>
              <a:t>Claude</a:t>
            </a:r>
            <a:r>
              <a:rPr lang="uk-UA" sz="1200" noProof="0" dirty="0">
                <a:latin typeface="Open Sans" panose="020B0606030504020204" pitchFamily="34" charset="0"/>
                <a:ea typeface="Open Sans" panose="020B0606030504020204" pitchFamily="34" charset="0"/>
                <a:cs typeface="Open Sans" panose="020B0606030504020204" pitchFamily="34" charset="0"/>
              </a:rPr>
              <a:t> </a:t>
            </a:r>
            <a:r>
              <a:rPr lang="uk-UA" sz="1200" noProof="0" dirty="0" err="1">
                <a:latin typeface="Open Sans" panose="020B0606030504020204" pitchFamily="34" charset="0"/>
                <a:ea typeface="Open Sans" panose="020B0606030504020204" pitchFamily="34" charset="0"/>
                <a:cs typeface="Open Sans" panose="020B0606030504020204" pitchFamily="34" charset="0"/>
              </a:rPr>
              <a:t>Sonnet</a:t>
            </a:r>
            <a:r>
              <a:rPr lang="uk-UA" sz="1200" noProof="0" dirty="0">
                <a:latin typeface="Open Sans" panose="020B0606030504020204" pitchFamily="34" charset="0"/>
                <a:ea typeface="Open Sans" panose="020B0606030504020204" pitchFamily="34" charset="0"/>
                <a:cs typeface="Open Sans" panose="020B0606030504020204" pitchFamily="34" charset="0"/>
              </a:rPr>
              <a:t> 4.6: 9 200 записів</a:t>
            </a:r>
          </a:p>
          <a:p>
            <a:r>
              <a:rPr lang="uk-UA" sz="1200" noProof="0" dirty="0">
                <a:latin typeface="Open Sans" panose="020B0606030504020204" pitchFamily="34" charset="0"/>
                <a:ea typeface="Open Sans" panose="020B0606030504020204" pitchFamily="34" charset="0"/>
                <a:cs typeface="Open Sans" panose="020B0606030504020204" pitchFamily="34" charset="0"/>
              </a:rPr>
              <a:t>- </a:t>
            </a:r>
            <a:r>
              <a:rPr lang="uk-UA" sz="1200" noProof="0" dirty="0" err="1">
                <a:latin typeface="Open Sans" panose="020B0606030504020204" pitchFamily="34" charset="0"/>
                <a:ea typeface="Open Sans" panose="020B0606030504020204" pitchFamily="34" charset="0"/>
                <a:cs typeface="Open Sans" panose="020B0606030504020204" pitchFamily="34" charset="0"/>
              </a:rPr>
              <a:t>Grok</a:t>
            </a:r>
            <a:r>
              <a:rPr lang="uk-UA" sz="1200" noProof="0" dirty="0">
                <a:latin typeface="Open Sans" panose="020B0606030504020204" pitchFamily="34" charset="0"/>
                <a:ea typeface="Open Sans" panose="020B0606030504020204" pitchFamily="34" charset="0"/>
                <a:cs typeface="Open Sans" panose="020B0606030504020204" pitchFamily="34" charset="0"/>
              </a:rPr>
              <a:t> 4: 8 800 записів</a:t>
            </a:r>
          </a:p>
          <a:p>
            <a:r>
              <a:rPr lang="uk-UA" sz="1200" noProof="0" dirty="0">
                <a:latin typeface="Open Sans" panose="020B0606030504020204" pitchFamily="34" charset="0"/>
                <a:ea typeface="Open Sans" panose="020B0606030504020204" pitchFamily="34" charset="0"/>
                <a:cs typeface="Open Sans" panose="020B0606030504020204" pitchFamily="34" charset="0"/>
              </a:rPr>
              <a:t>- GPT-5.3: лише 5 900 записів + ризик масових помилок</a:t>
            </a:r>
          </a:p>
          <a:p>
            <a:r>
              <a:rPr lang="uk-UA" sz="1200" noProof="0" dirty="0">
                <a:latin typeface="Open Sans" panose="020B0606030504020204" pitchFamily="34" charset="0"/>
                <a:ea typeface="Open Sans" panose="020B0606030504020204" pitchFamily="34" charset="0"/>
                <a:cs typeface="Open Sans" panose="020B0606030504020204" pitchFamily="34" charset="0"/>
              </a:rPr>
              <a:t>- </a:t>
            </a:r>
            <a:r>
              <a:rPr lang="uk-UA" sz="1200" noProof="0" dirty="0" err="1">
                <a:latin typeface="Open Sans" panose="020B0606030504020204" pitchFamily="34" charset="0"/>
                <a:ea typeface="Open Sans" panose="020B0606030504020204" pitchFamily="34" charset="0"/>
                <a:cs typeface="Open Sans" panose="020B0606030504020204" pitchFamily="34" charset="0"/>
              </a:rPr>
              <a:t>Gemini</a:t>
            </a:r>
            <a:r>
              <a:rPr lang="uk-UA" sz="1200" noProof="0" dirty="0">
                <a:latin typeface="Open Sans" panose="020B0606030504020204" pitchFamily="34" charset="0"/>
                <a:ea typeface="Open Sans" panose="020B0606030504020204" pitchFamily="34" charset="0"/>
                <a:cs typeface="Open Sans" panose="020B0606030504020204" pitchFamily="34" charset="0"/>
              </a:rPr>
              <a:t> 3 </a:t>
            </a:r>
            <a:r>
              <a:rPr lang="uk-UA" sz="1200" noProof="0" dirty="0" err="1">
                <a:latin typeface="Open Sans" panose="020B0606030504020204" pitchFamily="34" charset="0"/>
                <a:ea typeface="Open Sans" panose="020B0606030504020204" pitchFamily="34" charset="0"/>
                <a:cs typeface="Open Sans" panose="020B0606030504020204" pitchFamily="34" charset="0"/>
              </a:rPr>
              <a:t>Flash</a:t>
            </a:r>
            <a:r>
              <a:rPr lang="uk-UA" sz="1200" noProof="0" dirty="0">
                <a:latin typeface="Open Sans" panose="020B0606030504020204" pitchFamily="34" charset="0"/>
                <a:ea typeface="Open Sans" panose="020B0606030504020204" pitchFamily="34" charset="0"/>
                <a:cs typeface="Open Sans" panose="020B0606030504020204" pitchFamily="34" charset="0"/>
              </a:rPr>
              <a:t>: лише 4 200 записів</a:t>
            </a:r>
          </a:p>
          <a:p>
            <a:pPr>
              <a:buNone/>
            </a:pPr>
            <a:r>
              <a:rPr lang="uk-UA" b="1" noProof="0" dirty="0">
                <a:latin typeface="Open Sans" panose="020B0606030504020204" pitchFamily="34" charset="0"/>
                <a:ea typeface="Open Sans" panose="020B0606030504020204" pitchFamily="34" charset="0"/>
                <a:cs typeface="Open Sans" panose="020B0606030504020204" pitchFamily="34" charset="0"/>
              </a:rPr>
              <a:t>Висновок: </a:t>
            </a:r>
          </a:p>
          <a:p>
            <a:pPr>
              <a:buNone/>
            </a:pPr>
            <a:r>
              <a:rPr lang="uk-UA" sz="1200" noProof="0" dirty="0">
                <a:latin typeface="Open Sans" panose="020B0606030504020204" pitchFamily="34" charset="0"/>
                <a:ea typeface="Open Sans" panose="020B0606030504020204" pitchFamily="34" charset="0"/>
                <a:cs typeface="Open Sans" panose="020B0606030504020204" pitchFamily="34" charset="0"/>
              </a:rPr>
              <a:t>для задач структуризації даних у реляційну схему оптимальними є DeepSeek-V3.2 та </a:t>
            </a:r>
            <a:r>
              <a:rPr lang="uk-UA" sz="1200" noProof="0" dirty="0" err="1">
                <a:latin typeface="Open Sans" panose="020B0606030504020204" pitchFamily="34" charset="0"/>
                <a:ea typeface="Open Sans" panose="020B0606030504020204" pitchFamily="34" charset="0"/>
                <a:cs typeface="Open Sans" panose="020B0606030504020204" pitchFamily="34" charset="0"/>
              </a:rPr>
              <a:t>Claude</a:t>
            </a:r>
            <a:r>
              <a:rPr lang="uk-UA" sz="1200" noProof="0" dirty="0">
                <a:latin typeface="Open Sans" panose="020B0606030504020204" pitchFamily="34" charset="0"/>
                <a:ea typeface="Open Sans" panose="020B0606030504020204" pitchFamily="34" charset="0"/>
                <a:cs typeface="Open Sans" panose="020B0606030504020204" pitchFamily="34" charset="0"/>
              </a:rPr>
              <a:t> </a:t>
            </a:r>
            <a:r>
              <a:rPr lang="uk-UA" sz="1200" noProof="0" dirty="0" err="1">
                <a:latin typeface="Open Sans" panose="020B0606030504020204" pitchFamily="34" charset="0"/>
                <a:ea typeface="Open Sans" panose="020B0606030504020204" pitchFamily="34" charset="0"/>
                <a:cs typeface="Open Sans" panose="020B0606030504020204" pitchFamily="34" charset="0"/>
              </a:rPr>
              <a:t>Sonnet</a:t>
            </a:r>
            <a:r>
              <a:rPr lang="uk-UA" sz="1200" noProof="0" dirty="0">
                <a:latin typeface="Open Sans" panose="020B0606030504020204" pitchFamily="34" charset="0"/>
                <a:ea typeface="Open Sans" panose="020B0606030504020204" pitchFamily="34" charset="0"/>
                <a:cs typeface="Open Sans" panose="020B0606030504020204" pitchFamily="34" charset="0"/>
              </a:rPr>
              <a:t> 4.6. </a:t>
            </a:r>
          </a:p>
        </p:txBody>
      </p:sp>
      <p:graphicFrame>
        <p:nvGraphicFramePr>
          <p:cNvPr id="5" name="Table 4">
            <a:extLst>
              <a:ext uri="{FF2B5EF4-FFF2-40B4-BE49-F238E27FC236}">
                <a16:creationId xmlns:a16="http://schemas.microsoft.com/office/drawing/2014/main" id="{13A32C23-3513-363B-A3BF-2FF7A79C0FBB}"/>
              </a:ext>
            </a:extLst>
          </p:cNvPr>
          <p:cNvGraphicFramePr>
            <a:graphicFrameLocks noGrp="1"/>
          </p:cNvGraphicFramePr>
          <p:nvPr>
            <p:extLst>
              <p:ext uri="{D42A27DB-BD31-4B8C-83A1-F6EECF244321}">
                <p14:modId xmlns:p14="http://schemas.microsoft.com/office/powerpoint/2010/main" val="3872499692"/>
              </p:ext>
            </p:extLst>
          </p:nvPr>
        </p:nvGraphicFramePr>
        <p:xfrm>
          <a:off x="62519" y="976745"/>
          <a:ext cx="5721754" cy="2953790"/>
        </p:xfrm>
        <a:graphic>
          <a:graphicData uri="http://schemas.openxmlformats.org/drawingml/2006/table">
            <a:tbl>
              <a:tblPr firstRow="1" firstCol="1" bandRow="1">
                <a:tableStyleId>{5C22544A-7EE6-4342-B048-85BDC9FD1C3A}</a:tableStyleId>
              </a:tblPr>
              <a:tblGrid>
                <a:gridCol w="1355117">
                  <a:extLst>
                    <a:ext uri="{9D8B030D-6E8A-4147-A177-3AD203B41FA5}">
                      <a16:colId xmlns:a16="http://schemas.microsoft.com/office/drawing/2014/main" val="1592370077"/>
                    </a:ext>
                  </a:extLst>
                </a:gridCol>
                <a:gridCol w="972273">
                  <a:extLst>
                    <a:ext uri="{9D8B030D-6E8A-4147-A177-3AD203B41FA5}">
                      <a16:colId xmlns:a16="http://schemas.microsoft.com/office/drawing/2014/main" val="2294965400"/>
                    </a:ext>
                  </a:extLst>
                </a:gridCol>
                <a:gridCol w="997527">
                  <a:extLst>
                    <a:ext uri="{9D8B030D-6E8A-4147-A177-3AD203B41FA5}">
                      <a16:colId xmlns:a16="http://schemas.microsoft.com/office/drawing/2014/main" val="829716178"/>
                    </a:ext>
                  </a:extLst>
                </a:gridCol>
                <a:gridCol w="1033091">
                  <a:extLst>
                    <a:ext uri="{9D8B030D-6E8A-4147-A177-3AD203B41FA5}">
                      <a16:colId xmlns:a16="http://schemas.microsoft.com/office/drawing/2014/main" val="3717286395"/>
                    </a:ext>
                  </a:extLst>
                </a:gridCol>
                <a:gridCol w="1363746">
                  <a:extLst>
                    <a:ext uri="{9D8B030D-6E8A-4147-A177-3AD203B41FA5}">
                      <a16:colId xmlns:a16="http://schemas.microsoft.com/office/drawing/2014/main" val="608584153"/>
                    </a:ext>
                  </a:extLst>
                </a:gridCol>
              </a:tblGrid>
              <a:tr h="423960">
                <a:tc>
                  <a:txBody>
                    <a:bodyPr/>
                    <a:lstStyle/>
                    <a:p>
                      <a:pPr algn="jus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 Модель</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Дата-сет №1</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Дата-сет №2</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Дата-сет №3</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Середня точність</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3489436978"/>
                  </a:ext>
                </a:extLst>
              </a:tr>
              <a:tr h="542872">
                <a:tc>
                  <a:txBody>
                    <a:bodyPr/>
                    <a:lstStyle/>
                    <a:p>
                      <a:pPr algn="l">
                        <a:buNone/>
                      </a:pPr>
                      <a:r>
                        <a:rPr lang="en-US" sz="1400" noProof="0" dirty="0">
                          <a:effectLst/>
                          <a:latin typeface="Open Sans" panose="020B0606030504020204" pitchFamily="34" charset="0"/>
                          <a:ea typeface="Open Sans" panose="020B0606030504020204" pitchFamily="34" charset="0"/>
                          <a:cs typeface="Open Sans" panose="020B0606030504020204" pitchFamily="34" charset="0"/>
                        </a:rPr>
                        <a:t>GPT-5.3</a:t>
                      </a:r>
                      <a:endParaRPr lang="uk-UA" sz="14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indent="180340" algn="ctr">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1</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indent="180340" algn="ctr">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0,02</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indent="180340" algn="ctr">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0,75</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indent="180340" algn="ctr">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0,59</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extLst>
                  <a:ext uri="{0D108BD9-81ED-4DB2-BD59-A6C34878D82A}">
                    <a16:rowId xmlns:a16="http://schemas.microsoft.com/office/drawing/2014/main" val="203398931"/>
                  </a:ext>
                </a:extLst>
              </a:tr>
              <a:tr h="6359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uk-UA" sz="1400" noProof="0" dirty="0" err="1">
                          <a:effectLst/>
                          <a:latin typeface="Open Sans" panose="020B0606030504020204" pitchFamily="34" charset="0"/>
                          <a:ea typeface="Open Sans" panose="020B0606030504020204" pitchFamily="34" charset="0"/>
                          <a:cs typeface="Open Sans" panose="020B0606030504020204" pitchFamily="34" charset="0"/>
                        </a:rPr>
                        <a:t>Gemini</a:t>
                      </a:r>
                      <a:r>
                        <a:rPr lang="uk-UA" sz="1400" noProof="0" dirty="0">
                          <a:effectLst/>
                          <a:latin typeface="Open Sans" panose="020B0606030504020204" pitchFamily="34" charset="0"/>
                          <a:ea typeface="Open Sans" panose="020B0606030504020204" pitchFamily="34" charset="0"/>
                          <a:cs typeface="Open Sans" panose="020B0606030504020204" pitchFamily="34" charset="0"/>
                        </a:rPr>
                        <a:t> 3 </a:t>
                      </a:r>
                      <a:r>
                        <a:rPr lang="uk-UA" sz="1400" noProof="0" dirty="0" err="1">
                          <a:effectLst/>
                          <a:latin typeface="Open Sans" panose="020B0606030504020204" pitchFamily="34" charset="0"/>
                          <a:ea typeface="Open Sans" panose="020B0606030504020204" pitchFamily="34" charset="0"/>
                          <a:cs typeface="Open Sans" panose="020B0606030504020204" pitchFamily="34" charset="0"/>
                        </a:rPr>
                        <a:t>Flash</a:t>
                      </a:r>
                      <a:endParaRPr lang="uk-UA" sz="1400" noProof="0" dirty="0">
                        <a:effectLst/>
                        <a:latin typeface="Open Sans" panose="020B0606030504020204" pitchFamily="34" charset="0"/>
                        <a:ea typeface="Open Sans" panose="020B0606030504020204" pitchFamily="34" charset="0"/>
                        <a:cs typeface="Open Sans" panose="020B0606030504020204" pitchFamily="34" charset="0"/>
                      </a:endParaRPr>
                    </a:p>
                    <a:p>
                      <a:pPr algn="l">
                        <a:buNone/>
                      </a:pPr>
                      <a:endParaRPr lang="uk-UA" sz="14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indent="180340" algn="ctr">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0,48</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indent="180340" algn="ctr">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0,23</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indent="180340" algn="ctr">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0,56</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indent="180340" algn="ctr">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0,42</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extLst>
                  <a:ext uri="{0D108BD9-81ED-4DB2-BD59-A6C34878D82A}">
                    <a16:rowId xmlns:a16="http://schemas.microsoft.com/office/drawing/2014/main" val="3462528680"/>
                  </a:ext>
                </a:extLst>
              </a:tr>
              <a:tr h="70403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uk-UA" sz="1400" noProof="0" dirty="0" err="1">
                          <a:effectLst/>
                          <a:latin typeface="Open Sans" panose="020B0606030504020204" pitchFamily="34" charset="0"/>
                          <a:ea typeface="Open Sans" panose="020B0606030504020204" pitchFamily="34" charset="0"/>
                          <a:cs typeface="Open Sans" panose="020B0606030504020204" pitchFamily="34" charset="0"/>
                        </a:rPr>
                        <a:t>Claude</a:t>
                      </a:r>
                      <a:r>
                        <a:rPr lang="uk-UA" sz="1400" noProof="0" dirty="0">
                          <a:effectLst/>
                          <a:latin typeface="Open Sans" panose="020B0606030504020204" pitchFamily="34" charset="0"/>
                          <a:ea typeface="Open Sans" panose="020B0606030504020204" pitchFamily="34" charset="0"/>
                          <a:cs typeface="Open Sans" panose="020B0606030504020204" pitchFamily="34" charset="0"/>
                        </a:rPr>
                        <a:t> </a:t>
                      </a:r>
                      <a:r>
                        <a:rPr lang="uk-UA" sz="1400" noProof="0" dirty="0" err="1">
                          <a:effectLst/>
                          <a:latin typeface="Open Sans" panose="020B0606030504020204" pitchFamily="34" charset="0"/>
                          <a:ea typeface="Open Sans" panose="020B0606030504020204" pitchFamily="34" charset="0"/>
                          <a:cs typeface="Open Sans" panose="020B0606030504020204" pitchFamily="34" charset="0"/>
                        </a:rPr>
                        <a:t>Sonnet</a:t>
                      </a:r>
                      <a:r>
                        <a:rPr lang="uk-UA" sz="1400" noProof="0" dirty="0">
                          <a:effectLst/>
                          <a:latin typeface="Open Sans" panose="020B0606030504020204" pitchFamily="34" charset="0"/>
                          <a:ea typeface="Open Sans" panose="020B0606030504020204" pitchFamily="34" charset="0"/>
                          <a:cs typeface="Open Sans" panose="020B0606030504020204" pitchFamily="34" charset="0"/>
                        </a:rPr>
                        <a:t> 4.6</a:t>
                      </a:r>
                    </a:p>
                    <a:p>
                      <a:pPr algn="l">
                        <a:buNone/>
                      </a:pPr>
                      <a:endParaRPr lang="uk-UA" sz="14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indent="180340" algn="ctr">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1</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indent="180340" algn="ctr">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0,87</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indent="180340" algn="ctr">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0,91</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indent="180340" algn="ctr">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0,92</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extLst>
                  <a:ext uri="{0D108BD9-81ED-4DB2-BD59-A6C34878D82A}">
                    <a16:rowId xmlns:a16="http://schemas.microsoft.com/office/drawing/2014/main" val="4080087997"/>
                  </a:ext>
                </a:extLst>
              </a:tr>
              <a:tr h="6359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DeepSeek-V3.2</a:t>
                      </a:r>
                    </a:p>
                    <a:p>
                      <a:pPr algn="l">
                        <a:buNone/>
                      </a:pPr>
                      <a:endParaRPr lang="uk-UA" sz="14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indent="180340" algn="ctr">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1</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indent="180340" algn="ctr">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0,78</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indent="180340" algn="ctr">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0,86</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indent="180340" algn="ctr">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0,88</a:t>
                      </a:r>
                      <a:endParaRPr lang="uk-UA" sz="12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extLst>
                  <a:ext uri="{0D108BD9-81ED-4DB2-BD59-A6C34878D82A}">
                    <a16:rowId xmlns:a16="http://schemas.microsoft.com/office/drawing/2014/main" val="3631188435"/>
                  </a:ext>
                </a:extLst>
              </a:tr>
            </a:tbl>
          </a:graphicData>
        </a:graphic>
      </p:graphicFrame>
    </p:spTree>
    <p:extLst>
      <p:ext uri="{BB962C8B-B14F-4D97-AF65-F5344CB8AC3E}">
        <p14:creationId xmlns:p14="http://schemas.microsoft.com/office/powerpoint/2010/main" val="2927624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D727BEA7-864F-5F2A-AE56-E603D6A52702}"/>
            </a:ext>
          </a:extLst>
        </p:cNvPr>
        <p:cNvGrpSpPr/>
        <p:nvPr/>
      </p:nvGrpSpPr>
      <p:grpSpPr>
        <a:xfrm>
          <a:off x="0" y="0"/>
          <a:ext cx="0" cy="0"/>
          <a:chOff x="0" y="0"/>
          <a:chExt cx="0" cy="0"/>
        </a:xfrm>
      </p:grpSpPr>
      <p:sp>
        <p:nvSpPr>
          <p:cNvPr id="92" name="Google Shape;92;p17">
            <a:extLst>
              <a:ext uri="{FF2B5EF4-FFF2-40B4-BE49-F238E27FC236}">
                <a16:creationId xmlns:a16="http://schemas.microsoft.com/office/drawing/2014/main" id="{EFA601A9-5764-CEE1-07C9-F20CA8E5E6AF}"/>
              </a:ext>
            </a:extLst>
          </p:cNvPr>
          <p:cNvSpPr txBox="1">
            <a:spLocks noGrp="1"/>
          </p:cNvSpPr>
          <p:nvPr>
            <p:ph type="title"/>
          </p:nvPr>
        </p:nvSpPr>
        <p:spPr>
          <a:xfrm>
            <a:off x="311700" y="86683"/>
            <a:ext cx="8520600" cy="893147"/>
          </a:xfrm>
          <a:prstGeom prst="rect">
            <a:avLst/>
          </a:prstGeom>
          <a:noFill/>
          <a:ln>
            <a:noFill/>
          </a:ln>
        </p:spPr>
        <p:txBody>
          <a:bodyPr spcFirstLastPara="1" wrap="square" lIns="91425" tIns="91425" rIns="91425" bIns="91425" anchor="b" anchorCtr="0">
            <a:normAutofit fontScale="90000"/>
          </a:bodyPr>
          <a:lstStyle/>
          <a:p>
            <a:r>
              <a:rPr lang="uk-UA" sz="3200" noProof="0" dirty="0">
                <a:latin typeface="Open Sans" panose="020B0606030504020204" pitchFamily="34" charset="0"/>
                <a:ea typeface="Open Sans" panose="020B0606030504020204" pitchFamily="34" charset="0"/>
                <a:cs typeface="Open Sans" panose="020B0606030504020204" pitchFamily="34" charset="0"/>
              </a:rPr>
              <a:t>Нормалізовані показники ваги критеріїв моделей ШІ</a:t>
            </a:r>
          </a:p>
        </p:txBody>
      </p:sp>
      <p:pic>
        <p:nvPicPr>
          <p:cNvPr id="94" name="Google Shape;94;p17">
            <a:extLst>
              <a:ext uri="{FF2B5EF4-FFF2-40B4-BE49-F238E27FC236}">
                <a16:creationId xmlns:a16="http://schemas.microsoft.com/office/drawing/2014/main" id="{7C774358-A751-FCB9-09C6-B60096DC9C0D}"/>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Номер слайда 1">
            <a:extLst>
              <a:ext uri="{FF2B5EF4-FFF2-40B4-BE49-F238E27FC236}">
                <a16:creationId xmlns:a16="http://schemas.microsoft.com/office/drawing/2014/main" id="{DACBDF8B-7877-CB11-97D9-35046B49EDB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uk-UA" noProof="0" smtClean="0"/>
              <a:t>11</a:t>
            </a:fld>
            <a:endParaRPr lang="uk-UA" noProof="0" dirty="0"/>
          </a:p>
        </p:txBody>
      </p:sp>
      <p:graphicFrame>
        <p:nvGraphicFramePr>
          <p:cNvPr id="4" name="Table 3">
            <a:extLst>
              <a:ext uri="{FF2B5EF4-FFF2-40B4-BE49-F238E27FC236}">
                <a16:creationId xmlns:a16="http://schemas.microsoft.com/office/drawing/2014/main" id="{32F6D70A-0C2E-51DC-102A-CD0344839092}"/>
              </a:ext>
            </a:extLst>
          </p:cNvPr>
          <p:cNvGraphicFramePr>
            <a:graphicFrameLocks noGrp="1"/>
          </p:cNvGraphicFramePr>
          <p:nvPr>
            <p:extLst>
              <p:ext uri="{D42A27DB-BD31-4B8C-83A1-F6EECF244321}">
                <p14:modId xmlns:p14="http://schemas.microsoft.com/office/powerpoint/2010/main" val="8316149"/>
              </p:ext>
            </p:extLst>
          </p:nvPr>
        </p:nvGraphicFramePr>
        <p:xfrm>
          <a:off x="311700" y="1043012"/>
          <a:ext cx="8520599" cy="2863967"/>
        </p:xfrm>
        <a:graphic>
          <a:graphicData uri="http://schemas.openxmlformats.org/drawingml/2006/table">
            <a:tbl>
              <a:tblPr firstRow="1" firstCol="1" bandRow="1">
                <a:tableStyleId>{5C22544A-7EE6-4342-B048-85BDC9FD1C3A}</a:tableStyleId>
              </a:tblPr>
              <a:tblGrid>
                <a:gridCol w="2840200">
                  <a:extLst>
                    <a:ext uri="{9D8B030D-6E8A-4147-A177-3AD203B41FA5}">
                      <a16:colId xmlns:a16="http://schemas.microsoft.com/office/drawing/2014/main" val="1472883555"/>
                    </a:ext>
                  </a:extLst>
                </a:gridCol>
                <a:gridCol w="1362167">
                  <a:extLst>
                    <a:ext uri="{9D8B030D-6E8A-4147-A177-3AD203B41FA5}">
                      <a16:colId xmlns:a16="http://schemas.microsoft.com/office/drawing/2014/main" val="1949143768"/>
                    </a:ext>
                  </a:extLst>
                </a:gridCol>
                <a:gridCol w="4318232">
                  <a:extLst>
                    <a:ext uri="{9D8B030D-6E8A-4147-A177-3AD203B41FA5}">
                      <a16:colId xmlns:a16="http://schemas.microsoft.com/office/drawing/2014/main" val="2195411695"/>
                    </a:ext>
                  </a:extLst>
                </a:gridCol>
              </a:tblGrid>
              <a:tr h="801360">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Критерій</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Вага (визначена самостійно)</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Обґрунтування</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743144902"/>
                  </a:ext>
                </a:extLst>
              </a:tr>
              <a:tr h="528521">
                <a:tc>
                  <a:txBody>
                    <a:bodyPr/>
                    <a:lstStyle/>
                    <a:p>
                      <a:pPr algn="l">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Точність результату</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0.35</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Найважливіший критерій – визначає якість отриманих даних</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extLst>
                  <a:ext uri="{0D108BD9-81ED-4DB2-BD59-A6C34878D82A}">
                    <a16:rowId xmlns:a16="http://schemas.microsoft.com/office/drawing/2014/main" val="4110380221"/>
                  </a:ext>
                </a:extLst>
              </a:tr>
              <a:tr h="255681">
                <a:tc>
                  <a:txBody>
                    <a:bodyPr/>
                    <a:lstStyle/>
                    <a:p>
                      <a:pPr algn="l">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Швидкість обробки</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0.25</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Важлива для обробки великих обсягів даних</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extLst>
                  <a:ext uri="{0D108BD9-81ED-4DB2-BD59-A6C34878D82A}">
                    <a16:rowId xmlns:a16="http://schemas.microsoft.com/office/drawing/2014/main" val="866194877"/>
                  </a:ext>
                </a:extLst>
              </a:tr>
              <a:tr h="255681">
                <a:tc>
                  <a:txBody>
                    <a:bodyPr/>
                    <a:lstStyle/>
                    <a:p>
                      <a:pPr algn="l">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Вартість запиту</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0.15</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Впливає на економічну ефективність системи</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extLst>
                  <a:ext uri="{0D108BD9-81ED-4DB2-BD59-A6C34878D82A}">
                    <a16:rowId xmlns:a16="http://schemas.microsoft.com/office/drawing/2014/main" val="4038430323"/>
                  </a:ext>
                </a:extLst>
              </a:tr>
              <a:tr h="255681">
                <a:tc>
                  <a:txBody>
                    <a:bodyPr/>
                    <a:lstStyle/>
                    <a:p>
                      <a:pPr algn="l">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Доступність API</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0.10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Необхідна для інтеграції</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extLst>
                  <a:ext uri="{0D108BD9-81ED-4DB2-BD59-A6C34878D82A}">
                    <a16:rowId xmlns:a16="http://schemas.microsoft.com/office/drawing/2014/main" val="2895703212"/>
                  </a:ext>
                </a:extLst>
              </a:tr>
              <a:tr h="255681">
                <a:tc>
                  <a:txBody>
                    <a:bodyPr/>
                    <a:lstStyle/>
                    <a:p>
                      <a:pPr algn="l">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Локальне розгортання</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0.05</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Додаткова опція для автономності</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extLst>
                  <a:ext uri="{0D108BD9-81ED-4DB2-BD59-A6C34878D82A}">
                    <a16:rowId xmlns:a16="http://schemas.microsoft.com/office/drawing/2014/main" val="2112148552"/>
                  </a:ext>
                </a:extLst>
              </a:tr>
              <a:tr h="255681">
                <a:tc>
                  <a:txBody>
                    <a:bodyPr/>
                    <a:lstStyle/>
                    <a:p>
                      <a:pPr algn="l">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Контекстні запити</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0.10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Важлива для аналізу складних сторінок</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extLst>
                  <a:ext uri="{0D108BD9-81ED-4DB2-BD59-A6C34878D82A}">
                    <a16:rowId xmlns:a16="http://schemas.microsoft.com/office/drawing/2014/main" val="2109922697"/>
                  </a:ext>
                </a:extLst>
              </a:tr>
              <a:tr h="255681">
                <a:tc>
                  <a:txBody>
                    <a:bodyPr/>
                    <a:lstStyle/>
                    <a:p>
                      <a:pPr algn="l">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Сума</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1.00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 </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extLst>
                  <a:ext uri="{0D108BD9-81ED-4DB2-BD59-A6C34878D82A}">
                    <a16:rowId xmlns:a16="http://schemas.microsoft.com/office/drawing/2014/main" val="2860036130"/>
                  </a:ext>
                </a:extLst>
              </a:tr>
            </a:tbl>
          </a:graphicData>
        </a:graphic>
      </p:graphicFrame>
    </p:spTree>
    <p:extLst>
      <p:ext uri="{BB962C8B-B14F-4D97-AF65-F5344CB8AC3E}">
        <p14:creationId xmlns:p14="http://schemas.microsoft.com/office/powerpoint/2010/main" val="2000162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5F93DDD6-10AE-2D92-C019-01EF5A027EC3}"/>
            </a:ext>
          </a:extLst>
        </p:cNvPr>
        <p:cNvGrpSpPr/>
        <p:nvPr/>
      </p:nvGrpSpPr>
      <p:grpSpPr>
        <a:xfrm>
          <a:off x="0" y="0"/>
          <a:ext cx="0" cy="0"/>
          <a:chOff x="0" y="0"/>
          <a:chExt cx="0" cy="0"/>
        </a:xfrm>
      </p:grpSpPr>
      <p:sp>
        <p:nvSpPr>
          <p:cNvPr id="92" name="Google Shape;92;p17">
            <a:extLst>
              <a:ext uri="{FF2B5EF4-FFF2-40B4-BE49-F238E27FC236}">
                <a16:creationId xmlns:a16="http://schemas.microsoft.com/office/drawing/2014/main" id="{8C7AF8D1-D6F0-AC0E-4F2A-71580823F5DF}"/>
              </a:ext>
            </a:extLst>
          </p:cNvPr>
          <p:cNvSpPr txBox="1">
            <a:spLocks noGrp="1"/>
          </p:cNvSpPr>
          <p:nvPr>
            <p:ph type="title"/>
          </p:nvPr>
        </p:nvSpPr>
        <p:spPr>
          <a:xfrm>
            <a:off x="311700" y="263769"/>
            <a:ext cx="8520600" cy="920795"/>
          </a:xfrm>
          <a:prstGeom prst="rect">
            <a:avLst/>
          </a:prstGeom>
          <a:noFill/>
          <a:ln>
            <a:noFill/>
          </a:ln>
        </p:spPr>
        <p:txBody>
          <a:bodyPr spcFirstLastPara="1" wrap="square" lIns="91425" tIns="91425" rIns="91425" bIns="91425" anchor="b" anchorCtr="0">
            <a:normAutofit fontScale="90000"/>
          </a:bodyPr>
          <a:lstStyle/>
          <a:p>
            <a:r>
              <a:rPr lang="uk-UA" sz="3200" noProof="0" dirty="0">
                <a:latin typeface="Open Sans" panose="020B0606030504020204" pitchFamily="34" charset="0"/>
                <a:ea typeface="Open Sans" panose="020B0606030504020204" pitchFamily="34" charset="0"/>
                <a:cs typeface="Open Sans" panose="020B0606030504020204" pitchFamily="34" charset="0"/>
              </a:rPr>
              <a:t>Нормалізовані значення критеріїв для моделей ШІ</a:t>
            </a:r>
          </a:p>
        </p:txBody>
      </p:sp>
      <p:pic>
        <p:nvPicPr>
          <p:cNvPr id="94" name="Google Shape;94;p17">
            <a:extLst>
              <a:ext uri="{FF2B5EF4-FFF2-40B4-BE49-F238E27FC236}">
                <a16:creationId xmlns:a16="http://schemas.microsoft.com/office/drawing/2014/main" id="{0C75864E-0047-0663-2B40-5E3E4C8881FA}"/>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Номер слайда 1">
            <a:extLst>
              <a:ext uri="{FF2B5EF4-FFF2-40B4-BE49-F238E27FC236}">
                <a16:creationId xmlns:a16="http://schemas.microsoft.com/office/drawing/2014/main" id="{0DF1F37A-E424-F1E3-9FC8-90FC54AF3C6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uk-UA" noProof="0" smtClean="0"/>
              <a:t>12</a:t>
            </a:fld>
            <a:endParaRPr lang="uk-UA" noProof="0" dirty="0"/>
          </a:p>
        </p:txBody>
      </p:sp>
      <p:graphicFrame>
        <p:nvGraphicFramePr>
          <p:cNvPr id="5" name="Table 4">
            <a:extLst>
              <a:ext uri="{FF2B5EF4-FFF2-40B4-BE49-F238E27FC236}">
                <a16:creationId xmlns:a16="http://schemas.microsoft.com/office/drawing/2014/main" id="{E65806B4-620F-394E-F4AF-68DFD00704EC}"/>
              </a:ext>
            </a:extLst>
          </p:cNvPr>
          <p:cNvGraphicFramePr>
            <a:graphicFrameLocks noGrp="1"/>
          </p:cNvGraphicFramePr>
          <p:nvPr>
            <p:extLst>
              <p:ext uri="{D42A27DB-BD31-4B8C-83A1-F6EECF244321}">
                <p14:modId xmlns:p14="http://schemas.microsoft.com/office/powerpoint/2010/main" val="3691836270"/>
              </p:ext>
            </p:extLst>
          </p:nvPr>
        </p:nvGraphicFramePr>
        <p:xfrm>
          <a:off x="179287" y="1331244"/>
          <a:ext cx="5885541" cy="2700432"/>
        </p:xfrm>
        <a:graphic>
          <a:graphicData uri="http://schemas.openxmlformats.org/drawingml/2006/table">
            <a:tbl>
              <a:tblPr firstRow="1" firstCol="1" bandRow="1">
                <a:tableStyleId>{5C22544A-7EE6-4342-B048-85BDC9FD1C3A}</a:tableStyleId>
              </a:tblPr>
              <a:tblGrid>
                <a:gridCol w="1199240">
                  <a:extLst>
                    <a:ext uri="{9D8B030D-6E8A-4147-A177-3AD203B41FA5}">
                      <a16:colId xmlns:a16="http://schemas.microsoft.com/office/drawing/2014/main" val="2771544943"/>
                    </a:ext>
                  </a:extLst>
                </a:gridCol>
                <a:gridCol w="942109">
                  <a:extLst>
                    <a:ext uri="{9D8B030D-6E8A-4147-A177-3AD203B41FA5}">
                      <a16:colId xmlns:a16="http://schemas.microsoft.com/office/drawing/2014/main" val="3087695819"/>
                    </a:ext>
                  </a:extLst>
                </a:gridCol>
                <a:gridCol w="762000">
                  <a:extLst>
                    <a:ext uri="{9D8B030D-6E8A-4147-A177-3AD203B41FA5}">
                      <a16:colId xmlns:a16="http://schemas.microsoft.com/office/drawing/2014/main" val="2766387573"/>
                    </a:ext>
                  </a:extLst>
                </a:gridCol>
                <a:gridCol w="1018309">
                  <a:extLst>
                    <a:ext uri="{9D8B030D-6E8A-4147-A177-3AD203B41FA5}">
                      <a16:colId xmlns:a16="http://schemas.microsoft.com/office/drawing/2014/main" val="697711479"/>
                    </a:ext>
                  </a:extLst>
                </a:gridCol>
                <a:gridCol w="982654">
                  <a:extLst>
                    <a:ext uri="{9D8B030D-6E8A-4147-A177-3AD203B41FA5}">
                      <a16:colId xmlns:a16="http://schemas.microsoft.com/office/drawing/2014/main" val="1529922381"/>
                    </a:ext>
                  </a:extLst>
                </a:gridCol>
                <a:gridCol w="981229">
                  <a:extLst>
                    <a:ext uri="{9D8B030D-6E8A-4147-A177-3AD203B41FA5}">
                      <a16:colId xmlns:a16="http://schemas.microsoft.com/office/drawing/2014/main" val="3833140645"/>
                    </a:ext>
                  </a:extLst>
                </a:gridCol>
              </a:tblGrid>
              <a:tr h="565077">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Критерій / Модель</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15000"/>
                        </a:lnSpc>
                        <a:spcAft>
                          <a:spcPts val="1000"/>
                        </a:spcAft>
                        <a:buNone/>
                      </a:pPr>
                      <a:r>
                        <a:rPr lang="uk-UA" sz="1400" noProof="0" dirty="0" err="1">
                          <a:effectLst/>
                          <a:latin typeface="Open Sans" panose="020B0606030504020204" pitchFamily="34" charset="0"/>
                          <a:ea typeface="Open Sans" panose="020B0606030504020204" pitchFamily="34" charset="0"/>
                          <a:cs typeface="Open Sans" panose="020B0606030504020204" pitchFamily="34" charset="0"/>
                        </a:rPr>
                        <a:t>ChatGPT</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15000"/>
                        </a:lnSpc>
                        <a:spcAft>
                          <a:spcPts val="1000"/>
                        </a:spcAft>
                        <a:buNone/>
                      </a:pPr>
                      <a:r>
                        <a:rPr lang="uk-UA" sz="1400" noProof="0" dirty="0" err="1">
                          <a:effectLst/>
                          <a:latin typeface="Open Sans" panose="020B0606030504020204" pitchFamily="34" charset="0"/>
                          <a:ea typeface="Open Sans" panose="020B0606030504020204" pitchFamily="34" charset="0"/>
                          <a:cs typeface="Open Sans" panose="020B0606030504020204" pitchFamily="34" charset="0"/>
                        </a:rPr>
                        <a:t>Claude</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15000"/>
                        </a:lnSpc>
                        <a:spcAft>
                          <a:spcPts val="1000"/>
                        </a:spcAft>
                        <a:buNone/>
                      </a:pPr>
                      <a:r>
                        <a:rPr lang="uk-UA" sz="1400" noProof="0" dirty="0" err="1">
                          <a:effectLst/>
                          <a:latin typeface="Open Sans" panose="020B0606030504020204" pitchFamily="34" charset="0"/>
                          <a:ea typeface="Open Sans" panose="020B0606030504020204" pitchFamily="34" charset="0"/>
                          <a:cs typeface="Open Sans" panose="020B0606030504020204" pitchFamily="34" charset="0"/>
                        </a:rPr>
                        <a:t>DeepSeek</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15000"/>
                        </a:lnSpc>
                        <a:spcAft>
                          <a:spcPts val="1000"/>
                        </a:spcAft>
                        <a:buNone/>
                      </a:pPr>
                      <a:r>
                        <a:rPr lang="uk-UA" sz="1400" noProof="0" dirty="0" err="1">
                          <a:effectLst/>
                          <a:latin typeface="Open Sans" panose="020B0606030504020204" pitchFamily="34" charset="0"/>
                          <a:ea typeface="Open Sans" panose="020B0606030504020204" pitchFamily="34" charset="0"/>
                          <a:cs typeface="Open Sans" panose="020B0606030504020204" pitchFamily="34" charset="0"/>
                        </a:rPr>
                        <a:t>Gemini</a:t>
                      </a:r>
                      <a:r>
                        <a:rPr lang="uk-UA" sz="1400" noProof="0" dirty="0">
                          <a:effectLst/>
                          <a:latin typeface="Open Sans" panose="020B0606030504020204" pitchFamily="34" charset="0"/>
                          <a:ea typeface="Open Sans" panose="020B0606030504020204" pitchFamily="34" charset="0"/>
                          <a:cs typeface="Open Sans" panose="020B0606030504020204" pitchFamily="34" charset="0"/>
                        </a:rPr>
                        <a:t> </a:t>
                      </a:r>
                      <a:r>
                        <a:rPr lang="uk-UA" sz="1400" noProof="0" dirty="0" err="1">
                          <a:effectLst/>
                          <a:latin typeface="Open Sans" panose="020B0606030504020204" pitchFamily="34" charset="0"/>
                          <a:ea typeface="Open Sans" panose="020B0606030504020204" pitchFamily="34" charset="0"/>
                          <a:cs typeface="Open Sans" panose="020B0606030504020204" pitchFamily="34" charset="0"/>
                        </a:rPr>
                        <a:t>Pro</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15000"/>
                        </a:lnSpc>
                        <a:spcAft>
                          <a:spcPts val="1000"/>
                        </a:spcAft>
                        <a:buNone/>
                      </a:pPr>
                      <a:r>
                        <a:rPr lang="uk-UA" sz="1400" noProof="0" dirty="0" err="1">
                          <a:effectLst/>
                          <a:latin typeface="Open Sans" panose="020B0606030504020204" pitchFamily="34" charset="0"/>
                          <a:ea typeface="Open Sans" panose="020B0606030504020204" pitchFamily="34" charset="0"/>
                          <a:cs typeface="Open Sans" panose="020B0606030504020204" pitchFamily="34" charset="0"/>
                        </a:rPr>
                        <a:t>Llama</a:t>
                      </a:r>
                      <a:r>
                        <a:rPr lang="uk-UA" sz="1400" noProof="0" dirty="0">
                          <a:effectLst/>
                          <a:latin typeface="Open Sans" panose="020B0606030504020204" pitchFamily="34" charset="0"/>
                          <a:ea typeface="Open Sans" panose="020B0606030504020204" pitchFamily="34" charset="0"/>
                          <a:cs typeface="Open Sans" panose="020B0606030504020204" pitchFamily="34" charset="0"/>
                        </a:rPr>
                        <a:t> 3.1</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447047625"/>
                  </a:ext>
                </a:extLst>
              </a:tr>
              <a:tr h="273132">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Точність </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1.00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0.74</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0.00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0.86</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0.63</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extLst>
                  <a:ext uri="{0D108BD9-81ED-4DB2-BD59-A6C34878D82A}">
                    <a16:rowId xmlns:a16="http://schemas.microsoft.com/office/drawing/2014/main" val="4069907487"/>
                  </a:ext>
                </a:extLst>
              </a:tr>
              <a:tr h="565077">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Швидкість</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0.91</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1.00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0.00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0.82</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0.64</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extLst>
                  <a:ext uri="{0D108BD9-81ED-4DB2-BD59-A6C34878D82A}">
                    <a16:rowId xmlns:a16="http://schemas.microsoft.com/office/drawing/2014/main" val="623127668"/>
                  </a:ext>
                </a:extLst>
              </a:tr>
              <a:tr h="273132">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Вартість </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0.93</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0.00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0.93</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0.50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1.00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extLst>
                  <a:ext uri="{0D108BD9-81ED-4DB2-BD59-A6C34878D82A}">
                    <a16:rowId xmlns:a16="http://schemas.microsoft.com/office/drawing/2014/main" val="483393019"/>
                  </a:ext>
                </a:extLst>
              </a:tr>
              <a:tr h="273132">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API</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1.00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1.00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0.00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1.00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0.50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extLst>
                  <a:ext uri="{0D108BD9-81ED-4DB2-BD59-A6C34878D82A}">
                    <a16:rowId xmlns:a16="http://schemas.microsoft.com/office/drawing/2014/main" val="1617908016"/>
                  </a:ext>
                </a:extLst>
              </a:tr>
              <a:tr h="477750">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Локальне</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0.00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0.00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0.75</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0.00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1.00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extLst>
                  <a:ext uri="{0D108BD9-81ED-4DB2-BD59-A6C34878D82A}">
                    <a16:rowId xmlns:a16="http://schemas.microsoft.com/office/drawing/2014/main" val="3807412842"/>
                  </a:ext>
                </a:extLst>
              </a:tr>
              <a:tr h="273132">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Контекст</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1.00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1.00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0.00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0.50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tc>
                  <a:txBody>
                    <a:bodyPr/>
                    <a:lstStyle/>
                    <a:p>
                      <a:pPr algn="ct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0.00</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nchor="ctr"/>
                </a:tc>
                <a:extLst>
                  <a:ext uri="{0D108BD9-81ED-4DB2-BD59-A6C34878D82A}">
                    <a16:rowId xmlns:a16="http://schemas.microsoft.com/office/drawing/2014/main" val="2378636686"/>
                  </a:ext>
                </a:extLst>
              </a:tr>
            </a:tbl>
          </a:graphicData>
        </a:graphic>
      </p:graphicFrame>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AEC99AD1-9E83-0B65-8DDB-380D14B122E8}"/>
                  </a:ext>
                </a:extLst>
              </p:cNvPr>
              <p:cNvSpPr txBox="1"/>
              <p:nvPr/>
            </p:nvSpPr>
            <p:spPr>
              <a:xfrm>
                <a:off x="6064827" y="1751332"/>
                <a:ext cx="2424544" cy="5468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uk-UA" i="1" noProof="0" smtClean="0">
                              <a:latin typeface="Cambria Math" panose="02040503050406030204" pitchFamily="18" charset="0"/>
                            </a:rPr>
                          </m:ctrlPr>
                        </m:sSubPr>
                        <m:e>
                          <m:r>
                            <a:rPr lang="uk-UA" i="1" noProof="0">
                              <a:latin typeface="Cambria Math" panose="02040503050406030204" pitchFamily="18" charset="0"/>
                            </a:rPr>
                            <m:t>𝑋</m:t>
                          </m:r>
                        </m:e>
                        <m:sub>
                          <m:r>
                            <a:rPr lang="uk-UA" i="1" noProof="0">
                              <a:latin typeface="Cambria Math" panose="02040503050406030204" pitchFamily="18" charset="0"/>
                            </a:rPr>
                            <m:t>𝑛𝑜𝑟𝑚</m:t>
                          </m:r>
                        </m:sub>
                      </m:sSub>
                      <m:r>
                        <a:rPr lang="uk-UA" i="0" noProof="0">
                          <a:latin typeface="Cambria Math" panose="02040503050406030204" pitchFamily="18" charset="0"/>
                        </a:rPr>
                        <m:t>=</m:t>
                      </m:r>
                      <m:f>
                        <m:fPr>
                          <m:ctrlPr>
                            <a:rPr lang="uk-UA" i="1" noProof="0">
                              <a:latin typeface="Cambria Math" panose="02040503050406030204" pitchFamily="18" charset="0"/>
                            </a:rPr>
                          </m:ctrlPr>
                        </m:fPr>
                        <m:num>
                          <m:d>
                            <m:dPr>
                              <m:ctrlPr>
                                <a:rPr lang="uk-UA" i="1" noProof="0">
                                  <a:latin typeface="Cambria Math" panose="02040503050406030204" pitchFamily="18" charset="0"/>
                                </a:rPr>
                              </m:ctrlPr>
                            </m:dPr>
                            <m:e>
                              <m:r>
                                <a:rPr lang="uk-UA" i="1" noProof="0">
                                  <a:latin typeface="Cambria Math" panose="02040503050406030204" pitchFamily="18" charset="0"/>
                                </a:rPr>
                                <m:t>𝑥</m:t>
                              </m:r>
                              <m:r>
                                <a:rPr lang="uk-UA" i="0" noProof="0">
                                  <a:latin typeface="Cambria Math" panose="02040503050406030204" pitchFamily="18" charset="0"/>
                                </a:rPr>
                                <m:t>− </m:t>
                              </m:r>
                              <m:sSub>
                                <m:sSubPr>
                                  <m:ctrlPr>
                                    <a:rPr lang="uk-UA" i="1" noProof="0">
                                      <a:latin typeface="Cambria Math" panose="02040503050406030204" pitchFamily="18" charset="0"/>
                                    </a:rPr>
                                  </m:ctrlPr>
                                </m:sSubPr>
                                <m:e>
                                  <m:r>
                                    <a:rPr lang="uk-UA" i="1" noProof="0">
                                      <a:latin typeface="Cambria Math" panose="02040503050406030204" pitchFamily="18" charset="0"/>
                                    </a:rPr>
                                    <m:t>𝑥</m:t>
                                  </m:r>
                                </m:e>
                                <m:sub>
                                  <m:r>
                                    <a:rPr lang="uk-UA" i="1" noProof="0">
                                      <a:latin typeface="Cambria Math" panose="02040503050406030204" pitchFamily="18" charset="0"/>
                                    </a:rPr>
                                    <m:t>𝑚𝑖𝑛</m:t>
                                  </m:r>
                                </m:sub>
                              </m:sSub>
                            </m:e>
                          </m:d>
                        </m:num>
                        <m:den>
                          <m:d>
                            <m:dPr>
                              <m:ctrlPr>
                                <a:rPr lang="uk-UA" i="1" noProof="0">
                                  <a:latin typeface="Cambria Math" panose="02040503050406030204" pitchFamily="18" charset="0"/>
                                </a:rPr>
                              </m:ctrlPr>
                            </m:dPr>
                            <m:e>
                              <m:sSub>
                                <m:sSubPr>
                                  <m:ctrlPr>
                                    <a:rPr lang="uk-UA" i="1" noProof="0">
                                      <a:latin typeface="Cambria Math" panose="02040503050406030204" pitchFamily="18" charset="0"/>
                                    </a:rPr>
                                  </m:ctrlPr>
                                </m:sSubPr>
                                <m:e>
                                  <m:r>
                                    <a:rPr lang="uk-UA" i="1" noProof="0">
                                      <a:latin typeface="Cambria Math" panose="02040503050406030204" pitchFamily="18" charset="0"/>
                                    </a:rPr>
                                    <m:t>𝑥</m:t>
                                  </m:r>
                                </m:e>
                                <m:sub>
                                  <m:r>
                                    <a:rPr lang="uk-UA" i="1" noProof="0">
                                      <a:latin typeface="Cambria Math" panose="02040503050406030204" pitchFamily="18" charset="0"/>
                                    </a:rPr>
                                    <m:t>𝑚𝑎𝑥</m:t>
                                  </m:r>
                                </m:sub>
                              </m:sSub>
                              <m:r>
                                <a:rPr lang="uk-UA" i="0" noProof="0">
                                  <a:latin typeface="Cambria Math" panose="02040503050406030204" pitchFamily="18" charset="0"/>
                                </a:rPr>
                                <m:t>− </m:t>
                              </m:r>
                              <m:sSub>
                                <m:sSubPr>
                                  <m:ctrlPr>
                                    <a:rPr lang="uk-UA" i="1" noProof="0">
                                      <a:latin typeface="Cambria Math" panose="02040503050406030204" pitchFamily="18" charset="0"/>
                                    </a:rPr>
                                  </m:ctrlPr>
                                </m:sSubPr>
                                <m:e>
                                  <m:r>
                                    <a:rPr lang="uk-UA" i="1" noProof="0">
                                      <a:latin typeface="Cambria Math" panose="02040503050406030204" pitchFamily="18" charset="0"/>
                                    </a:rPr>
                                    <m:t>𝑥</m:t>
                                  </m:r>
                                </m:e>
                                <m:sub>
                                  <m:r>
                                    <a:rPr lang="uk-UA" i="1" noProof="0">
                                      <a:latin typeface="Cambria Math" panose="02040503050406030204" pitchFamily="18" charset="0"/>
                                    </a:rPr>
                                    <m:t>𝑚𝑖𝑛</m:t>
                                  </m:r>
                                </m:sub>
                              </m:sSub>
                            </m:e>
                          </m:d>
                        </m:den>
                      </m:f>
                    </m:oMath>
                  </m:oMathPara>
                </a14:m>
                <a:endParaRPr lang="uk-UA" noProof="0" dirty="0"/>
              </a:p>
            </p:txBody>
          </p:sp>
        </mc:Choice>
        <mc:Fallback>
          <p:sp>
            <p:nvSpPr>
              <p:cNvPr id="3" name="TextBox 2">
                <a:extLst>
                  <a:ext uri="{FF2B5EF4-FFF2-40B4-BE49-F238E27FC236}">
                    <a16:creationId xmlns:a16="http://schemas.microsoft.com/office/drawing/2014/main" id="{AEC99AD1-9E83-0B65-8DDB-380D14B122E8}"/>
                  </a:ext>
                </a:extLst>
              </p:cNvPr>
              <p:cNvSpPr txBox="1">
                <a:spLocks noRot="1" noChangeAspect="1" noMove="1" noResize="1" noEditPoints="1" noAdjustHandles="1" noChangeArrowheads="1" noChangeShapeType="1" noTextEdit="1"/>
              </p:cNvSpPr>
              <p:nvPr/>
            </p:nvSpPr>
            <p:spPr>
              <a:xfrm>
                <a:off x="6064827" y="1751332"/>
                <a:ext cx="2424544" cy="546816"/>
              </a:xfrm>
              <a:prstGeom prst="rect">
                <a:avLst/>
              </a:prstGeom>
              <a:blipFill>
                <a:blip r:embed="rId4"/>
                <a:stretch>
                  <a:fillRect/>
                </a:stretch>
              </a:blipFill>
            </p:spPr>
            <p:txBody>
              <a:bodyPr/>
              <a:lstStyle/>
              <a:p>
                <a:r>
                  <a:rPr lang="uk-UA">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3F321D31-B0CF-8B4F-3B44-BD9C3E1B1DC3}"/>
                  </a:ext>
                </a:extLst>
              </p:cNvPr>
              <p:cNvSpPr txBox="1"/>
              <p:nvPr/>
            </p:nvSpPr>
            <p:spPr>
              <a:xfrm>
                <a:off x="6172200" y="2024740"/>
                <a:ext cx="2971800" cy="2638992"/>
              </a:xfrm>
              <a:prstGeom prst="rect">
                <a:avLst/>
              </a:prstGeom>
              <a:noFill/>
            </p:spPr>
            <p:txBody>
              <a:bodyPr wrap="square">
                <a:spAutoFit/>
              </a:bodyPr>
              <a:lstStyle/>
              <a:p>
                <a:pPr indent="450215">
                  <a:lnSpc>
                    <a:spcPct val="150000"/>
                  </a:lnSpc>
                  <a:spcBef>
                    <a:spcPts val="1200"/>
                  </a:spcBef>
                  <a:spcAft>
                    <a:spcPts val="1200"/>
                  </a:spcAft>
                </a:pPr>
                <a:br>
                  <a:rPr lang="uk-UA" sz="1400" noProof="0" dirty="0">
                    <a:effectLst/>
                    <a:latin typeface="Times New Roman" panose="02020603050405020304" pitchFamily="18" charset="0"/>
                    <a:ea typeface="MS Mincho" panose="02020609040205080304" pitchFamily="49" charset="-128"/>
                  </a:rPr>
                </a:br>
                <a:r>
                  <a:rPr lang="uk-UA" noProof="0" dirty="0">
                    <a:latin typeface="Times New Roman" panose="02020603050405020304" pitchFamily="18" charset="0"/>
                    <a:ea typeface="MS Mincho" panose="02020609040205080304" pitchFamily="49" charset="-128"/>
                  </a:rPr>
                  <a:t>де </a:t>
                </a:r>
                <a14:m>
                  <m:oMath xmlns:m="http://schemas.openxmlformats.org/officeDocument/2006/math">
                    <m:sSub>
                      <m:sSubPr>
                        <m:ctrlPr>
                          <a:rPr lang="uk-UA" i="1" noProof="0">
                            <a:latin typeface="Cambria Math" panose="02040503050406030204" pitchFamily="18" charset="0"/>
                            <a:ea typeface="MS Mincho" panose="02020609040205080304" pitchFamily="49" charset="-128"/>
                          </a:rPr>
                        </m:ctrlPr>
                      </m:sSubPr>
                      <m:e>
                        <m:r>
                          <a:rPr lang="uk-UA" i="1" noProof="0">
                            <a:latin typeface="Cambria Math" panose="02040503050406030204" pitchFamily="18" charset="0"/>
                            <a:ea typeface="MS Mincho" panose="02020609040205080304" pitchFamily="49" charset="-128"/>
                          </a:rPr>
                          <m:t>𝑥</m:t>
                        </m:r>
                      </m:e>
                      <m:sub>
                        <m:r>
                          <a:rPr lang="uk-UA" i="1" noProof="0">
                            <a:latin typeface="Cambria Math" panose="02040503050406030204" pitchFamily="18" charset="0"/>
                            <a:ea typeface="MS Mincho" panose="02020609040205080304" pitchFamily="49" charset="-128"/>
                          </a:rPr>
                          <m:t>𝑛𝑜𝑟𝑚</m:t>
                        </m:r>
                      </m:sub>
                    </m:sSub>
                  </m:oMath>
                </a14:m>
                <a:r>
                  <a:rPr lang="uk-UA" noProof="0" dirty="0">
                    <a:latin typeface="Times New Roman" panose="02020603050405020304" pitchFamily="18" charset="0"/>
                    <a:ea typeface="MS Mincho" panose="02020609040205080304" pitchFamily="49" charset="-128"/>
                  </a:rPr>
                  <a:t>– нормоване значення критерію,</a:t>
                </a:r>
                <a:br>
                  <a:rPr lang="uk-UA" sz="1400" noProof="0" dirty="0">
                    <a:effectLst/>
                    <a:latin typeface="Times New Roman" panose="02020603050405020304" pitchFamily="18" charset="0"/>
                    <a:ea typeface="MS Mincho" panose="02020609040205080304" pitchFamily="49" charset="-128"/>
                  </a:rPr>
                </a:br>
                <a14:m>
                  <m:oMath xmlns:m="http://schemas.openxmlformats.org/officeDocument/2006/math">
                    <m:r>
                      <a:rPr lang="uk-UA" sz="1400" i="1" noProof="0">
                        <a:effectLst/>
                        <a:latin typeface="Cambria Math" panose="02040503050406030204" pitchFamily="18" charset="0"/>
                        <a:ea typeface="MS Mincho" panose="02020609040205080304" pitchFamily="49" charset="-128"/>
                      </a:rPr>
                      <m:t>𝑥</m:t>
                    </m:r>
                  </m:oMath>
                </a14:m>
                <a:r>
                  <a:rPr lang="uk-UA" sz="1400" noProof="0" dirty="0">
                    <a:effectLst/>
                    <a:latin typeface="Times New Roman" panose="02020603050405020304" pitchFamily="18" charset="0"/>
                    <a:ea typeface="MS Mincho" panose="02020609040205080304" pitchFamily="49" charset="-128"/>
                  </a:rPr>
                  <a:t>– поточне значення критерію,</a:t>
                </a:r>
                <a:br>
                  <a:rPr lang="uk-UA" sz="1400" noProof="0" dirty="0">
                    <a:effectLst/>
                    <a:latin typeface="Times New Roman" panose="02020603050405020304" pitchFamily="18" charset="0"/>
                    <a:ea typeface="MS Mincho" panose="02020609040205080304" pitchFamily="49" charset="-128"/>
                  </a:rPr>
                </a:br>
                <a14:m>
                  <m:oMath xmlns:m="http://schemas.openxmlformats.org/officeDocument/2006/math">
                    <m:sSub>
                      <m:sSubPr>
                        <m:ctrlPr>
                          <a:rPr lang="uk-UA" sz="1400" i="1" noProof="0">
                            <a:effectLst/>
                            <a:latin typeface="Cambria Math" panose="02040503050406030204" pitchFamily="18" charset="0"/>
                            <a:ea typeface="MS Mincho" panose="02020609040205080304" pitchFamily="49" charset="-128"/>
                          </a:rPr>
                        </m:ctrlPr>
                      </m:sSubPr>
                      <m:e>
                        <m:r>
                          <a:rPr lang="uk-UA" sz="1400" i="1" noProof="0">
                            <a:effectLst/>
                            <a:latin typeface="Cambria Math" panose="02040503050406030204" pitchFamily="18" charset="0"/>
                            <a:ea typeface="MS Mincho" panose="02020609040205080304" pitchFamily="49" charset="-128"/>
                          </a:rPr>
                          <m:t>𝑥</m:t>
                        </m:r>
                      </m:e>
                      <m:sub>
                        <m:r>
                          <a:rPr lang="uk-UA" sz="1400" i="1" noProof="0">
                            <a:effectLst/>
                            <a:latin typeface="Cambria Math" panose="02040503050406030204" pitchFamily="18" charset="0"/>
                            <a:ea typeface="MS Mincho" panose="02020609040205080304" pitchFamily="49" charset="-128"/>
                          </a:rPr>
                          <m:t>𝑚𝑖𝑛</m:t>
                        </m:r>
                      </m:sub>
                    </m:sSub>
                  </m:oMath>
                </a14:m>
                <a:r>
                  <a:rPr lang="uk-UA" sz="1400" noProof="0" dirty="0">
                    <a:effectLst/>
                    <a:latin typeface="Times New Roman" panose="02020603050405020304" pitchFamily="18" charset="0"/>
                    <a:ea typeface="MS Mincho" panose="02020609040205080304" pitchFamily="49" charset="-128"/>
                  </a:rPr>
                  <a:t>– мінімальне значення критерію серед усіх альтернатив,</a:t>
                </a:r>
                <a:br>
                  <a:rPr lang="uk-UA" sz="1400" noProof="0" dirty="0">
                    <a:effectLst/>
                    <a:latin typeface="Times New Roman" panose="02020603050405020304" pitchFamily="18" charset="0"/>
                    <a:ea typeface="MS Mincho" panose="02020609040205080304" pitchFamily="49" charset="-128"/>
                  </a:rPr>
                </a:br>
                <a14:m>
                  <m:oMath xmlns:m="http://schemas.openxmlformats.org/officeDocument/2006/math">
                    <m:sSub>
                      <m:sSubPr>
                        <m:ctrlPr>
                          <a:rPr lang="uk-UA" sz="1400" i="1" noProof="0">
                            <a:effectLst/>
                            <a:latin typeface="Cambria Math" panose="02040503050406030204" pitchFamily="18" charset="0"/>
                            <a:ea typeface="MS Mincho" panose="02020609040205080304" pitchFamily="49" charset="-128"/>
                          </a:rPr>
                        </m:ctrlPr>
                      </m:sSubPr>
                      <m:e>
                        <m:r>
                          <a:rPr lang="uk-UA" sz="1400" i="1" noProof="0">
                            <a:effectLst/>
                            <a:latin typeface="Cambria Math" panose="02040503050406030204" pitchFamily="18" charset="0"/>
                            <a:ea typeface="MS Mincho" panose="02020609040205080304" pitchFamily="49" charset="-128"/>
                          </a:rPr>
                          <m:t>𝑥</m:t>
                        </m:r>
                      </m:e>
                      <m:sub>
                        <m:r>
                          <a:rPr lang="uk-UA" sz="1400" i="1" noProof="0">
                            <a:effectLst/>
                            <a:latin typeface="Cambria Math" panose="02040503050406030204" pitchFamily="18" charset="0"/>
                            <a:ea typeface="MS Mincho" panose="02020609040205080304" pitchFamily="49" charset="-128"/>
                          </a:rPr>
                          <m:t>𝑚𝑎𝑥</m:t>
                        </m:r>
                      </m:sub>
                    </m:sSub>
                  </m:oMath>
                </a14:m>
                <a:r>
                  <a:rPr lang="uk-UA" sz="1400" noProof="0" dirty="0">
                    <a:effectLst/>
                    <a:latin typeface="Times New Roman" panose="02020603050405020304" pitchFamily="18" charset="0"/>
                    <a:ea typeface="MS Mincho" panose="02020609040205080304" pitchFamily="49" charset="-128"/>
                  </a:rPr>
                  <a:t>– максимальне значення критерію серед усіх альтернатив.</a:t>
                </a:r>
              </a:p>
            </p:txBody>
          </p:sp>
        </mc:Choice>
        <mc:Fallback>
          <p:sp>
            <p:nvSpPr>
              <p:cNvPr id="7" name="TextBox 6">
                <a:extLst>
                  <a:ext uri="{FF2B5EF4-FFF2-40B4-BE49-F238E27FC236}">
                    <a16:creationId xmlns:a16="http://schemas.microsoft.com/office/drawing/2014/main" id="{3F321D31-B0CF-8B4F-3B44-BD9C3E1B1DC3}"/>
                  </a:ext>
                </a:extLst>
              </p:cNvPr>
              <p:cNvSpPr txBox="1">
                <a:spLocks noRot="1" noChangeAspect="1" noMove="1" noResize="1" noEditPoints="1" noAdjustHandles="1" noChangeArrowheads="1" noChangeShapeType="1" noTextEdit="1"/>
              </p:cNvSpPr>
              <p:nvPr/>
            </p:nvSpPr>
            <p:spPr>
              <a:xfrm>
                <a:off x="6172200" y="2024740"/>
                <a:ext cx="2971800" cy="2638992"/>
              </a:xfrm>
              <a:prstGeom prst="rect">
                <a:avLst/>
              </a:prstGeom>
              <a:blipFill>
                <a:blip r:embed="rId5"/>
                <a:stretch>
                  <a:fillRect l="-616" b="-1617"/>
                </a:stretch>
              </a:blipFill>
            </p:spPr>
            <p:txBody>
              <a:bodyPr/>
              <a:lstStyle/>
              <a:p>
                <a:r>
                  <a:rPr lang="uk-UA">
                    <a:noFill/>
                  </a:rPr>
                  <a:t> </a:t>
                </a:r>
              </a:p>
            </p:txBody>
          </p:sp>
        </mc:Fallback>
      </mc:AlternateContent>
    </p:spTree>
    <p:extLst>
      <p:ext uri="{BB962C8B-B14F-4D97-AF65-F5344CB8AC3E}">
        <p14:creationId xmlns:p14="http://schemas.microsoft.com/office/powerpoint/2010/main" val="2769721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E0EF2158-E231-19B3-7D3C-159EA4E016C0}"/>
            </a:ext>
          </a:extLst>
        </p:cNvPr>
        <p:cNvGrpSpPr/>
        <p:nvPr/>
      </p:nvGrpSpPr>
      <p:grpSpPr>
        <a:xfrm>
          <a:off x="0" y="0"/>
          <a:ext cx="0" cy="0"/>
          <a:chOff x="0" y="0"/>
          <a:chExt cx="0" cy="0"/>
        </a:xfrm>
      </p:grpSpPr>
      <p:sp>
        <p:nvSpPr>
          <p:cNvPr id="92" name="Google Shape;92;p17">
            <a:extLst>
              <a:ext uri="{FF2B5EF4-FFF2-40B4-BE49-F238E27FC236}">
                <a16:creationId xmlns:a16="http://schemas.microsoft.com/office/drawing/2014/main" id="{7820FE98-E747-A8C5-C28C-C3E01B6733B2}"/>
              </a:ext>
            </a:extLst>
          </p:cNvPr>
          <p:cNvSpPr txBox="1">
            <a:spLocks noGrp="1"/>
          </p:cNvSpPr>
          <p:nvPr>
            <p:ph type="title"/>
          </p:nvPr>
        </p:nvSpPr>
        <p:spPr>
          <a:xfrm>
            <a:off x="311700" y="263769"/>
            <a:ext cx="8520600" cy="527539"/>
          </a:xfrm>
          <a:prstGeom prst="rect">
            <a:avLst/>
          </a:prstGeom>
          <a:noFill/>
          <a:ln>
            <a:noFill/>
          </a:ln>
        </p:spPr>
        <p:txBody>
          <a:bodyPr spcFirstLastPara="1" wrap="square" lIns="91425" tIns="91425" rIns="91425" bIns="91425" anchor="b" anchorCtr="0">
            <a:normAutofit fontScale="90000"/>
          </a:bodyPr>
          <a:lstStyle/>
          <a:p>
            <a:r>
              <a:rPr lang="uk-UA" sz="3200" noProof="0" dirty="0">
                <a:latin typeface="Open Sans" panose="020B0606030504020204" pitchFamily="34" charset="0"/>
                <a:ea typeface="Open Sans" panose="020B0606030504020204" pitchFamily="34" charset="0"/>
                <a:cs typeface="Open Sans" panose="020B0606030504020204" pitchFamily="34" charset="0"/>
              </a:rPr>
              <a:t>Розрахування</a:t>
            </a:r>
            <a:r>
              <a:rPr lang="uk-UA" sz="3200" noProof="0" dirty="0"/>
              <a:t> корисності ШІ моделей</a:t>
            </a:r>
          </a:p>
        </p:txBody>
      </p:sp>
      <p:pic>
        <p:nvPicPr>
          <p:cNvPr id="94" name="Google Shape;94;p17">
            <a:extLst>
              <a:ext uri="{FF2B5EF4-FFF2-40B4-BE49-F238E27FC236}">
                <a16:creationId xmlns:a16="http://schemas.microsoft.com/office/drawing/2014/main" id="{CDE9309E-D5A4-9641-9341-CAB3AC7CB7E2}"/>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Номер слайда 1">
            <a:extLst>
              <a:ext uri="{FF2B5EF4-FFF2-40B4-BE49-F238E27FC236}">
                <a16:creationId xmlns:a16="http://schemas.microsoft.com/office/drawing/2014/main" id="{BB087B7E-C3DC-7D5D-CCF5-C67318EB138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uk-UA" noProof="0" smtClean="0"/>
              <a:t>13</a:t>
            </a:fld>
            <a:endParaRPr lang="uk-UA" noProof="0" dirty="0"/>
          </a:p>
        </p:txBody>
      </p:sp>
      <p:graphicFrame>
        <p:nvGraphicFramePr>
          <p:cNvPr id="3" name="Table 2">
            <a:extLst>
              <a:ext uri="{FF2B5EF4-FFF2-40B4-BE49-F238E27FC236}">
                <a16:creationId xmlns:a16="http://schemas.microsoft.com/office/drawing/2014/main" id="{917F1317-6AAA-BC80-C8F3-F10B4D0B9AB0}"/>
              </a:ext>
            </a:extLst>
          </p:cNvPr>
          <p:cNvGraphicFramePr>
            <a:graphicFrameLocks noGrp="1"/>
          </p:cNvGraphicFramePr>
          <p:nvPr>
            <p:extLst>
              <p:ext uri="{D42A27DB-BD31-4B8C-83A1-F6EECF244321}">
                <p14:modId xmlns:p14="http://schemas.microsoft.com/office/powerpoint/2010/main" val="2671891827"/>
              </p:ext>
            </p:extLst>
          </p:nvPr>
        </p:nvGraphicFramePr>
        <p:xfrm>
          <a:off x="134260" y="1208870"/>
          <a:ext cx="5691576" cy="2941273"/>
        </p:xfrm>
        <a:graphic>
          <a:graphicData uri="http://schemas.openxmlformats.org/drawingml/2006/table">
            <a:tbl>
              <a:tblPr firstRow="1" firstCol="1" bandRow="1">
                <a:tableStyleId>{5C22544A-7EE6-4342-B048-85BDC9FD1C3A}</a:tableStyleId>
              </a:tblPr>
              <a:tblGrid>
                <a:gridCol w="1045999">
                  <a:extLst>
                    <a:ext uri="{9D8B030D-6E8A-4147-A177-3AD203B41FA5}">
                      <a16:colId xmlns:a16="http://schemas.microsoft.com/office/drawing/2014/main" val="491966309"/>
                    </a:ext>
                  </a:extLst>
                </a:gridCol>
                <a:gridCol w="2981957">
                  <a:extLst>
                    <a:ext uri="{9D8B030D-6E8A-4147-A177-3AD203B41FA5}">
                      <a16:colId xmlns:a16="http://schemas.microsoft.com/office/drawing/2014/main" val="3895962783"/>
                    </a:ext>
                  </a:extLst>
                </a:gridCol>
                <a:gridCol w="1026311">
                  <a:extLst>
                    <a:ext uri="{9D8B030D-6E8A-4147-A177-3AD203B41FA5}">
                      <a16:colId xmlns:a16="http://schemas.microsoft.com/office/drawing/2014/main" val="231471849"/>
                    </a:ext>
                  </a:extLst>
                </a:gridCol>
                <a:gridCol w="637309">
                  <a:extLst>
                    <a:ext uri="{9D8B030D-6E8A-4147-A177-3AD203B41FA5}">
                      <a16:colId xmlns:a16="http://schemas.microsoft.com/office/drawing/2014/main" val="3256916124"/>
                    </a:ext>
                  </a:extLst>
                </a:gridCol>
              </a:tblGrid>
              <a:tr h="378062">
                <a:tc>
                  <a:txBody>
                    <a:bodyPr/>
                    <a:lstStyle/>
                    <a:p>
                      <a:pPr algn="ctr">
                        <a:lnSpc>
                          <a:spcPct val="115000"/>
                        </a:lnSpc>
                        <a:spcAft>
                          <a:spcPts val="1000"/>
                        </a:spcAft>
                        <a:buNone/>
                      </a:pPr>
                      <a:r>
                        <a:rPr lang="uk-UA" sz="1200" noProof="0" dirty="0">
                          <a:effectLst/>
                        </a:rPr>
                        <a:t>Модель</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uk-UA" sz="1200" noProof="0" dirty="0">
                          <a:effectLst/>
                        </a:rPr>
                        <a:t>Розрахунок</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uk-UA" sz="1200" noProof="0" dirty="0">
                          <a:effectLst/>
                        </a:rPr>
                        <a:t>Корисність</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uk-UA" sz="1200" noProof="0" dirty="0">
                          <a:effectLst/>
                        </a:rPr>
                        <a:t>Ранг</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78174863"/>
                  </a:ext>
                </a:extLst>
              </a:tr>
              <a:tr h="422950">
                <a:tc>
                  <a:txBody>
                    <a:bodyPr/>
                    <a:lstStyle/>
                    <a:p>
                      <a:pPr algn="l">
                        <a:lnSpc>
                          <a:spcPct val="115000"/>
                        </a:lnSpc>
                        <a:spcAft>
                          <a:spcPts val="1000"/>
                        </a:spcAft>
                        <a:buNone/>
                      </a:pPr>
                      <a:r>
                        <a:rPr lang="uk-UA" sz="1200" noProof="0" dirty="0" err="1">
                          <a:effectLst/>
                        </a:rPr>
                        <a:t>ChatGPT</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uk-UA" sz="1200" noProof="0" dirty="0">
                          <a:effectLst/>
                        </a:rPr>
                        <a:t>0.35×1.00 + 0.25×0.91 + 0.15×0.93 + 0.10×1.00 + 0.05×0.00 + 0.10×1.00</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buNone/>
                      </a:pPr>
                      <a:r>
                        <a:rPr lang="uk-UA" sz="1200" noProof="0" dirty="0">
                          <a:effectLst/>
                        </a:rPr>
                        <a:t>0.917</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buNone/>
                      </a:pPr>
                      <a:r>
                        <a:rPr lang="uk-UA" sz="1200" noProof="0" dirty="0">
                          <a:effectLst/>
                        </a:rPr>
                        <a:t>1</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964631618"/>
                  </a:ext>
                </a:extLst>
              </a:tr>
              <a:tr h="422950">
                <a:tc>
                  <a:txBody>
                    <a:bodyPr/>
                    <a:lstStyle/>
                    <a:p>
                      <a:pPr algn="l">
                        <a:lnSpc>
                          <a:spcPct val="115000"/>
                        </a:lnSpc>
                        <a:spcAft>
                          <a:spcPts val="1000"/>
                        </a:spcAft>
                        <a:buNone/>
                      </a:pPr>
                      <a:r>
                        <a:rPr lang="uk-UA" sz="1200" noProof="0" dirty="0" err="1">
                          <a:effectLst/>
                        </a:rPr>
                        <a:t>Gemini</a:t>
                      </a:r>
                      <a:r>
                        <a:rPr lang="uk-UA" sz="1200" noProof="0" dirty="0">
                          <a:effectLst/>
                        </a:rPr>
                        <a:t> </a:t>
                      </a:r>
                      <a:r>
                        <a:rPr lang="uk-UA" sz="1200" noProof="0" dirty="0" err="1">
                          <a:effectLst/>
                        </a:rPr>
                        <a:t>Pro</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uk-UA" sz="1200" noProof="0" dirty="0">
                          <a:effectLst/>
                        </a:rPr>
                        <a:t>0.35×0.86 + 0.25×0.82 + 0.15×0.50 + 0.10×1.00 + 0.05×0.00 + 0.10×0.50</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buNone/>
                      </a:pPr>
                      <a:r>
                        <a:rPr lang="uk-UA" sz="1200" noProof="0" dirty="0">
                          <a:effectLst/>
                        </a:rPr>
                        <a:t>0.711</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buNone/>
                      </a:pPr>
                      <a:r>
                        <a:rPr lang="uk-UA" sz="1200" noProof="0" dirty="0">
                          <a:effectLst/>
                        </a:rPr>
                        <a:t>2</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900000835"/>
                  </a:ext>
                </a:extLst>
              </a:tr>
              <a:tr h="422950">
                <a:tc>
                  <a:txBody>
                    <a:bodyPr/>
                    <a:lstStyle/>
                    <a:p>
                      <a:pPr algn="l">
                        <a:lnSpc>
                          <a:spcPct val="115000"/>
                        </a:lnSpc>
                        <a:spcAft>
                          <a:spcPts val="1000"/>
                        </a:spcAft>
                        <a:buNone/>
                      </a:pPr>
                      <a:r>
                        <a:rPr lang="uk-UA" sz="1200" noProof="0" dirty="0" err="1">
                          <a:effectLst/>
                        </a:rPr>
                        <a:t>Claude</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uk-UA" sz="1200" noProof="0" dirty="0">
                          <a:effectLst/>
                        </a:rPr>
                        <a:t>0.35×0.74 + 0.25×1.00 + 0.15×0.00 + 0.10×1.00 + 0.05×0.00 + 0.10×1.00</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buNone/>
                      </a:pPr>
                      <a:r>
                        <a:rPr lang="uk-UA" sz="1200" noProof="0" dirty="0">
                          <a:effectLst/>
                        </a:rPr>
                        <a:t>0.659</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buNone/>
                      </a:pPr>
                      <a:r>
                        <a:rPr lang="uk-UA" sz="1200" noProof="0" dirty="0">
                          <a:effectLst/>
                        </a:rPr>
                        <a:t>3</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84733124"/>
                  </a:ext>
                </a:extLst>
              </a:tr>
              <a:tr h="422950">
                <a:tc>
                  <a:txBody>
                    <a:bodyPr/>
                    <a:lstStyle/>
                    <a:p>
                      <a:pPr algn="l">
                        <a:lnSpc>
                          <a:spcPct val="115000"/>
                        </a:lnSpc>
                        <a:spcAft>
                          <a:spcPts val="1000"/>
                        </a:spcAft>
                        <a:buNone/>
                      </a:pPr>
                      <a:r>
                        <a:rPr lang="uk-UA" sz="1200" noProof="0" dirty="0" err="1">
                          <a:effectLst/>
                        </a:rPr>
                        <a:t>Llama</a:t>
                      </a:r>
                      <a:r>
                        <a:rPr lang="uk-UA" sz="1200" noProof="0" dirty="0">
                          <a:effectLst/>
                        </a:rPr>
                        <a:t> 3.1</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uk-UA" sz="1200" noProof="0" dirty="0">
                          <a:effectLst/>
                        </a:rPr>
                        <a:t>0.35×0.63 + 0.25×0.64 + 0.15×1.00 + 0.10×0.50 + 0.05×1.00 + 0.10×0.00</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buNone/>
                      </a:pPr>
                      <a:r>
                        <a:rPr lang="uk-UA" sz="1200" noProof="0" dirty="0">
                          <a:effectLst/>
                        </a:rPr>
                        <a:t>0.581</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buNone/>
                      </a:pPr>
                      <a:r>
                        <a:rPr lang="uk-UA" sz="1200" noProof="0" dirty="0">
                          <a:effectLst/>
                        </a:rPr>
                        <a:t>4</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95129271"/>
                  </a:ext>
                </a:extLst>
              </a:tr>
              <a:tr h="572832">
                <a:tc>
                  <a:txBody>
                    <a:bodyPr/>
                    <a:lstStyle/>
                    <a:p>
                      <a:pPr algn="l">
                        <a:lnSpc>
                          <a:spcPct val="115000"/>
                        </a:lnSpc>
                        <a:spcAft>
                          <a:spcPts val="1000"/>
                        </a:spcAft>
                        <a:buNone/>
                      </a:pPr>
                      <a:r>
                        <a:rPr lang="uk-UA" sz="1200" noProof="0" dirty="0" err="1">
                          <a:effectLst/>
                        </a:rPr>
                        <a:t>DeepSeek</a:t>
                      </a:r>
                      <a:endParaRPr lang="uk-UA" sz="1050" noProof="0" dirty="0">
                        <a:effectLst/>
                      </a:endParaRPr>
                    </a:p>
                    <a:p>
                      <a:pPr algn="l">
                        <a:lnSpc>
                          <a:spcPct val="115000"/>
                        </a:lnSpc>
                        <a:spcAft>
                          <a:spcPts val="1000"/>
                        </a:spcAft>
                        <a:buNone/>
                      </a:pPr>
                      <a:r>
                        <a:rPr lang="uk-UA" sz="1200" noProof="0" dirty="0">
                          <a:effectLst/>
                        </a:rPr>
                        <a:t> </a:t>
                      </a:r>
                      <a:endParaRPr lang="uk-UA" sz="1050" noProof="0" dirty="0">
                        <a:effectLst/>
                      </a:endParaRPr>
                    </a:p>
                    <a:p>
                      <a:pPr indent="457200" algn="l">
                        <a:lnSpc>
                          <a:spcPct val="115000"/>
                        </a:lnSpc>
                        <a:spcAft>
                          <a:spcPts val="1000"/>
                        </a:spcAft>
                        <a:buNone/>
                      </a:pPr>
                      <a:r>
                        <a:rPr lang="uk-UA" sz="1200" noProof="0" dirty="0">
                          <a:effectLst/>
                        </a:rPr>
                        <a:t> </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buNone/>
                      </a:pPr>
                      <a:r>
                        <a:rPr lang="uk-UA" sz="1200" noProof="0" dirty="0">
                          <a:effectLst/>
                        </a:rPr>
                        <a:t>0.35×0.00 + 0.25×0.00 + 0.15×0.93 + 0.10×0.00 + 0.05×0.75 + 0.10×0.00</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buNone/>
                      </a:pPr>
                      <a:r>
                        <a:rPr lang="uk-UA" sz="1200" noProof="0" dirty="0">
                          <a:effectLst/>
                        </a:rPr>
                        <a:t>0.178</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buNone/>
                      </a:pPr>
                      <a:r>
                        <a:rPr lang="uk-UA" sz="1200" noProof="0" dirty="0">
                          <a:effectLst/>
                        </a:rPr>
                        <a:t>5</a:t>
                      </a:r>
                      <a:endParaRPr lang="uk-UA" sz="1050" noProof="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520622811"/>
                  </a:ext>
                </a:extLst>
              </a:tr>
            </a:tbl>
          </a:graphicData>
        </a:graphic>
      </p:graphicFrame>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B74D3477-7E5E-4D11-775D-16A2D87FBB9E}"/>
                  </a:ext>
                </a:extLst>
              </p:cNvPr>
              <p:cNvSpPr txBox="1"/>
              <p:nvPr/>
            </p:nvSpPr>
            <p:spPr>
              <a:xfrm>
                <a:off x="6158345" y="1161742"/>
                <a:ext cx="2452255" cy="6805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uk-UA" i="1" noProof="0" smtClean="0">
                          <a:latin typeface="Cambria Math" panose="02040503050406030204" pitchFamily="18" charset="0"/>
                        </a:rPr>
                        <m:t>𝑈</m:t>
                      </m:r>
                      <m:d>
                        <m:dPr>
                          <m:ctrlPr>
                            <a:rPr lang="uk-UA" i="1" noProof="0">
                              <a:latin typeface="Cambria Math" panose="02040503050406030204" pitchFamily="18" charset="0"/>
                            </a:rPr>
                          </m:ctrlPr>
                        </m:dPr>
                        <m:e>
                          <m:r>
                            <a:rPr lang="uk-UA" i="1" noProof="0">
                              <a:latin typeface="Cambria Math" panose="02040503050406030204" pitchFamily="18" charset="0"/>
                            </a:rPr>
                            <m:t>𝑎</m:t>
                          </m:r>
                        </m:e>
                      </m:d>
                      <m:r>
                        <a:rPr lang="uk-UA" i="0" noProof="0">
                          <a:latin typeface="Cambria Math" panose="02040503050406030204" pitchFamily="18" charset="0"/>
                        </a:rPr>
                        <m:t>=</m:t>
                      </m:r>
                      <m:nary>
                        <m:naryPr>
                          <m:chr m:val="∑"/>
                          <m:limLoc m:val="undOvr"/>
                          <m:ctrlPr>
                            <a:rPr lang="uk-UA" i="1" noProof="0">
                              <a:latin typeface="Cambria Math" panose="02040503050406030204" pitchFamily="18" charset="0"/>
                            </a:rPr>
                          </m:ctrlPr>
                        </m:naryPr>
                        <m:sub>
                          <m:r>
                            <a:rPr lang="uk-UA" i="1" noProof="0">
                              <a:latin typeface="Cambria Math" panose="02040503050406030204" pitchFamily="18" charset="0"/>
                            </a:rPr>
                            <m:t>𝑖</m:t>
                          </m:r>
                          <m:r>
                            <a:rPr lang="uk-UA" i="0" noProof="0">
                              <a:latin typeface="Cambria Math" panose="02040503050406030204" pitchFamily="18" charset="0"/>
                            </a:rPr>
                            <m:t>=1</m:t>
                          </m:r>
                        </m:sub>
                        <m:sup>
                          <m:r>
                            <a:rPr lang="uk-UA" i="1" noProof="0">
                              <a:latin typeface="Cambria Math" panose="02040503050406030204" pitchFamily="18" charset="0"/>
                            </a:rPr>
                            <m:t>𝑛</m:t>
                          </m:r>
                        </m:sup>
                        <m:e>
                          <m:sSub>
                            <m:sSubPr>
                              <m:ctrlPr>
                                <a:rPr lang="uk-UA" i="1" noProof="0">
                                  <a:latin typeface="Cambria Math" panose="02040503050406030204" pitchFamily="18" charset="0"/>
                                </a:rPr>
                              </m:ctrlPr>
                            </m:sSubPr>
                            <m:e>
                              <m:r>
                                <a:rPr lang="uk-UA" i="1" noProof="0">
                                  <a:latin typeface="Cambria Math" panose="02040503050406030204" pitchFamily="18" charset="0"/>
                                </a:rPr>
                                <m:t>𝑤</m:t>
                              </m:r>
                            </m:e>
                            <m:sub>
                              <m:r>
                                <a:rPr lang="uk-UA" i="1" noProof="0">
                                  <a:latin typeface="Cambria Math" panose="02040503050406030204" pitchFamily="18" charset="0"/>
                                </a:rPr>
                                <m:t>𝑖</m:t>
                              </m:r>
                            </m:sub>
                          </m:sSub>
                          <m:r>
                            <a:rPr lang="uk-UA" i="0" noProof="0">
                              <a:latin typeface="Cambria Math" panose="02040503050406030204" pitchFamily="18" charset="0"/>
                            </a:rPr>
                            <m:t>∗</m:t>
                          </m:r>
                        </m:e>
                      </m:nary>
                      <m:sSub>
                        <m:sSubPr>
                          <m:ctrlPr>
                            <a:rPr lang="uk-UA" i="1" noProof="0">
                              <a:latin typeface="Cambria Math" panose="02040503050406030204" pitchFamily="18" charset="0"/>
                            </a:rPr>
                          </m:ctrlPr>
                        </m:sSubPr>
                        <m:e>
                          <m:r>
                            <a:rPr lang="uk-UA" i="1" noProof="0">
                              <a:latin typeface="Cambria Math" panose="02040503050406030204" pitchFamily="18" charset="0"/>
                            </a:rPr>
                            <m:t>𝑥</m:t>
                          </m:r>
                        </m:e>
                        <m:sub>
                          <m:r>
                            <a:rPr lang="uk-UA" i="1" noProof="0">
                              <a:latin typeface="Cambria Math" panose="02040503050406030204" pitchFamily="18" charset="0"/>
                            </a:rPr>
                            <m:t>𝑖</m:t>
                          </m:r>
                        </m:sub>
                      </m:sSub>
                    </m:oMath>
                  </m:oMathPara>
                </a14:m>
                <a:endParaRPr lang="uk-UA" noProof="0" dirty="0"/>
              </a:p>
            </p:txBody>
          </p:sp>
        </mc:Choice>
        <mc:Fallback>
          <p:sp>
            <p:nvSpPr>
              <p:cNvPr id="6" name="TextBox 5">
                <a:extLst>
                  <a:ext uri="{FF2B5EF4-FFF2-40B4-BE49-F238E27FC236}">
                    <a16:creationId xmlns:a16="http://schemas.microsoft.com/office/drawing/2014/main" id="{B74D3477-7E5E-4D11-775D-16A2D87FBB9E}"/>
                  </a:ext>
                </a:extLst>
              </p:cNvPr>
              <p:cNvSpPr txBox="1">
                <a:spLocks noRot="1" noChangeAspect="1" noMove="1" noResize="1" noEditPoints="1" noAdjustHandles="1" noChangeArrowheads="1" noChangeShapeType="1" noTextEdit="1"/>
              </p:cNvSpPr>
              <p:nvPr/>
            </p:nvSpPr>
            <p:spPr>
              <a:xfrm>
                <a:off x="6158345" y="1161742"/>
                <a:ext cx="2452255" cy="680507"/>
              </a:xfrm>
              <a:prstGeom prst="rect">
                <a:avLst/>
              </a:prstGeom>
              <a:blipFill>
                <a:blip r:embed="rId4"/>
                <a:stretch>
                  <a:fillRect/>
                </a:stretch>
              </a:blipFill>
            </p:spPr>
            <p:txBody>
              <a:bodyPr/>
              <a:lstStyle/>
              <a:p>
                <a:r>
                  <a:rPr lang="uk-UA">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59531418-070F-BE44-914D-6C7BC41CB43E}"/>
                  </a:ext>
                </a:extLst>
              </p:cNvPr>
              <p:cNvSpPr txBox="1"/>
              <p:nvPr/>
            </p:nvSpPr>
            <p:spPr>
              <a:xfrm>
                <a:off x="5943600" y="1501995"/>
                <a:ext cx="3329376" cy="1669496"/>
              </a:xfrm>
              <a:prstGeom prst="rect">
                <a:avLst/>
              </a:prstGeom>
              <a:noFill/>
            </p:spPr>
            <p:txBody>
              <a:bodyPr wrap="square">
                <a:spAutoFit/>
              </a:bodyPr>
              <a:lstStyle/>
              <a:p>
                <a:pPr indent="450215">
                  <a:lnSpc>
                    <a:spcPct val="150000"/>
                  </a:lnSpc>
                  <a:spcBef>
                    <a:spcPts val="1200"/>
                  </a:spcBef>
                  <a:spcAft>
                    <a:spcPts val="1200"/>
                  </a:spcAft>
                </a:pPr>
                <a:br>
                  <a:rPr lang="uk-UA" sz="1400" noProof="0" dirty="0">
                    <a:effectLst/>
                    <a:latin typeface="Times New Roman" panose="02020603050405020304" pitchFamily="18" charset="0"/>
                    <a:ea typeface="MS Mincho" panose="02020609040205080304" pitchFamily="49" charset="-128"/>
                  </a:rPr>
                </a:br>
                <a:r>
                  <a:rPr lang="uk-UA" noProof="0" dirty="0">
                    <a:latin typeface="Times New Roman" panose="02020603050405020304" pitchFamily="18" charset="0"/>
                    <a:ea typeface="MS Mincho" panose="02020609040205080304" pitchFamily="49" charset="-128"/>
                  </a:rPr>
                  <a:t>де </a:t>
                </a:r>
                <a14:m>
                  <m:oMath xmlns:m="http://schemas.openxmlformats.org/officeDocument/2006/math">
                    <m:r>
                      <a:rPr lang="uk-UA" i="1" noProof="0">
                        <a:latin typeface="Cambria Math" panose="02040503050406030204" pitchFamily="18" charset="0"/>
                        <a:ea typeface="MS Mincho" panose="02020609040205080304" pitchFamily="49" charset="-128"/>
                      </a:rPr>
                      <m:t>𝑈</m:t>
                    </m:r>
                    <m:r>
                      <a:rPr lang="uk-UA" i="1" noProof="0">
                        <a:latin typeface="Cambria Math" panose="02040503050406030204" pitchFamily="18" charset="0"/>
                        <a:ea typeface="MS Mincho" panose="02020609040205080304" pitchFamily="49" charset="-128"/>
                      </a:rPr>
                      <m:t>(</m:t>
                    </m:r>
                    <m:r>
                      <a:rPr lang="uk-UA" i="1" noProof="0">
                        <a:latin typeface="Cambria Math" panose="02040503050406030204" pitchFamily="18" charset="0"/>
                        <a:ea typeface="MS Mincho" panose="02020609040205080304" pitchFamily="49" charset="-128"/>
                      </a:rPr>
                      <m:t>𝐴</m:t>
                    </m:r>
                    <m:r>
                      <a:rPr lang="uk-UA" i="1" noProof="0">
                        <a:latin typeface="Cambria Math" panose="02040503050406030204" pitchFamily="18" charset="0"/>
                        <a:ea typeface="MS Mincho" panose="02020609040205080304" pitchFamily="49" charset="-128"/>
                      </a:rPr>
                      <m:t>)</m:t>
                    </m:r>
                  </m:oMath>
                </a14:m>
                <a:r>
                  <a:rPr lang="uk-UA" noProof="0" dirty="0">
                    <a:latin typeface="Times New Roman" panose="02020603050405020304" pitchFamily="18" charset="0"/>
                    <a:ea typeface="MS Mincho" panose="02020609040205080304" pitchFamily="49" charset="-128"/>
                  </a:rPr>
                  <a:t>– корисність альтернативи A,</a:t>
                </a:r>
                <a:br>
                  <a:rPr lang="uk-UA" sz="1400" noProof="0" dirty="0">
                    <a:effectLst/>
                    <a:latin typeface="Times New Roman" panose="02020603050405020304" pitchFamily="18" charset="0"/>
                    <a:ea typeface="MS Mincho" panose="02020609040205080304" pitchFamily="49" charset="-128"/>
                  </a:rPr>
                </a:br>
                <a14:m>
                  <m:oMath xmlns:m="http://schemas.openxmlformats.org/officeDocument/2006/math">
                    <m:sSub>
                      <m:sSubPr>
                        <m:ctrlPr>
                          <a:rPr lang="uk-UA" sz="1400" i="1" noProof="0">
                            <a:effectLst/>
                            <a:latin typeface="Cambria Math" panose="02040503050406030204" pitchFamily="18" charset="0"/>
                            <a:ea typeface="MS Mincho" panose="02020609040205080304" pitchFamily="49" charset="-128"/>
                          </a:rPr>
                        </m:ctrlPr>
                      </m:sSubPr>
                      <m:e>
                        <m:r>
                          <a:rPr lang="uk-UA" sz="1400" i="1" noProof="0">
                            <a:effectLst/>
                            <a:latin typeface="Cambria Math" panose="02040503050406030204" pitchFamily="18" charset="0"/>
                            <a:ea typeface="MS Mincho" panose="02020609040205080304" pitchFamily="49" charset="-128"/>
                          </a:rPr>
                          <m:t>𝑤</m:t>
                        </m:r>
                      </m:e>
                      <m:sub>
                        <m:r>
                          <a:rPr lang="uk-UA" sz="1400" i="1" noProof="0">
                            <a:effectLst/>
                            <a:latin typeface="Cambria Math" panose="02040503050406030204" pitchFamily="18" charset="0"/>
                            <a:ea typeface="MS Mincho" panose="02020609040205080304" pitchFamily="49" charset="-128"/>
                          </a:rPr>
                          <m:t>𝑖</m:t>
                        </m:r>
                      </m:sub>
                    </m:sSub>
                  </m:oMath>
                </a14:m>
                <a:r>
                  <a:rPr lang="uk-UA" sz="1400" noProof="0" dirty="0">
                    <a:effectLst/>
                    <a:latin typeface="Times New Roman" panose="02020603050405020304" pitchFamily="18" charset="0"/>
                    <a:ea typeface="MS Mincho" panose="02020609040205080304" pitchFamily="49" charset="-128"/>
                  </a:rPr>
                  <a:t>– ваговий коефіцієнт i-го критерію,</a:t>
                </a:r>
                <a:br>
                  <a:rPr lang="uk-UA" sz="1400" noProof="0" dirty="0">
                    <a:effectLst/>
                    <a:latin typeface="Times New Roman" panose="02020603050405020304" pitchFamily="18" charset="0"/>
                    <a:ea typeface="MS Mincho" panose="02020609040205080304" pitchFamily="49" charset="-128"/>
                  </a:rPr>
                </a:br>
                <a14:m>
                  <m:oMath xmlns:m="http://schemas.openxmlformats.org/officeDocument/2006/math">
                    <m:sSub>
                      <m:sSubPr>
                        <m:ctrlPr>
                          <a:rPr lang="uk-UA" sz="1400" i="1" noProof="0">
                            <a:effectLst/>
                            <a:latin typeface="Cambria Math" panose="02040503050406030204" pitchFamily="18" charset="0"/>
                            <a:ea typeface="MS Mincho" panose="02020609040205080304" pitchFamily="49" charset="-128"/>
                          </a:rPr>
                        </m:ctrlPr>
                      </m:sSubPr>
                      <m:e>
                        <m:r>
                          <a:rPr lang="uk-UA" sz="1400" i="1" noProof="0">
                            <a:effectLst/>
                            <a:latin typeface="Cambria Math" panose="02040503050406030204" pitchFamily="18" charset="0"/>
                            <a:ea typeface="MS Mincho" panose="02020609040205080304" pitchFamily="49" charset="-128"/>
                          </a:rPr>
                          <m:t>𝑥</m:t>
                        </m:r>
                      </m:e>
                      <m:sub>
                        <m:r>
                          <a:rPr lang="uk-UA" sz="1400" i="1" noProof="0">
                            <a:effectLst/>
                            <a:latin typeface="Cambria Math" panose="02040503050406030204" pitchFamily="18" charset="0"/>
                            <a:ea typeface="MS Mincho" panose="02020609040205080304" pitchFamily="49" charset="-128"/>
                          </a:rPr>
                          <m:t>𝑖</m:t>
                        </m:r>
                      </m:sub>
                    </m:sSub>
                  </m:oMath>
                </a14:m>
                <a:r>
                  <a:rPr lang="uk-UA" sz="1400" noProof="0" dirty="0">
                    <a:effectLst/>
                    <a:latin typeface="Times New Roman" panose="02020603050405020304" pitchFamily="18" charset="0"/>
                    <a:ea typeface="MS Mincho" panose="02020609040205080304" pitchFamily="49" charset="-128"/>
                  </a:rPr>
                  <a:t>– нормоване значення i-го критерію,</a:t>
                </a:r>
                <a:br>
                  <a:rPr lang="uk-UA" sz="1400" noProof="0" dirty="0">
                    <a:effectLst/>
                    <a:latin typeface="Times New Roman" panose="02020603050405020304" pitchFamily="18" charset="0"/>
                    <a:ea typeface="MS Mincho" panose="02020609040205080304" pitchFamily="49" charset="-128"/>
                  </a:rPr>
                </a:br>
                <a14:m>
                  <m:oMath xmlns:m="http://schemas.openxmlformats.org/officeDocument/2006/math">
                    <m:r>
                      <a:rPr lang="uk-UA" sz="1400" i="1" noProof="0">
                        <a:effectLst/>
                        <a:latin typeface="Cambria Math" panose="02040503050406030204" pitchFamily="18" charset="0"/>
                        <a:ea typeface="MS Mincho" panose="02020609040205080304" pitchFamily="49" charset="-128"/>
                      </a:rPr>
                      <m:t>𝑛</m:t>
                    </m:r>
                  </m:oMath>
                </a14:m>
                <a:r>
                  <a:rPr lang="uk-UA" sz="1400" noProof="0" dirty="0">
                    <a:effectLst/>
                    <a:latin typeface="Times New Roman" panose="02020603050405020304" pitchFamily="18" charset="0"/>
                    <a:ea typeface="MS Mincho" panose="02020609040205080304" pitchFamily="49" charset="-128"/>
                  </a:rPr>
                  <a:t>– кількість критеріїв.</a:t>
                </a:r>
              </a:p>
            </p:txBody>
          </p:sp>
        </mc:Choice>
        <mc:Fallback>
          <p:sp>
            <p:nvSpPr>
              <p:cNvPr id="8" name="TextBox 7">
                <a:extLst>
                  <a:ext uri="{FF2B5EF4-FFF2-40B4-BE49-F238E27FC236}">
                    <a16:creationId xmlns:a16="http://schemas.microsoft.com/office/drawing/2014/main" id="{59531418-070F-BE44-914D-6C7BC41CB43E}"/>
                  </a:ext>
                </a:extLst>
              </p:cNvPr>
              <p:cNvSpPr txBox="1">
                <a:spLocks noRot="1" noChangeAspect="1" noMove="1" noResize="1" noEditPoints="1" noAdjustHandles="1" noChangeArrowheads="1" noChangeShapeType="1" noTextEdit="1"/>
              </p:cNvSpPr>
              <p:nvPr/>
            </p:nvSpPr>
            <p:spPr>
              <a:xfrm>
                <a:off x="5943600" y="1501995"/>
                <a:ext cx="3329376" cy="1669496"/>
              </a:xfrm>
              <a:prstGeom prst="rect">
                <a:avLst/>
              </a:prstGeom>
              <a:blipFill>
                <a:blip r:embed="rId5"/>
                <a:stretch>
                  <a:fillRect l="-549" b="-2920"/>
                </a:stretch>
              </a:blipFill>
            </p:spPr>
            <p:txBody>
              <a:bodyPr/>
              <a:lstStyle/>
              <a:p>
                <a:r>
                  <a:rPr lang="uk-UA">
                    <a:noFill/>
                  </a:rPr>
                  <a:t> </a:t>
                </a:r>
              </a:p>
            </p:txBody>
          </p:sp>
        </mc:Fallback>
      </mc:AlternateContent>
    </p:spTree>
    <p:extLst>
      <p:ext uri="{BB962C8B-B14F-4D97-AF65-F5344CB8AC3E}">
        <p14:creationId xmlns:p14="http://schemas.microsoft.com/office/powerpoint/2010/main" val="325144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7DD2C7EE-35FB-7012-1EE1-0239A1FCEDBE}"/>
            </a:ext>
          </a:extLst>
        </p:cNvPr>
        <p:cNvGrpSpPr/>
        <p:nvPr/>
      </p:nvGrpSpPr>
      <p:grpSpPr>
        <a:xfrm>
          <a:off x="0" y="0"/>
          <a:ext cx="0" cy="0"/>
          <a:chOff x="0" y="0"/>
          <a:chExt cx="0" cy="0"/>
        </a:xfrm>
      </p:grpSpPr>
      <p:sp>
        <p:nvSpPr>
          <p:cNvPr id="92" name="Google Shape;92;p17">
            <a:extLst>
              <a:ext uri="{FF2B5EF4-FFF2-40B4-BE49-F238E27FC236}">
                <a16:creationId xmlns:a16="http://schemas.microsoft.com/office/drawing/2014/main" id="{020386D7-EDBA-351F-9B93-FF46E8798F8D}"/>
              </a:ext>
            </a:extLst>
          </p:cNvPr>
          <p:cNvSpPr txBox="1">
            <a:spLocks noGrp="1"/>
          </p:cNvSpPr>
          <p:nvPr>
            <p:ph type="title"/>
          </p:nvPr>
        </p:nvSpPr>
        <p:spPr>
          <a:xfrm>
            <a:off x="311700" y="263769"/>
            <a:ext cx="8520600" cy="527539"/>
          </a:xfrm>
          <a:prstGeom prst="rect">
            <a:avLst/>
          </a:prstGeom>
          <a:noFill/>
          <a:ln>
            <a:noFill/>
          </a:ln>
        </p:spPr>
        <p:txBody>
          <a:bodyPr spcFirstLastPara="1" wrap="square" lIns="91425" tIns="91425" rIns="91425" bIns="91425" anchor="b" anchorCtr="0">
            <a:normAutofit fontScale="90000"/>
          </a:bodyPr>
          <a:lstStyle/>
          <a:p>
            <a:r>
              <a:rPr lang="uk-UA" sz="3200" noProof="0" dirty="0">
                <a:latin typeface="Open Sans" panose="020B0606030504020204" pitchFamily="34" charset="0"/>
                <a:ea typeface="Open Sans" panose="020B0606030504020204" pitchFamily="34" charset="0"/>
                <a:cs typeface="Open Sans" panose="020B0606030504020204" pitchFamily="34" charset="0"/>
              </a:rPr>
              <a:t>Ранжування</a:t>
            </a:r>
            <a:r>
              <a:rPr lang="uk-UA" sz="3200" noProof="0" dirty="0"/>
              <a:t> моделей ШІ для трьох задач</a:t>
            </a:r>
          </a:p>
        </p:txBody>
      </p:sp>
      <p:pic>
        <p:nvPicPr>
          <p:cNvPr id="94" name="Google Shape;94;p17">
            <a:extLst>
              <a:ext uri="{FF2B5EF4-FFF2-40B4-BE49-F238E27FC236}">
                <a16:creationId xmlns:a16="http://schemas.microsoft.com/office/drawing/2014/main" id="{9EDBA4B9-0355-96B0-054D-AEB097095AC0}"/>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Номер слайда 1">
            <a:extLst>
              <a:ext uri="{FF2B5EF4-FFF2-40B4-BE49-F238E27FC236}">
                <a16:creationId xmlns:a16="http://schemas.microsoft.com/office/drawing/2014/main" id="{613783AE-3FA6-9911-7D0D-CA5EE89DF81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uk-UA" noProof="0" smtClean="0"/>
              <a:t>14</a:t>
            </a:fld>
            <a:endParaRPr lang="uk-UA" noProof="0" dirty="0"/>
          </a:p>
        </p:txBody>
      </p:sp>
      <p:graphicFrame>
        <p:nvGraphicFramePr>
          <p:cNvPr id="5" name="Table 4">
            <a:extLst>
              <a:ext uri="{FF2B5EF4-FFF2-40B4-BE49-F238E27FC236}">
                <a16:creationId xmlns:a16="http://schemas.microsoft.com/office/drawing/2014/main" id="{8B331A4E-E48B-AA22-6260-DC7A81204575}"/>
              </a:ext>
            </a:extLst>
          </p:cNvPr>
          <p:cNvGraphicFramePr>
            <a:graphicFrameLocks noGrp="1"/>
          </p:cNvGraphicFramePr>
          <p:nvPr>
            <p:extLst>
              <p:ext uri="{D42A27DB-BD31-4B8C-83A1-F6EECF244321}">
                <p14:modId xmlns:p14="http://schemas.microsoft.com/office/powerpoint/2010/main" val="4269932025"/>
              </p:ext>
            </p:extLst>
          </p:nvPr>
        </p:nvGraphicFramePr>
        <p:xfrm>
          <a:off x="55419" y="841359"/>
          <a:ext cx="6476999" cy="3595258"/>
        </p:xfrm>
        <a:graphic>
          <a:graphicData uri="http://schemas.openxmlformats.org/drawingml/2006/table">
            <a:tbl>
              <a:tblPr firstRow="1" firstCol="1" bandRow="1">
                <a:tableStyleId>{5C22544A-7EE6-4342-B048-85BDC9FD1C3A}</a:tableStyleId>
              </a:tblPr>
              <a:tblGrid>
                <a:gridCol w="1017938">
                  <a:extLst>
                    <a:ext uri="{9D8B030D-6E8A-4147-A177-3AD203B41FA5}">
                      <a16:colId xmlns:a16="http://schemas.microsoft.com/office/drawing/2014/main" val="2865255892"/>
                    </a:ext>
                  </a:extLst>
                </a:gridCol>
                <a:gridCol w="1704479">
                  <a:extLst>
                    <a:ext uri="{9D8B030D-6E8A-4147-A177-3AD203B41FA5}">
                      <a16:colId xmlns:a16="http://schemas.microsoft.com/office/drawing/2014/main" val="2368377891"/>
                    </a:ext>
                  </a:extLst>
                </a:gridCol>
                <a:gridCol w="1981200">
                  <a:extLst>
                    <a:ext uri="{9D8B030D-6E8A-4147-A177-3AD203B41FA5}">
                      <a16:colId xmlns:a16="http://schemas.microsoft.com/office/drawing/2014/main" val="2859741359"/>
                    </a:ext>
                  </a:extLst>
                </a:gridCol>
                <a:gridCol w="1773382">
                  <a:extLst>
                    <a:ext uri="{9D8B030D-6E8A-4147-A177-3AD203B41FA5}">
                      <a16:colId xmlns:a16="http://schemas.microsoft.com/office/drawing/2014/main" val="3664840022"/>
                    </a:ext>
                  </a:extLst>
                </a:gridCol>
              </a:tblGrid>
              <a:tr h="656585">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Модель</a:t>
                      </a:r>
                    </a:p>
                  </a:txBody>
                  <a:tcPr marL="29651" marR="29651" marT="0" marB="0"/>
                </a:tc>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Збір даних (корисність)</a:t>
                      </a:r>
                    </a:p>
                  </a:txBody>
                  <a:tcPr marL="29651" marR="29651" marT="0" marB="0"/>
                </a:tc>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Текстова аналітика (балів)</a:t>
                      </a:r>
                    </a:p>
                  </a:txBody>
                  <a:tcPr marL="29651" marR="29651" marT="0" marB="0"/>
                </a:tc>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Структуризація (точність)</a:t>
                      </a:r>
                    </a:p>
                  </a:txBody>
                  <a:tcPr marL="29651" marR="29651" marT="0" marB="0"/>
                </a:tc>
                <a:extLst>
                  <a:ext uri="{0D108BD9-81ED-4DB2-BD59-A6C34878D82A}">
                    <a16:rowId xmlns:a16="http://schemas.microsoft.com/office/drawing/2014/main" val="4078610731"/>
                  </a:ext>
                </a:extLst>
              </a:tr>
              <a:tr h="467275">
                <a:tc>
                  <a:txBody>
                    <a:bodyPr/>
                    <a:lstStyle/>
                    <a:p>
                      <a:pPr>
                        <a:lnSpc>
                          <a:spcPct val="115000"/>
                        </a:lnSpc>
                        <a:spcAft>
                          <a:spcPts val="1000"/>
                        </a:spcAft>
                        <a:buNone/>
                      </a:pPr>
                      <a:r>
                        <a:rPr lang="uk-UA" sz="1400" noProof="0" dirty="0" err="1">
                          <a:effectLst/>
                          <a:latin typeface="Open Sans" panose="020B0606030504020204" pitchFamily="34" charset="0"/>
                          <a:ea typeface="Open Sans" panose="020B0606030504020204" pitchFamily="34" charset="0"/>
                          <a:cs typeface="Open Sans" panose="020B0606030504020204" pitchFamily="34" charset="0"/>
                        </a:rPr>
                        <a:t>ChatGPT</a:t>
                      </a:r>
                      <a:endParaRPr lang="uk-UA" sz="14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29651" marR="29651" marT="0" marB="0"/>
                </a:tc>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1-е місце (0,917)</a:t>
                      </a:r>
                    </a:p>
                  </a:txBody>
                  <a:tcPr marL="29651" marR="29651" marT="0" marB="0"/>
                </a:tc>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3-є місце (21)</a:t>
                      </a:r>
                    </a:p>
                  </a:txBody>
                  <a:tcPr marL="29651" marR="29651" marT="0" marB="0"/>
                </a:tc>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4-е місце (0,59)</a:t>
                      </a:r>
                    </a:p>
                  </a:txBody>
                  <a:tcPr marL="29651" marR="29651" marT="0" marB="0"/>
                </a:tc>
                <a:extLst>
                  <a:ext uri="{0D108BD9-81ED-4DB2-BD59-A6C34878D82A}">
                    <a16:rowId xmlns:a16="http://schemas.microsoft.com/office/drawing/2014/main" val="327479470"/>
                  </a:ext>
                </a:extLst>
              </a:tr>
              <a:tr h="467275">
                <a:tc>
                  <a:txBody>
                    <a:bodyPr/>
                    <a:lstStyle/>
                    <a:p>
                      <a:pPr>
                        <a:lnSpc>
                          <a:spcPct val="115000"/>
                        </a:lnSpc>
                        <a:spcAft>
                          <a:spcPts val="1000"/>
                        </a:spcAft>
                        <a:buNone/>
                      </a:pPr>
                      <a:r>
                        <a:rPr lang="uk-UA" sz="1400" noProof="0" dirty="0" err="1">
                          <a:effectLst/>
                          <a:latin typeface="Open Sans" panose="020B0606030504020204" pitchFamily="34" charset="0"/>
                          <a:ea typeface="Open Sans" panose="020B0606030504020204" pitchFamily="34" charset="0"/>
                          <a:cs typeface="Open Sans" panose="020B0606030504020204" pitchFamily="34" charset="0"/>
                        </a:rPr>
                        <a:t>Gemini</a:t>
                      </a:r>
                      <a:endParaRPr lang="uk-UA" sz="14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29651" marR="29651" marT="0" marB="0"/>
                </a:tc>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2-е місце (0,711)</a:t>
                      </a:r>
                    </a:p>
                  </a:txBody>
                  <a:tcPr marL="29651" marR="29651" marT="0" marB="0"/>
                </a:tc>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4-е місце (20)</a:t>
                      </a:r>
                    </a:p>
                  </a:txBody>
                  <a:tcPr marL="29651" marR="29651" marT="0" marB="0"/>
                </a:tc>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5-е місце (0,42)</a:t>
                      </a:r>
                    </a:p>
                  </a:txBody>
                  <a:tcPr marL="29651" marR="29651" marT="0" marB="0"/>
                </a:tc>
                <a:extLst>
                  <a:ext uri="{0D108BD9-81ED-4DB2-BD59-A6C34878D82A}">
                    <a16:rowId xmlns:a16="http://schemas.microsoft.com/office/drawing/2014/main" val="2378344338"/>
                  </a:ext>
                </a:extLst>
              </a:tr>
              <a:tr h="539452">
                <a:tc>
                  <a:txBody>
                    <a:bodyPr/>
                    <a:lstStyle/>
                    <a:p>
                      <a:pPr>
                        <a:lnSpc>
                          <a:spcPct val="115000"/>
                        </a:lnSpc>
                        <a:spcAft>
                          <a:spcPts val="1000"/>
                        </a:spcAft>
                        <a:buNone/>
                      </a:pPr>
                      <a:r>
                        <a:rPr lang="uk-UA" sz="1400" noProof="0" dirty="0" err="1">
                          <a:effectLst/>
                          <a:latin typeface="Open Sans" panose="020B0606030504020204" pitchFamily="34" charset="0"/>
                          <a:ea typeface="Open Sans" panose="020B0606030504020204" pitchFamily="34" charset="0"/>
                          <a:cs typeface="Open Sans" panose="020B0606030504020204" pitchFamily="34" charset="0"/>
                        </a:rPr>
                        <a:t>Claude</a:t>
                      </a:r>
                      <a:endParaRPr lang="uk-UA" sz="1400" noProof="0" dirty="0">
                        <a:effectLst/>
                        <a:latin typeface="Open Sans" panose="020B0606030504020204" pitchFamily="34" charset="0"/>
                        <a:ea typeface="Open Sans" panose="020B0606030504020204" pitchFamily="34" charset="0"/>
                        <a:cs typeface="Open Sans" panose="020B0606030504020204" pitchFamily="34" charset="0"/>
                      </a:endParaRPr>
                    </a:p>
                    <a:p>
                      <a:pPr indent="457200">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 </a:t>
                      </a:r>
                    </a:p>
                  </a:txBody>
                  <a:tcPr marL="29651" marR="29651" marT="0" marB="0"/>
                </a:tc>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3-є місце (0,659)</a:t>
                      </a:r>
                    </a:p>
                  </a:txBody>
                  <a:tcPr marL="29651" marR="29651" marT="0" marB="0"/>
                </a:tc>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4-е місце (20)</a:t>
                      </a:r>
                    </a:p>
                  </a:txBody>
                  <a:tcPr marL="29651" marR="29651" marT="0" marB="0"/>
                </a:tc>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2-е місце (0,92)</a:t>
                      </a:r>
                    </a:p>
                  </a:txBody>
                  <a:tcPr marL="29651" marR="29651" marT="0" marB="0"/>
                </a:tc>
                <a:extLst>
                  <a:ext uri="{0D108BD9-81ED-4DB2-BD59-A6C34878D82A}">
                    <a16:rowId xmlns:a16="http://schemas.microsoft.com/office/drawing/2014/main" val="2348691400"/>
                  </a:ext>
                </a:extLst>
              </a:tr>
              <a:tr h="467275">
                <a:tc>
                  <a:txBody>
                    <a:bodyPr/>
                    <a:lstStyle/>
                    <a:p>
                      <a:pPr>
                        <a:lnSpc>
                          <a:spcPct val="115000"/>
                        </a:lnSpc>
                        <a:spcAft>
                          <a:spcPts val="1000"/>
                        </a:spcAft>
                        <a:buNone/>
                      </a:pPr>
                      <a:r>
                        <a:rPr lang="en-US" dirty="0"/>
                        <a:t>Llama 3.1</a:t>
                      </a:r>
                      <a:endParaRPr lang="uk-UA" sz="14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29651" marR="29651" marT="0" marB="0"/>
                </a:tc>
                <a:tc>
                  <a:txBody>
                    <a:bodyPr/>
                    <a:lstStyle/>
                    <a:p>
                      <a:pPr>
                        <a:lnSpc>
                          <a:spcPct val="115000"/>
                        </a:lnSpc>
                        <a:spcAft>
                          <a:spcPts val="1000"/>
                        </a:spcAft>
                        <a:buNone/>
                      </a:pPr>
                      <a:r>
                        <a:rPr lang="uk-UA" dirty="0"/>
                        <a:t>4-е місце (0,581)</a:t>
                      </a:r>
                      <a:endParaRPr lang="uk-UA" sz="14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29651" marR="29651" marT="0" marB="0"/>
                </a:tc>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a:t>
                      </a:r>
                    </a:p>
                  </a:txBody>
                  <a:tcPr marL="29651" marR="29651" marT="0" marB="0"/>
                </a:tc>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a:t>
                      </a:r>
                    </a:p>
                  </a:txBody>
                  <a:tcPr marL="29651" marR="29651" marT="0" marB="0"/>
                </a:tc>
                <a:extLst>
                  <a:ext uri="{0D108BD9-81ED-4DB2-BD59-A6C34878D82A}">
                    <a16:rowId xmlns:a16="http://schemas.microsoft.com/office/drawing/2014/main" val="1918895847"/>
                  </a:ext>
                </a:extLst>
              </a:tr>
              <a:tr h="467275">
                <a:tc>
                  <a:txBody>
                    <a:bodyPr/>
                    <a:lstStyle/>
                    <a:p>
                      <a:pPr>
                        <a:lnSpc>
                          <a:spcPct val="115000"/>
                        </a:lnSpc>
                        <a:spcAft>
                          <a:spcPts val="1000"/>
                        </a:spcAft>
                        <a:buNone/>
                      </a:pPr>
                      <a:r>
                        <a:rPr lang="uk-UA" sz="1400" noProof="0" dirty="0" err="1">
                          <a:effectLst/>
                          <a:latin typeface="Open Sans" panose="020B0606030504020204" pitchFamily="34" charset="0"/>
                          <a:ea typeface="Open Sans" panose="020B0606030504020204" pitchFamily="34" charset="0"/>
                          <a:cs typeface="Open Sans" panose="020B0606030504020204" pitchFamily="34" charset="0"/>
                        </a:rPr>
                        <a:t>Grok</a:t>
                      </a:r>
                      <a:endParaRPr lang="uk-UA" sz="14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29651" marR="29651" marT="0" marB="0"/>
                </a:tc>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 -</a:t>
                      </a:r>
                    </a:p>
                  </a:txBody>
                  <a:tcPr marL="29651" marR="29651" marT="0" marB="0"/>
                </a:tc>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1-е місце (25)</a:t>
                      </a:r>
                    </a:p>
                  </a:txBody>
                  <a:tcPr marL="29651" marR="29651" marT="0" marB="0"/>
                </a:tc>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3-є місце (0,88)</a:t>
                      </a:r>
                    </a:p>
                  </a:txBody>
                  <a:tcPr marL="29651" marR="29651" marT="0" marB="0"/>
                </a:tc>
                <a:extLst>
                  <a:ext uri="{0D108BD9-81ED-4DB2-BD59-A6C34878D82A}">
                    <a16:rowId xmlns:a16="http://schemas.microsoft.com/office/drawing/2014/main" val="2372882547"/>
                  </a:ext>
                </a:extLst>
              </a:tr>
              <a:tr h="467275">
                <a:tc>
                  <a:txBody>
                    <a:bodyPr/>
                    <a:lstStyle/>
                    <a:p>
                      <a:pPr>
                        <a:lnSpc>
                          <a:spcPct val="115000"/>
                        </a:lnSpc>
                        <a:spcAft>
                          <a:spcPts val="1000"/>
                        </a:spcAft>
                        <a:buNone/>
                      </a:pPr>
                      <a:r>
                        <a:rPr lang="uk-UA" sz="1400" noProof="0" dirty="0" err="1">
                          <a:effectLst/>
                          <a:latin typeface="Open Sans" panose="020B0606030504020204" pitchFamily="34" charset="0"/>
                          <a:ea typeface="Open Sans" panose="020B0606030504020204" pitchFamily="34" charset="0"/>
                          <a:cs typeface="Open Sans" panose="020B0606030504020204" pitchFamily="34" charset="0"/>
                        </a:rPr>
                        <a:t>DeepSeek</a:t>
                      </a:r>
                      <a:endParaRPr lang="uk-UA" sz="1400" noProof="0" dirty="0">
                        <a:effectLst/>
                        <a:latin typeface="Open Sans" panose="020B0606030504020204" pitchFamily="34" charset="0"/>
                        <a:ea typeface="Open Sans" panose="020B0606030504020204" pitchFamily="34" charset="0"/>
                        <a:cs typeface="Open Sans" panose="020B0606030504020204" pitchFamily="34" charset="0"/>
                      </a:endParaRPr>
                    </a:p>
                  </a:txBody>
                  <a:tcPr marL="29651" marR="29651" marT="0" marB="0"/>
                </a:tc>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5-е місце (0,178)</a:t>
                      </a:r>
                    </a:p>
                  </a:txBody>
                  <a:tcPr marL="29651" marR="29651" marT="0" marB="0"/>
                </a:tc>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1-е місце (25)</a:t>
                      </a:r>
                    </a:p>
                  </a:txBody>
                  <a:tcPr marL="29651" marR="29651" marT="0" marB="0"/>
                </a:tc>
                <a:tc>
                  <a:txBody>
                    <a:bodyPr/>
                    <a:lstStyle/>
                    <a:p>
                      <a:pPr>
                        <a:lnSpc>
                          <a:spcPct val="115000"/>
                        </a:lnSpc>
                        <a:spcAft>
                          <a:spcPts val="1000"/>
                        </a:spcAft>
                        <a:buNone/>
                      </a:pPr>
                      <a:r>
                        <a:rPr lang="uk-UA" sz="1400" noProof="0" dirty="0">
                          <a:effectLst/>
                          <a:latin typeface="Open Sans" panose="020B0606030504020204" pitchFamily="34" charset="0"/>
                          <a:ea typeface="Open Sans" panose="020B0606030504020204" pitchFamily="34" charset="0"/>
                          <a:cs typeface="Open Sans" panose="020B0606030504020204" pitchFamily="34" charset="0"/>
                        </a:rPr>
                        <a:t>1-е місце (0,94)</a:t>
                      </a:r>
                    </a:p>
                  </a:txBody>
                  <a:tcPr marL="29651" marR="29651" marT="0" marB="0"/>
                </a:tc>
                <a:extLst>
                  <a:ext uri="{0D108BD9-81ED-4DB2-BD59-A6C34878D82A}">
                    <a16:rowId xmlns:a16="http://schemas.microsoft.com/office/drawing/2014/main" val="3610110463"/>
                  </a:ext>
                </a:extLst>
              </a:tr>
            </a:tbl>
          </a:graphicData>
        </a:graphic>
      </p:graphicFrame>
      <p:sp>
        <p:nvSpPr>
          <p:cNvPr id="8" name="TextBox 7">
            <a:extLst>
              <a:ext uri="{FF2B5EF4-FFF2-40B4-BE49-F238E27FC236}">
                <a16:creationId xmlns:a16="http://schemas.microsoft.com/office/drawing/2014/main" id="{A31D78A2-8D52-ABF4-911D-D7A1B17459CA}"/>
              </a:ext>
            </a:extLst>
          </p:cNvPr>
          <p:cNvSpPr txBox="1"/>
          <p:nvPr/>
        </p:nvSpPr>
        <p:spPr>
          <a:xfrm>
            <a:off x="6463145" y="1651990"/>
            <a:ext cx="2680855" cy="2185214"/>
          </a:xfrm>
          <a:prstGeom prst="rect">
            <a:avLst/>
          </a:prstGeom>
          <a:noFill/>
        </p:spPr>
        <p:txBody>
          <a:bodyPr wrap="square">
            <a:spAutoFit/>
          </a:bodyPr>
          <a:lstStyle/>
          <a:p>
            <a:pPr>
              <a:buNone/>
            </a:pPr>
            <a:r>
              <a:rPr lang="uk-UA" b="1" noProof="0" dirty="0">
                <a:latin typeface="Open Sans" panose="020B0606030504020204" pitchFamily="34" charset="0"/>
                <a:ea typeface="Open Sans" panose="020B0606030504020204" pitchFamily="34" charset="0"/>
                <a:cs typeface="Open Sans" panose="020B0606030504020204" pitchFamily="34" charset="0"/>
              </a:rPr>
              <a:t>Рекомендації для e-</a:t>
            </a:r>
            <a:r>
              <a:rPr lang="uk-UA" b="1" noProof="0" dirty="0" err="1">
                <a:latin typeface="Open Sans" panose="020B0606030504020204" pitchFamily="34" charset="0"/>
                <a:ea typeface="Open Sans" panose="020B0606030504020204" pitchFamily="34" charset="0"/>
                <a:cs typeface="Open Sans" panose="020B0606030504020204" pitchFamily="34" charset="0"/>
              </a:rPr>
              <a:t>commerce</a:t>
            </a:r>
            <a:r>
              <a:rPr lang="uk-UA" b="1" noProof="0" dirty="0">
                <a:latin typeface="Open Sans" panose="020B0606030504020204" pitchFamily="34" charset="0"/>
                <a:ea typeface="Open Sans" panose="020B0606030504020204" pitchFamily="34" charset="0"/>
                <a:cs typeface="Open Sans" panose="020B0606030504020204" pitchFamily="34" charset="0"/>
              </a:rPr>
              <a:t> систем:</a:t>
            </a:r>
          </a:p>
          <a:p>
            <a:r>
              <a:rPr lang="uk-UA" sz="1200" noProof="0" dirty="0">
                <a:latin typeface="Open Sans" panose="020B0606030504020204" pitchFamily="34" charset="0"/>
                <a:ea typeface="Open Sans" panose="020B0606030504020204" pitchFamily="34" charset="0"/>
                <a:cs typeface="Open Sans" panose="020B0606030504020204" pitchFamily="34" charset="0"/>
              </a:rPr>
              <a:t>- Збір числових даних (ціни, характеристики): </a:t>
            </a:r>
            <a:r>
              <a:rPr lang="uk-UA" sz="1200" noProof="0" dirty="0" err="1">
                <a:latin typeface="Open Sans" panose="020B0606030504020204" pitchFamily="34" charset="0"/>
                <a:ea typeface="Open Sans" panose="020B0606030504020204" pitchFamily="34" charset="0"/>
                <a:cs typeface="Open Sans" panose="020B0606030504020204" pitchFamily="34" charset="0"/>
              </a:rPr>
              <a:t>ChatGPT</a:t>
            </a:r>
            <a:r>
              <a:rPr lang="uk-UA" sz="1200" noProof="0" dirty="0">
                <a:latin typeface="Open Sans" panose="020B0606030504020204" pitchFamily="34" charset="0"/>
                <a:ea typeface="Open Sans" panose="020B0606030504020204" pitchFamily="34" charset="0"/>
                <a:cs typeface="Open Sans" panose="020B0606030504020204" pitchFamily="34" charset="0"/>
              </a:rPr>
              <a:t> (точність 95.58%, $1.34 / 10к записів)</a:t>
            </a:r>
          </a:p>
          <a:p>
            <a:r>
              <a:rPr lang="uk-UA" sz="1200" noProof="0" dirty="0">
                <a:latin typeface="Open Sans" panose="020B0606030504020204" pitchFamily="34" charset="0"/>
                <a:ea typeface="Open Sans" panose="020B0606030504020204" pitchFamily="34" charset="0"/>
                <a:cs typeface="Open Sans" panose="020B0606030504020204" pitchFamily="34" charset="0"/>
              </a:rPr>
              <a:t>- Текстова аналітика (SEO-теги, описи, категоризація): </a:t>
            </a:r>
            <a:r>
              <a:rPr lang="uk-UA" sz="1200" noProof="0" dirty="0" err="1">
                <a:latin typeface="Open Sans" panose="020B0606030504020204" pitchFamily="34" charset="0"/>
                <a:ea typeface="Open Sans" panose="020B0606030504020204" pitchFamily="34" charset="0"/>
                <a:cs typeface="Open Sans" panose="020B0606030504020204" pitchFamily="34" charset="0"/>
              </a:rPr>
              <a:t>Grok</a:t>
            </a:r>
            <a:r>
              <a:rPr lang="uk-UA" sz="1200" noProof="0" dirty="0">
                <a:latin typeface="Open Sans" panose="020B0606030504020204" pitchFamily="34" charset="0"/>
                <a:ea typeface="Open Sans" panose="020B0606030504020204" pitchFamily="34" charset="0"/>
                <a:cs typeface="Open Sans" panose="020B0606030504020204" pitchFamily="34" charset="0"/>
              </a:rPr>
              <a:t> / </a:t>
            </a:r>
            <a:r>
              <a:rPr lang="uk-UA" sz="1200" noProof="0" dirty="0" err="1">
                <a:latin typeface="Open Sans" panose="020B0606030504020204" pitchFamily="34" charset="0"/>
                <a:ea typeface="Open Sans" panose="020B0606030504020204" pitchFamily="34" charset="0"/>
                <a:cs typeface="Open Sans" panose="020B0606030504020204" pitchFamily="34" charset="0"/>
              </a:rPr>
              <a:t>DeepSeek</a:t>
            </a:r>
            <a:r>
              <a:rPr lang="uk-UA" sz="1200" noProof="0" dirty="0">
                <a:latin typeface="Open Sans" panose="020B0606030504020204" pitchFamily="34" charset="0"/>
                <a:ea typeface="Open Sans" panose="020B0606030504020204" pitchFamily="34" charset="0"/>
                <a:cs typeface="Open Sans" panose="020B0606030504020204" pitchFamily="34" charset="0"/>
              </a:rPr>
              <a:t> (25/30 балів)</a:t>
            </a:r>
          </a:p>
          <a:p>
            <a:r>
              <a:rPr lang="uk-UA" sz="1200" noProof="0" dirty="0">
                <a:latin typeface="Open Sans" panose="020B0606030504020204" pitchFamily="34" charset="0"/>
                <a:ea typeface="Open Sans" panose="020B0606030504020204" pitchFamily="34" charset="0"/>
                <a:cs typeface="Open Sans" panose="020B0606030504020204" pitchFamily="34" charset="0"/>
              </a:rPr>
              <a:t>- Структуризація у БД: </a:t>
            </a:r>
            <a:r>
              <a:rPr lang="uk-UA" sz="1200" noProof="0" dirty="0" err="1">
                <a:latin typeface="Open Sans" panose="020B0606030504020204" pitchFamily="34" charset="0"/>
                <a:ea typeface="Open Sans" panose="020B0606030504020204" pitchFamily="34" charset="0"/>
                <a:cs typeface="Open Sans" panose="020B0606030504020204" pitchFamily="34" charset="0"/>
              </a:rPr>
              <a:t>DeepSeek</a:t>
            </a:r>
            <a:r>
              <a:rPr lang="uk-UA" sz="1200" noProof="0" dirty="0">
                <a:latin typeface="Open Sans" panose="020B0606030504020204" pitchFamily="34" charset="0"/>
                <a:ea typeface="Open Sans" panose="020B0606030504020204" pitchFamily="34" charset="0"/>
                <a:cs typeface="Open Sans" panose="020B0606030504020204" pitchFamily="34" charset="0"/>
              </a:rPr>
              <a:t> (9 400 коректних записів з 10к)</a:t>
            </a:r>
          </a:p>
        </p:txBody>
      </p:sp>
    </p:spTree>
    <p:extLst>
      <p:ext uri="{BB962C8B-B14F-4D97-AF65-F5344CB8AC3E}">
        <p14:creationId xmlns:p14="http://schemas.microsoft.com/office/powerpoint/2010/main" val="4228206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72DAE4F6-596C-0026-96FD-B48C709998C5}"/>
            </a:ext>
          </a:extLst>
        </p:cNvPr>
        <p:cNvGrpSpPr/>
        <p:nvPr/>
      </p:nvGrpSpPr>
      <p:grpSpPr>
        <a:xfrm>
          <a:off x="0" y="0"/>
          <a:ext cx="0" cy="0"/>
          <a:chOff x="0" y="0"/>
          <a:chExt cx="0" cy="0"/>
        </a:xfrm>
      </p:grpSpPr>
      <p:sp>
        <p:nvSpPr>
          <p:cNvPr id="92" name="Google Shape;92;p17">
            <a:extLst>
              <a:ext uri="{FF2B5EF4-FFF2-40B4-BE49-F238E27FC236}">
                <a16:creationId xmlns:a16="http://schemas.microsoft.com/office/drawing/2014/main" id="{2B30FC1A-9A3B-0AD6-BBCC-83D2163A72B2}"/>
              </a:ext>
            </a:extLst>
          </p:cNvPr>
          <p:cNvSpPr txBox="1">
            <a:spLocks noGrp="1"/>
          </p:cNvSpPr>
          <p:nvPr>
            <p:ph type="title"/>
          </p:nvPr>
        </p:nvSpPr>
        <p:spPr>
          <a:xfrm>
            <a:off x="311700" y="263769"/>
            <a:ext cx="8520600" cy="527539"/>
          </a:xfrm>
          <a:prstGeom prst="rect">
            <a:avLst/>
          </a:prstGeom>
          <a:noFill/>
          <a:ln>
            <a:noFill/>
          </a:ln>
        </p:spPr>
        <p:txBody>
          <a:bodyPr spcFirstLastPara="1" wrap="square" lIns="91425" tIns="91425" rIns="91425" bIns="91425" anchor="b" anchorCtr="0">
            <a:normAutofit fontScale="90000"/>
          </a:bodyPr>
          <a:lstStyle/>
          <a:p>
            <a:r>
              <a:rPr lang="uk-UA" sz="3200" noProof="0" dirty="0">
                <a:latin typeface="Open Sans" panose="020B0606030504020204" pitchFamily="34" charset="0"/>
                <a:ea typeface="Open Sans" panose="020B0606030504020204" pitchFamily="34" charset="0"/>
                <a:cs typeface="Open Sans" panose="020B0606030504020204" pitchFamily="34" charset="0"/>
              </a:rPr>
              <a:t>Апробація</a:t>
            </a:r>
            <a:r>
              <a:rPr lang="uk-UA" sz="3200" noProof="0" dirty="0"/>
              <a:t> результатів</a:t>
            </a:r>
          </a:p>
        </p:txBody>
      </p:sp>
      <p:pic>
        <p:nvPicPr>
          <p:cNvPr id="94" name="Google Shape;94;p17">
            <a:extLst>
              <a:ext uri="{FF2B5EF4-FFF2-40B4-BE49-F238E27FC236}">
                <a16:creationId xmlns:a16="http://schemas.microsoft.com/office/drawing/2014/main" id="{B2D19070-0B92-B8F9-6CEC-C32F4F8BD3E8}"/>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Номер слайда 1">
            <a:extLst>
              <a:ext uri="{FF2B5EF4-FFF2-40B4-BE49-F238E27FC236}">
                <a16:creationId xmlns:a16="http://schemas.microsoft.com/office/drawing/2014/main" id="{007CB15C-E65E-CBA2-55AA-FC89B37E0D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uk-UA" noProof="0" smtClean="0"/>
              <a:t>15</a:t>
            </a:fld>
            <a:endParaRPr lang="uk-UA" noProof="0" dirty="0"/>
          </a:p>
        </p:txBody>
      </p:sp>
      <p:sp>
        <p:nvSpPr>
          <p:cNvPr id="8" name="TextBox 7">
            <a:extLst>
              <a:ext uri="{FF2B5EF4-FFF2-40B4-BE49-F238E27FC236}">
                <a16:creationId xmlns:a16="http://schemas.microsoft.com/office/drawing/2014/main" id="{264B58D5-2432-654A-F23F-8DEFC5F05BED}"/>
              </a:ext>
            </a:extLst>
          </p:cNvPr>
          <p:cNvSpPr txBox="1"/>
          <p:nvPr/>
        </p:nvSpPr>
        <p:spPr>
          <a:xfrm>
            <a:off x="155850" y="810754"/>
            <a:ext cx="8832300" cy="3554243"/>
          </a:xfrm>
          <a:prstGeom prst="rect">
            <a:avLst/>
          </a:prstGeom>
          <a:noFill/>
        </p:spPr>
        <p:txBody>
          <a:bodyPr wrap="square">
            <a:spAutoFit/>
          </a:bodyPr>
          <a:lstStyle/>
          <a:p>
            <a:pPr marL="342900" lvl="0" indent="-342900" algn="just">
              <a:lnSpc>
                <a:spcPct val="150000"/>
              </a:lnSpc>
              <a:spcAft>
                <a:spcPts val="500"/>
              </a:spcAft>
              <a:buFont typeface="+mj-lt"/>
              <a:buAutoNum type="arabicPeriod"/>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Тарасенко А.В., </a:t>
            </a:r>
            <a:r>
              <a:rPr lang="uk-UA" sz="1100" noProof="0" dirty="0" err="1">
                <a:effectLst/>
                <a:latin typeface="Open Sans" panose="020B0606030504020204" pitchFamily="34" charset="0"/>
                <a:ea typeface="Open Sans" panose="020B0606030504020204" pitchFamily="34" charset="0"/>
                <a:cs typeface="Open Sans" panose="020B0606030504020204" pitchFamily="34" charset="0"/>
              </a:rPr>
              <a:t>Кобзєв</a:t>
            </a:r>
            <a:r>
              <a:rPr lang="uk-UA" sz="1100" noProof="0" dirty="0">
                <a:effectLst/>
                <a:latin typeface="Open Sans" panose="020B0606030504020204" pitchFamily="34" charset="0"/>
                <a:ea typeface="Open Sans" panose="020B0606030504020204" pitchFamily="34" charset="0"/>
                <a:cs typeface="Open Sans" panose="020B0606030504020204" pitchFamily="34" charset="0"/>
              </a:rPr>
              <a:t> В.Г. Використання засобів штучного інтелекту для збору інформації з Інтернет-ресурсів. // Міжнародна науково-практична конференція «Застосування інформаційних технологій у підготовці та діяльності сил охорони правопорядку» / Збірник тез доповідей (м. Харків, 27 березня 2025 р.). – Харків. – 2025. – с. 198-199.</a:t>
            </a:r>
          </a:p>
          <a:p>
            <a:pPr marL="342900" lvl="0" indent="-342900" algn="just">
              <a:lnSpc>
                <a:spcPct val="150000"/>
              </a:lnSpc>
              <a:spcAft>
                <a:spcPts val="500"/>
              </a:spcAft>
              <a:buFont typeface="+mj-lt"/>
              <a:buAutoNum type="arabicPeriod"/>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Тарасенко А.В., </a:t>
            </a:r>
            <a:r>
              <a:rPr lang="uk-UA" sz="1100" noProof="0" dirty="0" err="1">
                <a:effectLst/>
                <a:latin typeface="Open Sans" panose="020B0606030504020204" pitchFamily="34" charset="0"/>
                <a:ea typeface="Open Sans" panose="020B0606030504020204" pitchFamily="34" charset="0"/>
                <a:cs typeface="Open Sans" panose="020B0606030504020204" pitchFamily="34" charset="0"/>
              </a:rPr>
              <a:t>Кобзєв</a:t>
            </a:r>
            <a:r>
              <a:rPr lang="uk-UA" sz="1100" noProof="0" dirty="0">
                <a:effectLst/>
                <a:latin typeface="Open Sans" panose="020B0606030504020204" pitchFamily="34" charset="0"/>
                <a:ea typeface="Open Sans" panose="020B0606030504020204" pitchFamily="34" charset="0"/>
                <a:cs typeface="Open Sans" panose="020B0606030504020204" pitchFamily="34" charset="0"/>
              </a:rPr>
              <a:t> В.Г. Порівняльний аналіз використання засобів ШІ для збору інформації з Інтернет-ресурсів / Інтелектуальні технології у міждисциплінарних дослідженнях: Збірник наукових праць ХІ міжнародної науково-технічної конференції (м. Харків, 12-14 листопада 2025 року) – Харків: ХНУ ім. В.Н. Каразіна, 2025. – с. 216-218.</a:t>
            </a:r>
          </a:p>
          <a:p>
            <a:pPr marL="342900" lvl="0" indent="-342900" algn="just">
              <a:lnSpc>
                <a:spcPct val="150000"/>
              </a:lnSpc>
              <a:spcAft>
                <a:spcPts val="500"/>
              </a:spcAft>
              <a:buFont typeface="+mj-lt"/>
              <a:buAutoNum type="arabicPeriod"/>
            </a:pPr>
            <a:r>
              <a:rPr lang="uk-UA" sz="1100" noProof="0" dirty="0">
                <a:effectLst/>
                <a:latin typeface="Open Sans" panose="020B0606030504020204" pitchFamily="34" charset="0"/>
                <a:ea typeface="Open Sans" panose="020B0606030504020204" pitchFamily="34" charset="0"/>
                <a:cs typeface="Open Sans" panose="020B0606030504020204" pitchFamily="34" charset="0"/>
              </a:rPr>
              <a:t>Тарасенко А.В., </a:t>
            </a:r>
            <a:r>
              <a:rPr lang="uk-UA" sz="1100" noProof="0" dirty="0" err="1">
                <a:effectLst/>
                <a:latin typeface="Open Sans" panose="020B0606030504020204" pitchFamily="34" charset="0"/>
                <a:ea typeface="Open Sans" panose="020B0606030504020204" pitchFamily="34" charset="0"/>
                <a:cs typeface="Open Sans" panose="020B0606030504020204" pitchFamily="34" charset="0"/>
              </a:rPr>
              <a:t>Кобзєв</a:t>
            </a:r>
            <a:r>
              <a:rPr lang="uk-UA" sz="1100" noProof="0" dirty="0">
                <a:effectLst/>
                <a:latin typeface="Open Sans" panose="020B0606030504020204" pitchFamily="34" charset="0"/>
                <a:ea typeface="Open Sans" panose="020B0606030504020204" pitchFamily="34" charset="0"/>
                <a:cs typeface="Open Sans" panose="020B0606030504020204" pitchFamily="34" charset="0"/>
              </a:rPr>
              <a:t> В.Г. Використання засобів штучного інтелекту для аналітики інформації // Застосування інформаційних технологій у підготовці та діяльності сил безпеки і оборони: матеріали Міжнародної науково-практичної конференції (17 березня 2026 р., м. Харків.). – Харків: </a:t>
            </a:r>
            <a:r>
              <a:rPr lang="uk-UA" sz="1100" noProof="0" dirty="0" err="1">
                <a:effectLst/>
                <a:latin typeface="Open Sans" panose="020B0606030504020204" pitchFamily="34" charset="0"/>
                <a:ea typeface="Open Sans" panose="020B0606030504020204" pitchFamily="34" charset="0"/>
                <a:cs typeface="Open Sans" panose="020B0606030504020204" pitchFamily="34" charset="0"/>
              </a:rPr>
              <a:t>Нац</a:t>
            </a:r>
            <a:r>
              <a:rPr lang="uk-UA" sz="1100" noProof="0" dirty="0">
                <a:effectLst/>
                <a:latin typeface="Open Sans" panose="020B0606030504020204" pitchFamily="34" charset="0"/>
                <a:ea typeface="Open Sans" panose="020B0606030504020204" pitchFamily="34" charset="0"/>
                <a:cs typeface="Open Sans" panose="020B0606030504020204" pitchFamily="34" charset="0"/>
              </a:rPr>
              <a:t>. акад. НГУ, 2026. – С. 494-495.</a:t>
            </a:r>
          </a:p>
          <a:p>
            <a:pPr marL="342900" lvl="0" indent="-342900" algn="just">
              <a:lnSpc>
                <a:spcPct val="150000"/>
              </a:lnSpc>
              <a:spcAft>
                <a:spcPts val="500"/>
              </a:spcAft>
              <a:buFont typeface="+mj-lt"/>
              <a:buAutoNum type="arabicPeriod"/>
            </a:pPr>
            <a:r>
              <a:rPr lang="uk-UA" sz="1100" noProof="0" dirty="0">
                <a:latin typeface="Open Sans" panose="020B0606030504020204" pitchFamily="34" charset="0"/>
                <a:ea typeface="Open Sans" panose="020B0606030504020204" pitchFamily="34" charset="0"/>
                <a:cs typeface="Open Sans" panose="020B0606030504020204" pitchFamily="34" charset="0"/>
              </a:rPr>
              <a:t>Тарасенко А.В., </a:t>
            </a:r>
            <a:r>
              <a:rPr lang="uk-UA" sz="1100" noProof="0" dirty="0" err="1">
                <a:latin typeface="Open Sans" panose="020B0606030504020204" pitchFamily="34" charset="0"/>
                <a:ea typeface="Open Sans" panose="020B0606030504020204" pitchFamily="34" charset="0"/>
                <a:cs typeface="Open Sans" panose="020B0606030504020204" pitchFamily="34" charset="0"/>
              </a:rPr>
              <a:t>Кобзєв</a:t>
            </a:r>
            <a:r>
              <a:rPr lang="uk-UA" sz="1100" noProof="0" dirty="0">
                <a:latin typeface="Open Sans" panose="020B0606030504020204" pitchFamily="34" charset="0"/>
                <a:ea typeface="Open Sans" panose="020B0606030504020204" pitchFamily="34" charset="0"/>
                <a:cs typeface="Open Sans" panose="020B0606030504020204" pitchFamily="34" charset="0"/>
              </a:rPr>
              <a:t> В.Г. Порівняльний аналіз </a:t>
            </a:r>
            <a:r>
              <a:rPr lang="uk-UA" sz="1100" noProof="0" dirty="0" err="1">
                <a:latin typeface="Open Sans" panose="020B0606030504020204" pitchFamily="34" charset="0"/>
                <a:ea typeface="Open Sans" panose="020B0606030504020204" pitchFamily="34" charset="0"/>
                <a:cs typeface="Open Sans" panose="020B0606030504020204" pitchFamily="34" charset="0"/>
              </a:rPr>
              <a:t>мовних</a:t>
            </a:r>
            <a:r>
              <a:rPr lang="uk-UA" sz="1100" noProof="0" dirty="0">
                <a:latin typeface="Open Sans" panose="020B0606030504020204" pitchFamily="34" charset="0"/>
                <a:ea typeface="Open Sans" panose="020B0606030504020204" pitchFamily="34" charset="0"/>
                <a:cs typeface="Open Sans" panose="020B0606030504020204" pitchFamily="34" charset="0"/>
              </a:rPr>
              <a:t> моделей штучного інтелекту для структуризації інформації з вебсайтів у системах електронної комерції // Сучасні інформаційні технології та системи штучного інтелекту: матеріали 2-ї </a:t>
            </a:r>
            <a:r>
              <a:rPr lang="uk-UA" sz="1100" noProof="0" dirty="0" err="1">
                <a:latin typeface="Open Sans" panose="020B0606030504020204" pitchFamily="34" charset="0"/>
                <a:ea typeface="Open Sans" panose="020B0606030504020204" pitchFamily="34" charset="0"/>
                <a:cs typeface="Open Sans" panose="020B0606030504020204" pitchFamily="34" charset="0"/>
              </a:rPr>
              <a:t>Міжн</a:t>
            </a:r>
            <a:r>
              <a:rPr lang="uk-UA" sz="1100" noProof="0" dirty="0">
                <a:latin typeface="Open Sans" panose="020B0606030504020204" pitchFamily="34" charset="0"/>
                <a:ea typeface="Open Sans" panose="020B0606030504020204" pitchFamily="34" charset="0"/>
                <a:cs typeface="Open Sans" panose="020B0606030504020204" pitchFamily="34" charset="0"/>
              </a:rPr>
              <a:t>. наук.-</a:t>
            </a:r>
            <a:r>
              <a:rPr lang="uk-UA" sz="1100" noProof="0" dirty="0" err="1">
                <a:latin typeface="Open Sans" panose="020B0606030504020204" pitchFamily="34" charset="0"/>
                <a:ea typeface="Open Sans" panose="020B0606030504020204" pitchFamily="34" charset="0"/>
                <a:cs typeface="Open Sans" panose="020B0606030504020204" pitchFamily="34" charset="0"/>
              </a:rPr>
              <a:t>практ</a:t>
            </a:r>
            <a:r>
              <a:rPr lang="uk-UA" sz="1100" noProof="0" dirty="0">
                <a:latin typeface="Open Sans" panose="020B0606030504020204" pitchFamily="34" charset="0"/>
                <a:ea typeface="Open Sans" panose="020B0606030504020204" pitchFamily="34" charset="0"/>
                <a:cs typeface="Open Sans" panose="020B0606030504020204" pitchFamily="34" charset="0"/>
              </a:rPr>
              <a:t>. </a:t>
            </a:r>
            <a:r>
              <a:rPr lang="uk-UA" sz="1100" noProof="0" dirty="0" err="1">
                <a:latin typeface="Open Sans" panose="020B0606030504020204" pitchFamily="34" charset="0"/>
                <a:ea typeface="Open Sans" panose="020B0606030504020204" pitchFamily="34" charset="0"/>
                <a:cs typeface="Open Sans" panose="020B0606030504020204" pitchFamily="34" charset="0"/>
              </a:rPr>
              <a:t>конф</a:t>
            </a:r>
            <a:r>
              <a:rPr lang="uk-UA" sz="1100" noProof="0" dirty="0">
                <a:latin typeface="Open Sans" panose="020B0606030504020204" pitchFamily="34" charset="0"/>
                <a:ea typeface="Open Sans" panose="020B0606030504020204" pitchFamily="34" charset="0"/>
                <a:cs typeface="Open Sans" panose="020B0606030504020204" pitchFamily="34" charset="0"/>
              </a:rPr>
              <a:t>. Частина 2 [Електронний ресурс], Харків-Яремче, 27-29 квітня 2026 р. / наук. ред. А.Л. </a:t>
            </a:r>
            <a:r>
              <a:rPr lang="uk-UA" sz="1100" noProof="0" dirty="0" err="1">
                <a:latin typeface="Open Sans" panose="020B0606030504020204" pitchFamily="34" charset="0"/>
                <a:ea typeface="Open Sans" panose="020B0606030504020204" pitchFamily="34" charset="0"/>
                <a:cs typeface="Open Sans" panose="020B0606030504020204" pitchFamily="34" charset="0"/>
              </a:rPr>
              <a:t>Єрохін</a:t>
            </a:r>
            <a:r>
              <a:rPr lang="uk-UA" sz="1100" noProof="0" dirty="0">
                <a:latin typeface="Open Sans" panose="020B0606030504020204" pitchFamily="34" charset="0"/>
                <a:ea typeface="Open Sans" panose="020B0606030504020204" pitchFamily="34" charset="0"/>
                <a:cs typeface="Open Sans" panose="020B0606030504020204" pitchFamily="34" charset="0"/>
              </a:rPr>
              <a:t>, Ю.О. </a:t>
            </a:r>
            <a:r>
              <a:rPr lang="uk-UA" sz="1100" noProof="0" dirty="0" err="1">
                <a:latin typeface="Open Sans" panose="020B0606030504020204" pitchFamily="34" charset="0"/>
                <a:ea typeface="Open Sans" panose="020B0606030504020204" pitchFamily="34" charset="0"/>
                <a:cs typeface="Open Sans" panose="020B0606030504020204" pitchFamily="34" charset="0"/>
              </a:rPr>
              <a:t>Романенков</a:t>
            </a:r>
            <a:r>
              <a:rPr lang="uk-UA" sz="1100" noProof="0" dirty="0">
                <a:latin typeface="Open Sans" panose="020B0606030504020204" pitchFamily="34" charset="0"/>
                <a:ea typeface="Open Sans" panose="020B0606030504020204" pitchFamily="34" charset="0"/>
                <a:cs typeface="Open Sans" panose="020B0606030504020204" pitchFamily="34" charset="0"/>
              </a:rPr>
              <a:t>, Є.В. Бодянський, К.С. </a:t>
            </a:r>
            <a:r>
              <a:rPr lang="uk-UA" sz="1100" noProof="0" dirty="0" err="1">
                <a:latin typeface="Open Sans" panose="020B0606030504020204" pitchFamily="34" charset="0"/>
                <a:ea typeface="Open Sans" panose="020B0606030504020204" pitchFamily="34" charset="0"/>
                <a:cs typeface="Open Sans" panose="020B0606030504020204" pitchFamily="34" charset="0"/>
              </a:rPr>
              <a:t>Смеляков</a:t>
            </a:r>
            <a:r>
              <a:rPr lang="uk-UA" sz="1100" noProof="0" dirty="0">
                <a:latin typeface="Open Sans" panose="020B0606030504020204" pitchFamily="34" charset="0"/>
                <a:ea typeface="Open Sans" panose="020B0606030504020204" pitchFamily="34" charset="0"/>
                <a:cs typeface="Open Sans" panose="020B0606030504020204" pitchFamily="34" charset="0"/>
              </a:rPr>
              <a:t> та ін. – Х.: ХНУРЕ, 2026. – С. 101-102.</a:t>
            </a:r>
            <a:endParaRPr lang="uk-UA" sz="1100" noProof="0" dirty="0">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764776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4"/>
          <p:cNvSpPr txBox="1">
            <a:spLocks noGrp="1"/>
          </p:cNvSpPr>
          <p:nvPr>
            <p:ph type="title"/>
          </p:nvPr>
        </p:nvSpPr>
        <p:spPr>
          <a:xfrm>
            <a:off x="311700" y="315925"/>
            <a:ext cx="8520600" cy="547275"/>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uk-UA" sz="3200" noProof="0" dirty="0">
                <a:latin typeface="Open Sans" panose="020B0606030504020204" pitchFamily="34" charset="0"/>
                <a:ea typeface="Open Sans" panose="020B0606030504020204" pitchFamily="34" charset="0"/>
                <a:cs typeface="Open Sans" panose="020B0606030504020204" pitchFamily="34" charset="0"/>
              </a:rPr>
              <a:t>Висновки </a:t>
            </a:r>
          </a:p>
        </p:txBody>
      </p:sp>
      <p:sp>
        <p:nvSpPr>
          <p:cNvPr id="142" name="Google Shape;142;p24"/>
          <p:cNvSpPr txBox="1">
            <a:spLocks noGrp="1"/>
          </p:cNvSpPr>
          <p:nvPr>
            <p:ph type="body" idx="1"/>
          </p:nvPr>
        </p:nvSpPr>
        <p:spPr>
          <a:xfrm>
            <a:off x="311700" y="782491"/>
            <a:ext cx="8520600" cy="3803363"/>
          </a:xfrm>
          <a:prstGeom prst="rect">
            <a:avLst/>
          </a:prstGeom>
        </p:spPr>
        <p:txBody>
          <a:bodyPr spcFirstLastPara="1" wrap="square" lIns="91425" tIns="91425" rIns="91425" bIns="91425" anchor="t" anchorCtr="0">
            <a:normAutofit fontScale="92500" lnSpcReduction="20000"/>
          </a:bodyPr>
          <a:lstStyle/>
          <a:p>
            <a:pPr marL="0" lvl="0" indent="0">
              <a:spcAft>
                <a:spcPts val="500"/>
              </a:spcAft>
              <a:buNone/>
            </a:pPr>
            <a:r>
              <a:rPr lang="uk-UA" sz="1200" dirty="0"/>
              <a:t>За результатами першого експерименту (збір числових даних) </a:t>
            </a:r>
            <a:r>
              <a:rPr lang="en-US" sz="1200" dirty="0"/>
              <a:t>ChatGPT </a:t>
            </a:r>
            <a:r>
              <a:rPr lang="uk-UA" sz="1200" dirty="0"/>
              <a:t>продемонстрував найвищу точність 95.58% при вартості лише $1.34 за 10 000 записів та часі обробки ~22 хвилини, що підтверджується корисністю 0.917 за багатокритеріальним аналізом.</a:t>
            </a:r>
            <a:endParaRPr lang="en-US" sz="1200" dirty="0"/>
          </a:p>
          <a:p>
            <a:pPr marL="0" lvl="0" indent="0">
              <a:spcAft>
                <a:spcPts val="500"/>
              </a:spcAft>
              <a:buNone/>
            </a:pPr>
            <a:r>
              <a:rPr lang="uk-UA" sz="1200" dirty="0"/>
              <a:t>За результатами другого експерименту (текстова аналітика) </a:t>
            </a:r>
            <a:r>
              <a:rPr lang="en-US" sz="1200" dirty="0"/>
              <a:t>Grok </a:t>
            </a:r>
            <a:r>
              <a:rPr lang="uk-UA" sz="1200" dirty="0"/>
              <a:t>та </a:t>
            </a:r>
            <a:r>
              <a:rPr lang="en-US" sz="1200" dirty="0"/>
              <a:t>DeepSeek </a:t>
            </a:r>
            <a:r>
              <a:rPr lang="uk-UA" sz="1200" dirty="0"/>
              <a:t>набрали максимальні 25 балів з 30, продемонструвавши перевагу у виявленні ключових фраз, резюмуванні та тематичній класифікації.</a:t>
            </a:r>
            <a:endParaRPr lang="en-US" sz="1200" dirty="0"/>
          </a:p>
          <a:p>
            <a:pPr marL="0" lvl="0" indent="0">
              <a:spcAft>
                <a:spcPts val="500"/>
              </a:spcAft>
              <a:buNone/>
            </a:pPr>
            <a:r>
              <a:rPr lang="uk-UA" sz="1200" dirty="0"/>
              <a:t>За результатами третього експерименту (структуризація даних) </a:t>
            </a:r>
            <a:r>
              <a:rPr lang="en-US" sz="1200" dirty="0"/>
              <a:t>DeepSeek-V3.2 </a:t>
            </a:r>
            <a:r>
              <a:rPr lang="uk-UA" sz="1200" dirty="0"/>
              <a:t>лідирує з середньою точністю 0.94, забезпечуючи 9 400 коректно структурованих записів з 10 000.</a:t>
            </a:r>
            <a:endParaRPr lang="en-US" sz="1200" dirty="0"/>
          </a:p>
          <a:p>
            <a:pPr marL="0" lvl="0" indent="0">
              <a:spcAft>
                <a:spcPts val="500"/>
              </a:spcAft>
              <a:buNone/>
            </a:pPr>
            <a:r>
              <a:rPr lang="uk-UA" sz="1200" dirty="0"/>
              <a:t>Отримані результати демонструють, що жодна з розглянутих моделей не є домінуючою за всіма типами завдань одночасно. </a:t>
            </a:r>
            <a:endParaRPr lang="en-US" sz="1200" dirty="0"/>
          </a:p>
          <a:p>
            <a:pPr marL="0" lvl="0" indent="0">
              <a:spcAft>
                <a:spcPts val="500"/>
              </a:spcAft>
              <a:buNone/>
            </a:pPr>
            <a:r>
              <a:rPr lang="uk-UA" sz="1200" dirty="0"/>
              <a:t>Виявлена обернена залежність має безпосередній практичний вплив на архітектуру систем моніторингу конкурентів в </a:t>
            </a:r>
            <a:r>
              <a:rPr lang="en-US" sz="1200" dirty="0"/>
              <a:t>e-commerce. </a:t>
            </a:r>
            <a:r>
              <a:rPr lang="uk-UA" sz="1200" dirty="0"/>
              <a:t>Навіть найгірша з досліджених ШІ-моделей за точністю збору даних (</a:t>
            </a:r>
            <a:r>
              <a:rPr lang="en-US" sz="1200" dirty="0"/>
              <a:t>DeepSeek, 40.01%) </a:t>
            </a:r>
            <a:r>
              <a:rPr lang="uk-UA" sz="1200" dirty="0"/>
              <a:t>потребує значно менших витрат на підтримку порівняно з традиційними </a:t>
            </a:r>
            <a:r>
              <a:rPr lang="en-US" sz="1200" dirty="0"/>
              <a:t>CSS-</a:t>
            </a:r>
            <a:r>
              <a:rPr lang="uk-UA" sz="1200" dirty="0"/>
              <a:t>селекторами та </a:t>
            </a:r>
            <a:r>
              <a:rPr lang="en-US" sz="1200" dirty="0"/>
              <a:t>REGEX-</a:t>
            </a:r>
            <a:r>
              <a:rPr lang="uk-UA" sz="1200" dirty="0"/>
              <a:t>виразами - адже при зміні структури сайту конкурента ШІ-модель адаптується самостійно, тоді як селектори потребують ручного оновлення. Лідер же (</a:t>
            </a:r>
            <a:r>
              <a:rPr lang="en-US" sz="1200" dirty="0"/>
              <a:t>ChatGPT, 95.58%) </a:t>
            </a:r>
            <a:r>
              <a:rPr lang="uk-UA" sz="1200" dirty="0"/>
              <a:t>забезпечує промислову точність при вартості $1.34 за 10 000 записів, що робить ШІ-підхід економічно обґрунтованою альтернативою традиційним інструментам </a:t>
            </a:r>
            <a:r>
              <a:rPr lang="uk-UA" sz="1200" dirty="0" err="1"/>
              <a:t>скрейпінгу</a:t>
            </a:r>
            <a:r>
              <a:rPr lang="uk-UA" sz="1200" dirty="0"/>
              <a:t>.</a:t>
            </a:r>
            <a:br>
              <a:rPr lang="uk-UA" sz="1200" dirty="0"/>
            </a:br>
            <a:r>
              <a:rPr lang="uk-UA" sz="1200" dirty="0"/>
              <a:t>Оптимальною архітектурою повноцінної </a:t>
            </a:r>
            <a:r>
              <a:rPr lang="en-US" sz="1200" dirty="0"/>
              <a:t>e-commerce </a:t>
            </a:r>
            <a:r>
              <a:rPr lang="uk-UA" sz="1200" dirty="0"/>
              <a:t>системи збору та аналізу даних є гібридний підхід: </a:t>
            </a:r>
            <a:r>
              <a:rPr lang="en-US" sz="1200" dirty="0"/>
              <a:t>ChatGPT </a:t>
            </a:r>
            <a:r>
              <a:rPr lang="uk-UA" sz="1200" dirty="0"/>
              <a:t>для точного вилучення числових показників (ціни, характеристики) + </a:t>
            </a:r>
            <a:r>
              <a:rPr lang="en-US" sz="1200" dirty="0"/>
              <a:t>DeepSeek </a:t>
            </a:r>
            <a:r>
              <a:rPr lang="uk-UA" sz="1200" dirty="0"/>
              <a:t>для структуризації отриманих даних у реляційну схему та текстової аналітики (</a:t>
            </a:r>
            <a:r>
              <a:rPr lang="en-US" sz="1200" dirty="0"/>
              <a:t>SEO-</a:t>
            </a:r>
            <a:r>
              <a:rPr lang="uk-UA" sz="1200" dirty="0"/>
              <a:t>теги, описи, категоризація). Такий розподіл задач між моделями дозволяє отримати максимальну якість на кожному етапі </a:t>
            </a:r>
            <a:r>
              <a:rPr lang="uk-UA" sz="1200" dirty="0" err="1"/>
              <a:t>пайплайну</a:t>
            </a:r>
            <a:r>
              <a:rPr lang="uk-UA" sz="1200" dirty="0"/>
              <a:t> при мінімальних сукупних витратах, усуваючи основний недолік монолітного підходу — вимушений компроміс між точністю збору та якістю обробки даних.</a:t>
            </a:r>
            <a:endParaRPr lang="uk-UA" sz="1200" noProof="0" dirty="0"/>
          </a:p>
        </p:txBody>
      </p:sp>
      <p:pic>
        <p:nvPicPr>
          <p:cNvPr id="143" name="Google Shape;143;p24"/>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Номер слайда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uk-UA" noProof="0" smtClean="0"/>
              <a:t>16</a:t>
            </a:fld>
            <a:endParaRPr lang="uk-UA" noProof="0" dirty="0"/>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634</TotalTime>
  <Words>2145</Words>
  <Application>Microsoft Office PowerPoint</Application>
  <PresentationFormat>On-screen Show (16:9)</PresentationFormat>
  <Paragraphs>417</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Open Sans</vt:lpstr>
      <vt:lpstr>Economica</vt:lpstr>
      <vt:lpstr>Arial</vt:lpstr>
      <vt:lpstr>Calibri</vt:lpstr>
      <vt:lpstr>Times New Roman</vt:lpstr>
      <vt:lpstr>Cambria Math</vt:lpstr>
      <vt:lpstr>Luxe</vt:lpstr>
      <vt:lpstr>Дослідження ШІ-моделей для збору і аналізу неструктурованої інформації з вебсайтів у системах електронної комерції</vt:lpstr>
      <vt:lpstr>Вступ</vt:lpstr>
      <vt:lpstr>Огляд існуючих засобів ШІ</vt:lpstr>
      <vt:lpstr>Огляд й аналіз літературних, наукових джерел</vt:lpstr>
      <vt:lpstr>Постановка задачі</vt:lpstr>
      <vt:lpstr>Використане та розроблене програмне забезпечення</vt:lpstr>
      <vt:lpstr>Критерії збору даних моделями ШІ</vt:lpstr>
      <vt:lpstr>Порівняльна характеристика критеріїв моделей ШІ</vt:lpstr>
      <vt:lpstr>Показники виконання аналітичних задач моделями ШІ</vt:lpstr>
      <vt:lpstr>Порівняння ШІ моделей за точністю структуризації</vt:lpstr>
      <vt:lpstr>Нормалізовані показники ваги критеріїв моделей ШІ</vt:lpstr>
      <vt:lpstr>Нормалізовані значення критеріїв для моделей ШІ</vt:lpstr>
      <vt:lpstr>Розрахування корисності ШІ моделей</vt:lpstr>
      <vt:lpstr>Ранжування моделей ШІ для трьох задач</vt:lpstr>
      <vt:lpstr>Апробація результатів</vt:lpstr>
      <vt:lpstr>Висновки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Тема роботи </dc:title>
  <cp:lastModifiedBy>Андрей Тарасенко</cp:lastModifiedBy>
  <cp:revision>303</cp:revision>
  <dcterms:modified xsi:type="dcterms:W3CDTF">2026-05-20T19:25:20Z</dcterms:modified>
</cp:coreProperties>
</file>